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433"/>
    <p:restoredTop sz="94667"/>
  </p:normalViewPr>
  <p:slideViewPr>
    <p:cSldViewPr snapToGrid="0">
      <p:cViewPr varScale="1">
        <p:scale>
          <a:sx n="123" d="100"/>
          <a:sy n="123" d="100"/>
        </p:scale>
        <p:origin x="192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ohan@gmail.com" TargetMode="External"/><Relationship Id="rId2" Type="http://schemas.openxmlformats.org/officeDocument/2006/relationships/hyperlink" Target="mailto:ram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ohan@gmail.com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  <a:p>
            <a:r>
              <a:rPr lang="en-US" dirty="0"/>
              <a:t>Deleting Cart Item</a:t>
            </a:r>
          </a:p>
          <a:p>
            <a:r>
              <a:rPr lang="en-US" dirty="0"/>
              <a:t>Displaying Cart Items </a:t>
            </a:r>
            <a:r>
              <a:rPr lang="en-US"/>
              <a:t>on the Cart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3B40-6D39-7FBC-52A3-85AAFF99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3804-D252-5F62-7ED7-023CD05FB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Dynamic Routing</a:t>
            </a:r>
          </a:p>
          <a:p>
            <a:pPr lvl="1"/>
            <a:r>
              <a:rPr lang="en-US" dirty="0"/>
              <a:t>You can pass dynamic path segments by adding a “:” to the Express router path</a:t>
            </a:r>
          </a:p>
          <a:p>
            <a:pPr lvl="1"/>
            <a:r>
              <a:rPr lang="en-US" dirty="0"/>
              <a:t>The name you add after “:” is the name by which you can extract the data on </a:t>
            </a:r>
            <a:r>
              <a:rPr lang="en-US" dirty="0" err="1"/>
              <a:t>req.params</a:t>
            </a:r>
            <a:endParaRPr lang="en-US" dirty="0"/>
          </a:p>
          <a:p>
            <a:pPr lvl="1"/>
            <a:r>
              <a:rPr lang="en-US" dirty="0"/>
              <a:t>Optional (query) parameters can also be passed ( ? Param = value &amp; b = 2) and extracted (</a:t>
            </a:r>
            <a:r>
              <a:rPr lang="en-US" dirty="0" err="1"/>
              <a:t>req.query.myParam</a:t>
            </a:r>
            <a:r>
              <a:rPr lang="en-US" dirty="0"/>
              <a:t>)</a:t>
            </a:r>
          </a:p>
          <a:p>
            <a:r>
              <a:rPr lang="en-US" dirty="0"/>
              <a:t>More on Models</a:t>
            </a:r>
          </a:p>
          <a:p>
            <a:pPr lvl="1"/>
            <a:r>
              <a:rPr lang="en-US" dirty="0"/>
              <a:t>A cart model was added – it holds static methods only</a:t>
            </a:r>
          </a:p>
          <a:p>
            <a:pPr lvl="1"/>
            <a:r>
              <a:rPr lang="en-US" dirty="0"/>
              <a:t>You can interact between models ( e.g. delete cart item if a product is deleted)</a:t>
            </a:r>
          </a:p>
          <a:p>
            <a:pPr lvl="1"/>
            <a:r>
              <a:rPr lang="en-US" dirty="0"/>
              <a:t>Working with files for data storage is </a:t>
            </a:r>
            <a:r>
              <a:rPr lang="en-US" dirty="0" err="1"/>
              <a:t>suboptiomal</a:t>
            </a:r>
            <a:r>
              <a:rPr lang="en-US" dirty="0"/>
              <a:t> for bigger amounts of data</a:t>
            </a:r>
          </a:p>
        </p:txBody>
      </p:sp>
    </p:spTree>
    <p:extLst>
      <p:ext uri="{BB962C8B-B14F-4D97-AF65-F5344CB8AC3E}">
        <p14:creationId xmlns:p14="http://schemas.microsoft.com/office/powerpoint/2010/main" val="3903343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AB70-EE0C-7530-FBE0-7296B06C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Storing Data in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8085-6E06-C165-2882-074C72EB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kinds of databases ( SQL vs NoSQL)</a:t>
            </a:r>
          </a:p>
          <a:p>
            <a:r>
              <a:rPr lang="en-US" dirty="0"/>
              <a:t>Using SQL in a Node.js App</a:t>
            </a:r>
          </a:p>
        </p:txBody>
      </p:sp>
    </p:spTree>
    <p:extLst>
      <p:ext uri="{BB962C8B-B14F-4D97-AF65-F5344CB8AC3E}">
        <p14:creationId xmlns:p14="http://schemas.microsoft.com/office/powerpoint/2010/main" val="3280210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E188-F2A9-9154-22EE-08834DDF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1DEC2-891D-0E44-EC2B-C44F50A4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Store data and make it Easily Accessible</a:t>
            </a:r>
          </a:p>
          <a:p>
            <a:pPr lvl="1"/>
            <a:r>
              <a:rPr lang="en-US" dirty="0"/>
              <a:t>SQL databases (e.g. MySQL)</a:t>
            </a:r>
          </a:p>
          <a:p>
            <a:pPr lvl="1"/>
            <a:r>
              <a:rPr lang="en-US" dirty="0"/>
              <a:t>NoSQL Databases (e.g. MongoDB)</a:t>
            </a:r>
          </a:p>
        </p:txBody>
      </p:sp>
    </p:spTree>
    <p:extLst>
      <p:ext uri="{BB962C8B-B14F-4D97-AF65-F5344CB8AC3E}">
        <p14:creationId xmlns:p14="http://schemas.microsoft.com/office/powerpoint/2010/main" val="4283603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57A02-7D28-9F6A-67F7-F9DF52A3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CC224-20F9-807A-E4F9-C8E0D5D2D1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323852"/>
              </p:ext>
            </p:extLst>
          </p:nvPr>
        </p:nvGraphicFramePr>
        <p:xfrm>
          <a:off x="1032162" y="1834862"/>
          <a:ext cx="603365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293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2180890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3109473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2"/>
                        </a:rPr>
                        <a:t>ram@gmail.com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Ram Sharma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3"/>
                        </a:rPr>
                        <a:t>mohan@gmail.com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Mohan Verma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4"/>
                        </a:rPr>
                        <a:t>sohan@gmail.com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Sohan Mishra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8DAABE0-9180-9FE7-9BFB-8FBA83047D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4086973"/>
              </p:ext>
            </p:extLst>
          </p:nvPr>
        </p:nvGraphicFramePr>
        <p:xfrm>
          <a:off x="1032162" y="4185517"/>
          <a:ext cx="603365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08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9194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303862644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r>
                        <a:rPr lang="en-US" dirty="0"/>
                        <a:t>Products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7A07CFC-6D74-67D7-CC97-27DCE8E57C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615754"/>
              </p:ext>
            </p:extLst>
          </p:nvPr>
        </p:nvGraphicFramePr>
        <p:xfrm>
          <a:off x="7585364" y="3138430"/>
          <a:ext cx="37684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545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1636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1690255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dirty="0"/>
                        <a:t>Orders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8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17D3-7274-6D7D-30F3-7BA9680F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SQL Database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68F1-840D-75FC-CE66-358881265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Schema (id, name, age) – All Data ( in a Table has to fit)</a:t>
            </a:r>
          </a:p>
          <a:p>
            <a:r>
              <a:rPr lang="en-US" dirty="0"/>
              <a:t>Data Relations ( Tables are connected)</a:t>
            </a:r>
          </a:p>
          <a:p>
            <a:pPr lvl="1"/>
            <a:r>
              <a:rPr lang="en-US" dirty="0"/>
              <a:t>One-to-One</a:t>
            </a:r>
          </a:p>
          <a:p>
            <a:pPr lvl="1"/>
            <a:r>
              <a:rPr lang="en-US" dirty="0"/>
              <a:t>One-to-Many</a:t>
            </a:r>
          </a:p>
          <a:p>
            <a:pPr lvl="1"/>
            <a:r>
              <a:rPr lang="en-US" dirty="0"/>
              <a:t>Many-to-Many</a:t>
            </a:r>
          </a:p>
        </p:txBody>
      </p:sp>
    </p:spTree>
    <p:extLst>
      <p:ext uri="{BB962C8B-B14F-4D97-AF65-F5344CB8AC3E}">
        <p14:creationId xmlns:p14="http://schemas.microsoft.com/office/powerpoint/2010/main" val="201424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91F4-7B93-35A6-DD81-27CF2542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3289-22F2-6BC5-1C14-BE9C5F904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SELECT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*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FROM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users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WHERE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age &gt; 30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SQL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Keywords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Parameters/Data</a:t>
            </a:r>
          </a:p>
        </p:txBody>
      </p:sp>
    </p:spTree>
    <p:extLst>
      <p:ext uri="{BB962C8B-B14F-4D97-AF65-F5344CB8AC3E}">
        <p14:creationId xmlns:p14="http://schemas.microsoft.com/office/powerpoint/2010/main" val="2872843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9F45-21C1-31AF-587F-4A9A43E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64BA6-889C-ADE3-A64D-97C7A72A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: Shop</a:t>
            </a:r>
          </a:p>
          <a:p>
            <a:r>
              <a:rPr lang="en-US" dirty="0"/>
              <a:t>Collections : Users, Orders</a:t>
            </a:r>
          </a:p>
          <a:p>
            <a:r>
              <a:rPr lang="en-US" dirty="0"/>
              <a:t>Documents: {</a:t>
            </a:r>
            <a:r>
              <a:rPr lang="en-US" dirty="0" err="1"/>
              <a:t>name:’Ram</a:t>
            </a:r>
            <a:r>
              <a:rPr lang="en-US" dirty="0"/>
              <a:t> Sharmar’,age:30} {…}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497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128E-809B-E593-29C7-25B3221B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9E68-B525-11F4-B0A7-EC563B4BB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Data Schema – No Structure required!</a:t>
            </a:r>
          </a:p>
          <a:p>
            <a:r>
              <a:rPr lang="en-US" dirty="0"/>
              <a:t>No Data Relations – No/Few Connections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E373-EC35-AC0B-1E31-E4DC99BD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AFEC6-4412-DAF0-58C6-60CBAD654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Horizontal Scaling</a:t>
            </a:r>
          </a:p>
          <a:p>
            <a:pPr lvl="1"/>
            <a:r>
              <a:rPr lang="en-US" dirty="0"/>
              <a:t>Add More Servers ( and merge Data into one Database)</a:t>
            </a:r>
          </a:p>
          <a:p>
            <a:pPr lvl="1"/>
            <a:endParaRPr lang="en-US" dirty="0"/>
          </a:p>
          <a:p>
            <a:r>
              <a:rPr lang="en-US" dirty="0"/>
              <a:t>Vertical Scaling</a:t>
            </a:r>
          </a:p>
          <a:p>
            <a:pPr lvl="1"/>
            <a:r>
              <a:rPr lang="en-US" dirty="0"/>
              <a:t>Improve Server Capacity/Hardware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4D245-C462-FA57-1453-30F8C2E065DD}"/>
              </a:ext>
            </a:extLst>
          </p:cNvPr>
          <p:cNvSpPr/>
          <p:nvPr/>
        </p:nvSpPr>
        <p:spPr>
          <a:xfrm>
            <a:off x="9023927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A4CDC-3B36-A3BA-9CE9-FCE47A1E5138}"/>
              </a:ext>
            </a:extLst>
          </p:cNvPr>
          <p:cNvSpPr/>
          <p:nvPr/>
        </p:nvSpPr>
        <p:spPr>
          <a:xfrm>
            <a:off x="9619672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FF50-C47B-03C2-7BAB-2DFD9EA2B272}"/>
              </a:ext>
            </a:extLst>
          </p:cNvPr>
          <p:cNvSpPr/>
          <p:nvPr/>
        </p:nvSpPr>
        <p:spPr>
          <a:xfrm>
            <a:off x="10251208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9FF6FC-F140-BF89-1968-7158BAC02E71}"/>
              </a:ext>
            </a:extLst>
          </p:cNvPr>
          <p:cNvSpPr/>
          <p:nvPr/>
        </p:nvSpPr>
        <p:spPr>
          <a:xfrm>
            <a:off x="7961745" y="370378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A4222-F95B-4377-C295-12793C313CC8}"/>
              </a:ext>
            </a:extLst>
          </p:cNvPr>
          <p:cNvSpPr/>
          <p:nvPr/>
        </p:nvSpPr>
        <p:spPr>
          <a:xfrm>
            <a:off x="7961744" y="4136231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CDB18F-D60A-60D2-44C3-CDB676B25512}"/>
              </a:ext>
            </a:extLst>
          </p:cNvPr>
          <p:cNvSpPr/>
          <p:nvPr/>
        </p:nvSpPr>
        <p:spPr>
          <a:xfrm>
            <a:off x="7961744" y="457539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7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7A0B2-374A-B574-4AA8-067B648D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1F-45B0-C8C5-767E-6DDED73C7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508" y="1690688"/>
            <a:ext cx="4528127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uses Schemas</a:t>
            </a:r>
          </a:p>
          <a:p>
            <a:r>
              <a:rPr lang="en-US" dirty="0"/>
              <a:t>Relations!	</a:t>
            </a:r>
          </a:p>
          <a:p>
            <a:r>
              <a:rPr lang="en-US" dirty="0"/>
              <a:t>Data is distributed across multiple tables</a:t>
            </a:r>
          </a:p>
          <a:p>
            <a:r>
              <a:rPr lang="en-US" dirty="0"/>
              <a:t>Horizontal scaling is difficult/impossible; vertical scaling is possible</a:t>
            </a:r>
          </a:p>
          <a:p>
            <a:r>
              <a:rPr lang="en-US" dirty="0"/>
              <a:t>Limitations for lots of (thousands) read&amp; write queries per second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528BA7-9B90-06C1-BB0A-91F00E440B2C}"/>
              </a:ext>
            </a:extLst>
          </p:cNvPr>
          <p:cNvSpPr txBox="1">
            <a:spLocks/>
          </p:cNvSpPr>
          <p:nvPr/>
        </p:nvSpPr>
        <p:spPr>
          <a:xfrm>
            <a:off x="6825673" y="1690688"/>
            <a:ext cx="45281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Schema-less</a:t>
            </a:r>
          </a:p>
          <a:p>
            <a:r>
              <a:rPr lang="en-US" dirty="0"/>
              <a:t>No(or very few) Relations</a:t>
            </a:r>
          </a:p>
          <a:p>
            <a:r>
              <a:rPr lang="en-US" dirty="0"/>
              <a:t>Data is typically merged/nested in a few collections</a:t>
            </a:r>
          </a:p>
          <a:p>
            <a:r>
              <a:rPr lang="en-US" dirty="0"/>
              <a:t>Both horizontal and vertical scaling is possible</a:t>
            </a:r>
          </a:p>
          <a:p>
            <a:r>
              <a:rPr lang="en-US" dirty="0"/>
              <a:t>Great performance for mass read &amp; write requests</a:t>
            </a:r>
          </a:p>
        </p:txBody>
      </p:sp>
    </p:spTree>
    <p:extLst>
      <p:ext uri="{BB962C8B-B14F-4D97-AF65-F5344CB8AC3E}">
        <p14:creationId xmlns:p14="http://schemas.microsoft.com/office/powerpoint/2010/main" val="1924190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EEF1-FDD9-1690-C4CE-7F6DDF4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MySQL Download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6BA55-97CF-683B-6E3C-3C4AE0E7B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MySQL Community Downloads</a:t>
            </a:r>
          </a:p>
          <a:p>
            <a:pPr lvl="1"/>
            <a:r>
              <a:rPr lang="en-US" dirty="0"/>
              <a:t>MySQL Community Server</a:t>
            </a:r>
          </a:p>
          <a:p>
            <a:pPr lvl="1"/>
            <a:r>
              <a:rPr lang="en-US" dirty="0"/>
              <a:t>MySQL Workbench</a:t>
            </a:r>
          </a:p>
          <a:p>
            <a:r>
              <a:rPr lang="en-US" dirty="0"/>
              <a:t>Connecting our App to the SQL Database</a:t>
            </a:r>
          </a:p>
          <a:p>
            <a:r>
              <a:rPr lang="en-US" dirty="0"/>
              <a:t>Basic SQL &amp; creating a Table</a:t>
            </a:r>
          </a:p>
          <a:p>
            <a:r>
              <a:rPr lang="en-US" dirty="0"/>
              <a:t>Fetching Products</a:t>
            </a:r>
          </a:p>
          <a:p>
            <a:r>
              <a:rPr lang="en-US" dirty="0"/>
              <a:t>Inserting Data into Database</a:t>
            </a:r>
          </a:p>
          <a:p>
            <a:r>
              <a:rPr lang="en-US" dirty="0"/>
              <a:t>Fetching a single product with the </a:t>
            </a:r>
            <a:r>
              <a:rPr lang="en-US"/>
              <a:t>where condition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157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0847-203D-3882-F5F4-7C7C2861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08ED4-3C93-DC4B-3AFB-6C3979894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Focus n Node.js, not on SQL</a:t>
            </a:r>
          </a:p>
          <a:p>
            <a:pPr marL="0" indent="0">
              <a:buNone/>
            </a:pPr>
            <a:r>
              <a:rPr lang="en-US" dirty="0"/>
              <a:t>An Object-Relational Mapping Library</a:t>
            </a:r>
          </a:p>
          <a:p>
            <a:pPr marL="0" indent="0">
              <a:buNone/>
            </a:pPr>
            <a:r>
              <a:rPr lang="en-US" dirty="0"/>
              <a:t>Syncing JS Definitions to the Database</a:t>
            </a:r>
          </a:p>
          <a:p>
            <a:pPr marL="0" indent="0">
              <a:buNone/>
            </a:pPr>
            <a:r>
              <a:rPr lang="en-US" dirty="0"/>
              <a:t>Inserting Data &amp; Creating a Product</a:t>
            </a:r>
          </a:p>
          <a:p>
            <a:pPr marL="0" indent="0">
              <a:buNone/>
            </a:pPr>
            <a:r>
              <a:rPr lang="en-US" dirty="0"/>
              <a:t>Retrieving Data &amp; Finding Products</a:t>
            </a:r>
          </a:p>
          <a:p>
            <a:pPr marL="0" indent="0">
              <a:buNone/>
            </a:pPr>
            <a:r>
              <a:rPr lang="en-US" dirty="0"/>
              <a:t>Getting a Single Product with the where Condition</a:t>
            </a:r>
          </a:p>
          <a:p>
            <a:pPr marL="0" indent="0">
              <a:buNone/>
            </a:pPr>
            <a:r>
              <a:rPr lang="en-US" dirty="0"/>
              <a:t>Fetching Admin products</a:t>
            </a:r>
          </a:p>
          <a:p>
            <a:pPr marL="0" indent="0">
              <a:buNone/>
            </a:pPr>
            <a:r>
              <a:rPr lang="en-US" dirty="0"/>
              <a:t>Updating Products</a:t>
            </a:r>
          </a:p>
          <a:p>
            <a:pPr marL="0" indent="0">
              <a:buNone/>
            </a:pPr>
            <a:r>
              <a:rPr lang="en-US" dirty="0"/>
              <a:t>Creating a User Model</a:t>
            </a:r>
          </a:p>
          <a:p>
            <a:pPr marL="0" indent="0">
              <a:buNone/>
            </a:pPr>
            <a:r>
              <a:rPr lang="en-US" dirty="0"/>
              <a:t>Adding a One-To-Many Relationship</a:t>
            </a:r>
          </a:p>
          <a:p>
            <a:pPr marL="0" indent="0">
              <a:buNone/>
            </a:pPr>
            <a:r>
              <a:rPr lang="en-US" dirty="0"/>
              <a:t>Creating &amp; Managing a Dummy User</a:t>
            </a:r>
          </a:p>
          <a:p>
            <a:pPr marL="0" indent="0">
              <a:buNone/>
            </a:pPr>
            <a:r>
              <a:rPr lang="en-US" dirty="0"/>
              <a:t>Using Magic Association Methods</a:t>
            </a:r>
          </a:p>
          <a:p>
            <a:pPr marL="0" indent="0">
              <a:buNone/>
            </a:pPr>
            <a:r>
              <a:rPr lang="en-US" dirty="0"/>
              <a:t>Fetching Related Products</a:t>
            </a:r>
          </a:p>
          <a:p>
            <a:pPr marL="0" indent="0">
              <a:buNone/>
            </a:pPr>
            <a:r>
              <a:rPr lang="en-US" dirty="0"/>
              <a:t>One-to-many &amp; many-to-many Relations</a:t>
            </a:r>
          </a:p>
          <a:p>
            <a:pPr marL="0" indent="0">
              <a:buNone/>
            </a:pPr>
            <a:r>
              <a:rPr lang="en-US" dirty="0"/>
              <a:t>Creating &amp; Fetching a Cart</a:t>
            </a:r>
          </a:p>
          <a:p>
            <a:pPr marL="0" indent="0">
              <a:buNone/>
            </a:pPr>
            <a:r>
              <a:rPr lang="en-US" dirty="0"/>
              <a:t>Adding New Products to the Cart</a:t>
            </a:r>
          </a:p>
          <a:p>
            <a:pPr marL="0" indent="0">
              <a:buNone/>
            </a:pPr>
            <a:r>
              <a:rPr lang="en-US" dirty="0"/>
              <a:t>Adding Existing Products &amp; Retrieving Cart Items</a:t>
            </a:r>
          </a:p>
          <a:p>
            <a:pPr marL="0" indent="0">
              <a:buNone/>
            </a:pPr>
            <a:r>
              <a:rPr lang="en-US" dirty="0"/>
              <a:t>Deleting Related Items &amp; Deleting Cart Products</a:t>
            </a:r>
          </a:p>
          <a:p>
            <a:pPr marL="0" indent="0">
              <a:buNone/>
            </a:pPr>
            <a:r>
              <a:rPr lang="en-US" dirty="0"/>
              <a:t>Adding an Order Model</a:t>
            </a:r>
          </a:p>
          <a:p>
            <a:pPr marL="0" indent="0">
              <a:buNone/>
            </a:pPr>
            <a:r>
              <a:rPr lang="en-US" dirty="0"/>
              <a:t>Storing </a:t>
            </a:r>
            <a:r>
              <a:rPr lang="en-US" dirty="0" err="1"/>
              <a:t>Cartitems</a:t>
            </a:r>
            <a:r>
              <a:rPr lang="en-US" dirty="0"/>
              <a:t> as </a:t>
            </a:r>
            <a:r>
              <a:rPr lang="en-US" dirty="0" err="1"/>
              <a:t>Orderitems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Resetting the Cart &amp; Fetching and Outputting Orders</a:t>
            </a:r>
          </a:p>
        </p:txBody>
      </p:sp>
    </p:spTree>
    <p:extLst>
      <p:ext uri="{BB962C8B-B14F-4D97-AF65-F5344CB8AC3E}">
        <p14:creationId xmlns:p14="http://schemas.microsoft.com/office/powerpoint/2010/main" val="32807540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84748F-8A0B-BD1A-DC81-F918D687D8F0}"/>
              </a:ext>
            </a:extLst>
          </p:cNvPr>
          <p:cNvSpPr txBox="1"/>
          <p:nvPr/>
        </p:nvSpPr>
        <p:spPr>
          <a:xfrm>
            <a:off x="4507992" y="484632"/>
            <a:ext cx="14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Associations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30B96C-9420-58E3-FBFB-0025C003FF2B}"/>
              </a:ext>
            </a:extLst>
          </p:cNvPr>
          <p:cNvSpPr/>
          <p:nvPr/>
        </p:nvSpPr>
        <p:spPr>
          <a:xfrm>
            <a:off x="795528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Product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7DFBF8-1AD4-37DF-FAB8-668A26C482A2}"/>
              </a:ext>
            </a:extLst>
          </p:cNvPr>
          <p:cNvSpPr/>
          <p:nvPr/>
        </p:nvSpPr>
        <p:spPr>
          <a:xfrm>
            <a:off x="9378696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A0B7A3-7083-BE85-AC1C-EAC8AA3C4775}"/>
              </a:ext>
            </a:extLst>
          </p:cNvPr>
          <p:cNvSpPr/>
          <p:nvPr/>
        </p:nvSpPr>
        <p:spPr>
          <a:xfrm>
            <a:off x="4967117" y="378256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04F74C-AE52-8EDA-6BA7-5609D0C1106F}"/>
              </a:ext>
            </a:extLst>
          </p:cNvPr>
          <p:cNvSpPr/>
          <p:nvPr/>
        </p:nvSpPr>
        <p:spPr>
          <a:xfrm>
            <a:off x="4967117" y="516940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Order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5D84ABE3-4BAF-975F-527F-0FEB811E55BF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2217620" y="1453695"/>
            <a:ext cx="220980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F4B6D73-3699-0BF1-A8EF-355C6EFD8659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1524200" y="2147115"/>
            <a:ext cx="359664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D7C1EB52-49BF-BF46-015C-F87E132A02FB}"/>
              </a:ext>
            </a:extLst>
          </p:cNvPr>
          <p:cNvCxnSpPr>
            <a:stCxn id="6" idx="1"/>
            <a:endCxn id="5" idx="3"/>
          </p:cNvCxnSpPr>
          <p:nvPr/>
        </p:nvCxnSpPr>
        <p:spPr>
          <a:xfrm rot="10800000">
            <a:off x="2560320" y="1572768"/>
            <a:ext cx="6818376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D22392F-F64A-CCDB-4F23-CA38E3393D30}"/>
              </a:ext>
            </a:extLst>
          </p:cNvPr>
          <p:cNvCxnSpPr>
            <a:stCxn id="6" idx="2"/>
            <a:endCxn id="7" idx="3"/>
          </p:cNvCxnSpPr>
          <p:nvPr/>
        </p:nvCxnSpPr>
        <p:spPr>
          <a:xfrm rot="5400000">
            <a:off x="7391601" y="1333701"/>
            <a:ext cx="220980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3404DF1-7BE9-7E2A-D024-1A3CE9193C81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6698181" y="2027121"/>
            <a:ext cx="359664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54F40DD-0096-F619-BBC3-34F7B0992CDB}"/>
              </a:ext>
            </a:extLst>
          </p:cNvPr>
          <p:cNvSpPr txBox="1"/>
          <p:nvPr/>
        </p:nvSpPr>
        <p:spPr>
          <a:xfrm>
            <a:off x="5233015" y="1177790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0B36AD-3395-A1DD-CDF6-5489598DCAD8}"/>
              </a:ext>
            </a:extLst>
          </p:cNvPr>
          <p:cNvSpPr txBox="1"/>
          <p:nvPr/>
        </p:nvSpPr>
        <p:spPr>
          <a:xfrm>
            <a:off x="2560320" y="3833860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E8EA71-8F82-7CFB-6780-EB1958D42A1F}"/>
              </a:ext>
            </a:extLst>
          </p:cNvPr>
          <p:cNvSpPr txBox="1"/>
          <p:nvPr/>
        </p:nvSpPr>
        <p:spPr>
          <a:xfrm>
            <a:off x="2560320" y="5246346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5F54E4-053E-4027-F6BE-B8F432D3DCA1}"/>
              </a:ext>
            </a:extLst>
          </p:cNvPr>
          <p:cNvSpPr txBox="1"/>
          <p:nvPr/>
        </p:nvSpPr>
        <p:spPr>
          <a:xfrm>
            <a:off x="7566084" y="3833860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One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752619-905E-F726-1F1F-2CEE701D8A2C}"/>
              </a:ext>
            </a:extLst>
          </p:cNvPr>
          <p:cNvSpPr txBox="1"/>
          <p:nvPr/>
        </p:nvSpPr>
        <p:spPr>
          <a:xfrm>
            <a:off x="7566084" y="5246346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</p:spTree>
    <p:extLst>
      <p:ext uri="{BB962C8B-B14F-4D97-AF65-F5344CB8AC3E}">
        <p14:creationId xmlns:p14="http://schemas.microsoft.com/office/powerpoint/2010/main" val="4213727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DBE0-BCB9-AF8E-9399-AE83F26C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8DCBC-EE50-AE6D-3727-509CCBD88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SQL</a:t>
            </a:r>
          </a:p>
          <a:p>
            <a:pPr lvl="1"/>
            <a:r>
              <a:rPr lang="en-US" dirty="0"/>
              <a:t>SQL uses strict data schemas and relations</a:t>
            </a:r>
          </a:p>
          <a:p>
            <a:pPr lvl="1"/>
            <a:r>
              <a:rPr lang="en-US" dirty="0"/>
              <a:t>You can connect your Node.js app via packages like mysql2</a:t>
            </a:r>
          </a:p>
          <a:p>
            <a:pPr lvl="1"/>
            <a:r>
              <a:rPr lang="en-US" dirty="0"/>
              <a:t>Writing SQL queries in not directly related to Node.js and something you have to learn in addition to Node.js</a:t>
            </a:r>
          </a:p>
          <a:p>
            <a:r>
              <a:rPr lang="en-US" dirty="0"/>
              <a:t>Sequelize</a:t>
            </a:r>
          </a:p>
          <a:p>
            <a:pPr lvl="1"/>
            <a:r>
              <a:rPr lang="en-US" dirty="0"/>
              <a:t>Instead of writing SQL queries manually, you can use packages(ORMs) like Sequelize to focus on the Node.js code and work with native JS objects</a:t>
            </a:r>
          </a:p>
          <a:p>
            <a:pPr lvl="1"/>
            <a:r>
              <a:rPr lang="en-US" dirty="0"/>
              <a:t>Sequelize allows you define models and interact with the database through them</a:t>
            </a:r>
          </a:p>
          <a:p>
            <a:pPr lvl="1"/>
            <a:r>
              <a:rPr lang="en-US" dirty="0"/>
              <a:t>You can also easily set up relations(“Associations”) and interact with your related models through them</a:t>
            </a:r>
          </a:p>
        </p:txBody>
      </p:sp>
    </p:spTree>
    <p:extLst>
      <p:ext uri="{BB962C8B-B14F-4D97-AF65-F5344CB8AC3E}">
        <p14:creationId xmlns:p14="http://schemas.microsoft.com/office/powerpoint/2010/main" val="24219903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91769-C5C1-AA84-7917-5313D3E16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Databases / 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211BC-4E55-3418-7642-B3D44086A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Storing data in a different kind of database</a:t>
            </a:r>
          </a:p>
          <a:p>
            <a:endParaRPr lang="en-US" dirty="0"/>
          </a:p>
          <a:p>
            <a:r>
              <a:rPr lang="en-US" dirty="0"/>
              <a:t>What is MongoDB?</a:t>
            </a:r>
          </a:p>
          <a:p>
            <a:r>
              <a:rPr lang="en-US" dirty="0"/>
              <a:t>Using the MongoDB Driver in Node.js Apps</a:t>
            </a:r>
          </a:p>
          <a:p>
            <a:endParaRPr lang="en-US" dirty="0"/>
          </a:p>
          <a:p>
            <a:r>
              <a:rPr lang="en-US" dirty="0"/>
              <a:t>Because it can store lots and lots of data </a:t>
            </a:r>
          </a:p>
        </p:txBody>
      </p:sp>
    </p:spTree>
    <p:extLst>
      <p:ext uri="{BB962C8B-B14F-4D97-AF65-F5344CB8AC3E}">
        <p14:creationId xmlns:p14="http://schemas.microsoft.com/office/powerpoint/2010/main" val="2741913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A4701-064F-7473-9919-F1E64195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EEB0-8274-D5E9-91E9-7BFE91FA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</a:t>
            </a:r>
          </a:p>
          <a:p>
            <a:pPr lvl="1"/>
            <a:r>
              <a:rPr lang="en-US" dirty="0"/>
              <a:t>Shop</a:t>
            </a:r>
          </a:p>
          <a:p>
            <a:r>
              <a:rPr lang="en-US" dirty="0"/>
              <a:t>Collections</a:t>
            </a:r>
          </a:p>
          <a:p>
            <a:pPr lvl="1"/>
            <a:r>
              <a:rPr lang="en-US" dirty="0"/>
              <a:t>Orders</a:t>
            </a:r>
          </a:p>
          <a:p>
            <a:pPr lvl="1"/>
            <a:r>
              <a:rPr lang="en-US" dirty="0"/>
              <a:t>Users</a:t>
            </a:r>
          </a:p>
          <a:p>
            <a:r>
              <a:rPr lang="en-US" dirty="0"/>
              <a:t>Documents</a:t>
            </a:r>
          </a:p>
          <a:p>
            <a:pPr lvl="1"/>
            <a:r>
              <a:rPr lang="en-US" dirty="0"/>
              <a:t>{name:’Max’,age:29}</a:t>
            </a:r>
          </a:p>
          <a:p>
            <a:pPr lvl="1"/>
            <a:r>
              <a:rPr lang="en-US" dirty="0"/>
              <a:t>{</a:t>
            </a:r>
            <a:r>
              <a:rPr lang="en-US" dirty="0" err="1"/>
              <a:t>name:’Ram</a:t>
            </a:r>
            <a:r>
              <a:rPr lang="en-US" dirty="0"/>
              <a:t>’}</a:t>
            </a:r>
          </a:p>
        </p:txBody>
      </p:sp>
    </p:spTree>
    <p:extLst>
      <p:ext uri="{BB962C8B-B14F-4D97-AF65-F5344CB8AC3E}">
        <p14:creationId xmlns:p14="http://schemas.microsoft.com/office/powerpoint/2010/main" val="41061464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4578D-D91C-E3A9-4A6B-FB662D3AA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JSON(BSON) Data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D482-E8E0-C922-EAE5-BED33988E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20000"/>
          </a:bodyPr>
          <a:lstStyle/>
          <a:p>
            <a:r>
              <a:rPr lang="en-US" dirty="0"/>
              <a:t>Installing the MongoDB Driver</a:t>
            </a:r>
          </a:p>
          <a:p>
            <a:r>
              <a:rPr lang="en-US" dirty="0"/>
              <a:t>Creating the Database Connection</a:t>
            </a:r>
          </a:p>
          <a:p>
            <a:r>
              <a:rPr lang="en-US" dirty="0"/>
              <a:t>Using the Database connection</a:t>
            </a:r>
          </a:p>
          <a:p>
            <a:r>
              <a:rPr lang="en-US" dirty="0"/>
              <a:t>Creating Products</a:t>
            </a:r>
          </a:p>
          <a:p>
            <a:r>
              <a:rPr lang="en-US" dirty="0"/>
              <a:t>Understanding the MongoDB Compass</a:t>
            </a:r>
          </a:p>
          <a:p>
            <a:r>
              <a:rPr lang="en-US" dirty="0"/>
              <a:t>Fetching all Products</a:t>
            </a:r>
          </a:p>
          <a:p>
            <a:r>
              <a:rPr lang="en-US" dirty="0"/>
              <a:t>Making the Edit &amp; delete Buttons work again</a:t>
            </a:r>
          </a:p>
          <a:p>
            <a:r>
              <a:rPr lang="en-US" dirty="0"/>
              <a:t>Working on the product model</a:t>
            </a:r>
          </a:p>
          <a:p>
            <a:r>
              <a:rPr lang="en-US" dirty="0"/>
              <a:t>Deleting Product</a:t>
            </a:r>
          </a:p>
          <a:p>
            <a:r>
              <a:rPr lang="en-US" dirty="0"/>
              <a:t>Creating New Users</a:t>
            </a:r>
          </a:p>
          <a:p>
            <a:r>
              <a:rPr lang="en-US" dirty="0"/>
              <a:t>Storing the user in our Database</a:t>
            </a:r>
          </a:p>
          <a:p>
            <a:r>
              <a:rPr lang="en-US" dirty="0"/>
              <a:t>Working on cart items &amp; orders</a:t>
            </a:r>
          </a:p>
          <a:p>
            <a:r>
              <a:rPr lang="en-US" dirty="0"/>
              <a:t>Storing Multiple Products in the Cart</a:t>
            </a:r>
          </a:p>
          <a:p>
            <a:r>
              <a:rPr lang="en-US" dirty="0"/>
              <a:t>Displaying the Cart items</a:t>
            </a:r>
          </a:p>
          <a:p>
            <a:r>
              <a:rPr lang="en-US" dirty="0"/>
              <a:t>Fixing a Bug</a:t>
            </a:r>
          </a:p>
          <a:p>
            <a:r>
              <a:rPr lang="en-US" dirty="0"/>
              <a:t>Deleting a Cart items</a:t>
            </a:r>
          </a:p>
          <a:p>
            <a:r>
              <a:rPr lang="en-US" dirty="0"/>
              <a:t>Adding an Order</a:t>
            </a:r>
          </a:p>
          <a:p>
            <a:r>
              <a:rPr lang="en-US" dirty="0"/>
              <a:t>Adding Relational Order Data</a:t>
            </a:r>
          </a:p>
          <a:p>
            <a:r>
              <a:rPr lang="en-US" dirty="0"/>
              <a:t>Getting Orders</a:t>
            </a:r>
          </a:p>
        </p:txBody>
      </p:sp>
    </p:spTree>
    <p:extLst>
      <p:ext uri="{BB962C8B-B14F-4D97-AF65-F5344CB8AC3E}">
        <p14:creationId xmlns:p14="http://schemas.microsoft.com/office/powerpoint/2010/main" val="33176679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47618-9647-737B-E800-C3297EB4A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38912"/>
            <a:ext cx="10515600" cy="5738051"/>
          </a:xfrm>
        </p:spPr>
        <p:txBody>
          <a:bodyPr/>
          <a:lstStyle/>
          <a:p>
            <a:r>
              <a:rPr lang="en-US" dirty="0"/>
              <a:t>NoSQL/MongoDB</a:t>
            </a:r>
          </a:p>
          <a:p>
            <a:pPr lvl="1"/>
            <a:r>
              <a:rPr lang="en-US" dirty="0"/>
              <a:t>Alternative to SQL databases</a:t>
            </a:r>
          </a:p>
          <a:p>
            <a:pPr lvl="1"/>
            <a:r>
              <a:rPr lang="en-US" dirty="0"/>
              <a:t>No strict schemas, fewer relations</a:t>
            </a:r>
          </a:p>
          <a:p>
            <a:pPr lvl="1"/>
            <a:r>
              <a:rPr lang="en-US" dirty="0"/>
              <a:t>You can of course use schemas and reference-based relations but you got more flexibility</a:t>
            </a:r>
          </a:p>
          <a:p>
            <a:pPr lvl="1"/>
            <a:r>
              <a:rPr lang="en-US" dirty="0"/>
              <a:t>Often, relations are also created by embedding other documents/data</a:t>
            </a:r>
          </a:p>
          <a:p>
            <a:r>
              <a:rPr lang="en-US" dirty="0"/>
              <a:t>Working with MongoDB</a:t>
            </a:r>
          </a:p>
          <a:p>
            <a:pPr lvl="1"/>
            <a:r>
              <a:rPr lang="en-US" dirty="0"/>
              <a:t>Use the official MongoDB driver</a:t>
            </a:r>
          </a:p>
          <a:p>
            <a:pPr lvl="1"/>
            <a:r>
              <a:rPr lang="en-US" dirty="0"/>
              <a:t>Commands like </a:t>
            </a:r>
            <a:r>
              <a:rPr lang="en-US" dirty="0" err="1"/>
              <a:t>insertOne</a:t>
            </a:r>
            <a:r>
              <a:rPr lang="en-US" dirty="0"/>
              <a:t>(), find(), </a:t>
            </a:r>
            <a:r>
              <a:rPr lang="en-US" dirty="0" err="1"/>
              <a:t>updateOne</a:t>
            </a:r>
            <a:r>
              <a:rPr lang="en-US" dirty="0"/>
              <a:t>() and </a:t>
            </a:r>
            <a:r>
              <a:rPr lang="en-US" dirty="0" err="1"/>
              <a:t>deleteOne</a:t>
            </a:r>
            <a:r>
              <a:rPr lang="en-US" dirty="0"/>
              <a:t>() make CRUD-Operations very simple</a:t>
            </a:r>
          </a:p>
          <a:p>
            <a:pPr lvl="1"/>
            <a:r>
              <a:rPr lang="en-US" dirty="0"/>
              <a:t>Check the official docs to learn about all available operations + configurations/operators</a:t>
            </a:r>
          </a:p>
          <a:p>
            <a:pPr lvl="1"/>
            <a:r>
              <a:rPr lang="en-US" dirty="0"/>
              <a:t>All operations are promise-based, hence you can easily chain them for more </a:t>
            </a:r>
            <a:r>
              <a:rPr lang="en-US"/>
              <a:t>complex flows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6165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8B4C7-0288-BC1E-60A1-1AB150939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12237-7E8C-EF68-36C5-3F30D8345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10000"/>
          </a:bodyPr>
          <a:lstStyle/>
          <a:p>
            <a:r>
              <a:rPr lang="en-US" dirty="0"/>
              <a:t>A Object-Document Mapping Library</a:t>
            </a:r>
          </a:p>
          <a:p>
            <a:r>
              <a:rPr lang="en-US" dirty="0"/>
              <a:t>Connecting to the MongoDB Server with Mongoose</a:t>
            </a:r>
          </a:p>
          <a:p>
            <a:r>
              <a:rPr lang="en-US" dirty="0"/>
              <a:t>Creating the Product Schema</a:t>
            </a:r>
          </a:p>
          <a:p>
            <a:r>
              <a:rPr lang="en-US" dirty="0"/>
              <a:t>Saving data through mongoose</a:t>
            </a:r>
          </a:p>
          <a:p>
            <a:r>
              <a:rPr lang="en-US" dirty="0"/>
              <a:t>Fetching All Product</a:t>
            </a:r>
          </a:p>
          <a:p>
            <a:r>
              <a:rPr lang="en-US" dirty="0"/>
              <a:t>Fetching a Single Product</a:t>
            </a:r>
          </a:p>
          <a:p>
            <a:r>
              <a:rPr lang="en-US" dirty="0"/>
              <a:t>Updating Products</a:t>
            </a:r>
          </a:p>
          <a:p>
            <a:r>
              <a:rPr lang="en-US" dirty="0"/>
              <a:t>Deleting Products</a:t>
            </a:r>
          </a:p>
          <a:p>
            <a:r>
              <a:rPr lang="en-US" dirty="0"/>
              <a:t>Adding and Using a User Model</a:t>
            </a:r>
          </a:p>
          <a:p>
            <a:r>
              <a:rPr lang="en-US" dirty="0"/>
              <a:t>Using Relations in Mongoose</a:t>
            </a:r>
          </a:p>
          <a:p>
            <a:r>
              <a:rPr lang="en-US" dirty="0"/>
              <a:t>Fetching Relation</a:t>
            </a:r>
          </a:p>
          <a:p>
            <a:r>
              <a:rPr lang="en-US" dirty="0"/>
              <a:t>Working on the Shopping Cart</a:t>
            </a:r>
          </a:p>
          <a:p>
            <a:r>
              <a:rPr lang="en-US" dirty="0"/>
              <a:t>Loading the Cart</a:t>
            </a:r>
          </a:p>
          <a:p>
            <a:r>
              <a:rPr lang="en-US" dirty="0"/>
              <a:t>Deleting Cart Items</a:t>
            </a:r>
          </a:p>
          <a:p>
            <a:r>
              <a:rPr lang="en-US" dirty="0"/>
              <a:t>Creating &amp; Getting Orders</a:t>
            </a:r>
          </a:p>
          <a:p>
            <a:r>
              <a:rPr lang="en-US" dirty="0"/>
              <a:t>Storing All order Related Data</a:t>
            </a:r>
          </a:p>
          <a:p>
            <a:r>
              <a:rPr lang="en-US" dirty="0"/>
              <a:t>Clearing the Cart After Storing an Order</a:t>
            </a:r>
          </a:p>
        </p:txBody>
      </p:sp>
    </p:spTree>
    <p:extLst>
      <p:ext uri="{BB962C8B-B14F-4D97-AF65-F5344CB8AC3E}">
        <p14:creationId xmlns:p14="http://schemas.microsoft.com/office/powerpoint/2010/main" val="38858377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4AC2B-4471-4240-67B7-CB39A5292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 &amp; Cookies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2B5FB-C848-5DF6-59F9-105903758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are Cookies?</a:t>
            </a:r>
          </a:p>
          <a:p>
            <a:r>
              <a:rPr lang="en-US" dirty="0"/>
              <a:t>What are Sessions?</a:t>
            </a:r>
          </a:p>
          <a:p>
            <a:r>
              <a:rPr lang="en-US" dirty="0"/>
              <a:t>Using Session &amp; Cookies?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92226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E3E25-4C5B-3C05-800F-25AC51FF8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Cookie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2D8F22-3D28-2DF0-6531-67F0A1ED59F4}"/>
              </a:ext>
            </a:extLst>
          </p:cNvPr>
          <p:cNvSpPr/>
          <p:nvPr/>
        </p:nvSpPr>
        <p:spPr>
          <a:xfrm>
            <a:off x="4321629" y="587829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EB21F2-5781-4C72-F4E6-8B4CC2C24332}"/>
              </a:ext>
            </a:extLst>
          </p:cNvPr>
          <p:cNvSpPr/>
          <p:nvPr/>
        </p:nvSpPr>
        <p:spPr>
          <a:xfrm>
            <a:off x="4321627" y="211880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FrontEnd</a:t>
            </a:r>
            <a:r>
              <a:rPr lang="en-US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2B8DDE-5664-1C35-2B07-AA629C105147}"/>
              </a:ext>
            </a:extLst>
          </p:cNvPr>
          <p:cNvSpPr/>
          <p:nvPr/>
        </p:nvSpPr>
        <p:spPr>
          <a:xfrm>
            <a:off x="4321628" y="398383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 (Node App)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57F5E0A9-F9E4-0391-ED80-668D3F35542E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5063813" y="1712543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FC79F0BA-A461-9077-349D-5EF33483108E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896784" y="3410544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3B3F8F-1DC7-7F09-DCDC-93E972CE97D5}"/>
              </a:ext>
            </a:extLst>
          </p:cNvPr>
          <p:cNvSpPr txBox="1"/>
          <p:nvPr/>
        </p:nvSpPr>
        <p:spPr>
          <a:xfrm>
            <a:off x="3766457" y="3429000"/>
            <a:ext cx="1012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Request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7F510B-C385-636E-C6C0-5D8662672145}"/>
              </a:ext>
            </a:extLst>
          </p:cNvPr>
          <p:cNvSpPr txBox="1"/>
          <p:nvPr/>
        </p:nvSpPr>
        <p:spPr>
          <a:xfrm>
            <a:off x="5834742" y="3429000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Includes Cookies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B0F118-B727-12F3-B7E8-DFA3E4D8060C}"/>
              </a:ext>
            </a:extLst>
          </p:cNvPr>
          <p:cNvSpPr/>
          <p:nvPr/>
        </p:nvSpPr>
        <p:spPr>
          <a:xfrm>
            <a:off x="8077199" y="2189390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Cookie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1DE11782-A359-2D5A-103E-BA61AC9997A4}"/>
              </a:ext>
            </a:extLst>
          </p:cNvPr>
          <p:cNvCxnSpPr>
            <a:stCxn id="5" idx="3"/>
            <a:endCxn id="14" idx="1"/>
          </p:cNvCxnSpPr>
          <p:nvPr/>
        </p:nvCxnSpPr>
        <p:spPr>
          <a:xfrm>
            <a:off x="6618512" y="2478031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45B555A0-2745-B513-08FD-CCDEF49FF496}"/>
              </a:ext>
            </a:extLst>
          </p:cNvPr>
          <p:cNvCxnSpPr>
            <a:stCxn id="6" idx="3"/>
            <a:endCxn id="14" idx="2"/>
          </p:cNvCxnSpPr>
          <p:nvPr/>
        </p:nvCxnSpPr>
        <p:spPr>
          <a:xfrm flipV="1">
            <a:off x="6618513" y="2907847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B334225-E1E6-0A62-4E79-1975397BECDC}"/>
              </a:ext>
            </a:extLst>
          </p:cNvPr>
          <p:cNvSpPr txBox="1"/>
          <p:nvPr/>
        </p:nvSpPr>
        <p:spPr>
          <a:xfrm>
            <a:off x="7478482" y="4332957"/>
            <a:ext cx="1959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Response Header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E03EBB-6D09-3173-EF98-AC92000AEA47}"/>
              </a:ext>
            </a:extLst>
          </p:cNvPr>
          <p:cNvSpPr txBox="1"/>
          <p:nvPr/>
        </p:nvSpPr>
        <p:spPr>
          <a:xfrm>
            <a:off x="8088083" y="1433054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Cookies are stored on the client-side</a:t>
            </a:r>
          </a:p>
        </p:txBody>
      </p:sp>
    </p:spTree>
    <p:extLst>
      <p:ext uri="{BB962C8B-B14F-4D97-AF65-F5344CB8AC3E}">
        <p14:creationId xmlns:p14="http://schemas.microsoft.com/office/powerpoint/2010/main" val="419418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E4E20-6891-DC39-BD77-5422A3D0A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2C4F1D-B57E-5088-3954-51790BD70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the Request Driven Login Solution</a:t>
            </a:r>
          </a:p>
          <a:p>
            <a:r>
              <a:rPr lang="en-US" dirty="0"/>
              <a:t>Setting a Cookie</a:t>
            </a:r>
          </a:p>
          <a:p>
            <a:r>
              <a:rPr lang="en-US" dirty="0"/>
              <a:t>Manipulating Cookies</a:t>
            </a:r>
          </a:p>
          <a:p>
            <a:r>
              <a:rPr lang="en-US" dirty="0"/>
              <a:t>Configuring Cookies</a:t>
            </a:r>
          </a:p>
        </p:txBody>
      </p:sp>
    </p:spTree>
    <p:extLst>
      <p:ext uri="{BB962C8B-B14F-4D97-AF65-F5344CB8AC3E}">
        <p14:creationId xmlns:p14="http://schemas.microsoft.com/office/powerpoint/2010/main" val="21991802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53857-B8E1-838C-545F-79B5063C9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93FDBC-122F-90B3-84FC-C70E316D012B}"/>
              </a:ext>
            </a:extLst>
          </p:cNvPr>
          <p:cNvSpPr/>
          <p:nvPr/>
        </p:nvSpPr>
        <p:spPr>
          <a:xfrm>
            <a:off x="3609248" y="1523494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1D1B07-E0DA-720C-253B-350FEE9217FC}"/>
              </a:ext>
            </a:extLst>
          </p:cNvPr>
          <p:cNvSpPr/>
          <p:nvPr/>
        </p:nvSpPr>
        <p:spPr>
          <a:xfrm>
            <a:off x="3609246" y="305446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FrontEnd</a:t>
            </a:r>
            <a:r>
              <a:rPr lang="en-US" b="1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497810-F5D5-9591-8CCE-F12C09527B6F}"/>
              </a:ext>
            </a:extLst>
          </p:cNvPr>
          <p:cNvSpPr/>
          <p:nvPr/>
        </p:nvSpPr>
        <p:spPr>
          <a:xfrm>
            <a:off x="3609247" y="491949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Server (Node App)</a:t>
            </a: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77CA0F5F-12F1-86E1-5D28-909F20943637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4351432" y="2648208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18741003-FA61-262C-7E71-3F2C6759B819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184403" y="4346209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7FA7DFB-8FF7-745C-4B67-19C929162854}"/>
              </a:ext>
            </a:extLst>
          </p:cNvPr>
          <p:cNvSpPr txBox="1"/>
          <p:nvPr/>
        </p:nvSpPr>
        <p:spPr>
          <a:xfrm>
            <a:off x="3054076" y="4364665"/>
            <a:ext cx="10547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Request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504FB-EE53-17EF-BD60-1F6B9CD500BF}"/>
              </a:ext>
            </a:extLst>
          </p:cNvPr>
          <p:cNvSpPr txBox="1"/>
          <p:nvPr/>
        </p:nvSpPr>
        <p:spPr>
          <a:xfrm>
            <a:off x="5451754" y="4289668"/>
            <a:ext cx="22968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Sessions are stored on the server-side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1B4AF5-2E29-BBBD-B25C-0BD85F914055}"/>
              </a:ext>
            </a:extLst>
          </p:cNvPr>
          <p:cNvSpPr/>
          <p:nvPr/>
        </p:nvSpPr>
        <p:spPr>
          <a:xfrm>
            <a:off x="7364818" y="3125055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Cookie</a:t>
            </a: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94A36F4-05CA-2DCC-15AF-9C4C94551F35}"/>
              </a:ext>
            </a:extLst>
          </p:cNvPr>
          <p:cNvCxnSpPr>
            <a:stCxn id="5" idx="3"/>
            <a:endCxn id="11" idx="1"/>
          </p:cNvCxnSpPr>
          <p:nvPr/>
        </p:nvCxnSpPr>
        <p:spPr>
          <a:xfrm>
            <a:off x="5906131" y="3413696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D2EB1F83-9306-A486-F837-E06EEE86DDF3}"/>
              </a:ext>
            </a:extLst>
          </p:cNvPr>
          <p:cNvCxnSpPr>
            <a:stCxn id="6" idx="3"/>
            <a:endCxn id="11" idx="2"/>
          </p:cNvCxnSpPr>
          <p:nvPr/>
        </p:nvCxnSpPr>
        <p:spPr>
          <a:xfrm flipV="1">
            <a:off x="5906132" y="3843512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53D1BF9-C608-7D7B-B3D5-1D1E58A2033F}"/>
              </a:ext>
            </a:extLst>
          </p:cNvPr>
          <p:cNvSpPr txBox="1"/>
          <p:nvPr/>
        </p:nvSpPr>
        <p:spPr>
          <a:xfrm>
            <a:off x="6766101" y="5268622"/>
            <a:ext cx="20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Response Header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672AB3-5C54-AC74-1313-ED510CC7E6FE}"/>
              </a:ext>
            </a:extLst>
          </p:cNvPr>
          <p:cNvSpPr txBox="1"/>
          <p:nvPr/>
        </p:nvSpPr>
        <p:spPr>
          <a:xfrm>
            <a:off x="7375702" y="2368719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Cookies are stored on the client-side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D904A3-FBD5-7452-86D5-B91789F41F36}"/>
              </a:ext>
            </a:extLst>
          </p:cNvPr>
          <p:cNvSpPr/>
          <p:nvPr/>
        </p:nvSpPr>
        <p:spPr>
          <a:xfrm>
            <a:off x="7521395" y="4677017"/>
            <a:ext cx="2636874" cy="6485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Session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EC9A4C-99A2-F314-0E54-2B77E3A5D0A1}"/>
              </a:ext>
            </a:extLst>
          </p:cNvPr>
          <p:cNvSpPr/>
          <p:nvPr/>
        </p:nvSpPr>
        <p:spPr>
          <a:xfrm>
            <a:off x="3609246" y="6262577"/>
            <a:ext cx="2132335" cy="4890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3B5B5B36-A25D-8267-684F-E5FE822822FC}"/>
              </a:ext>
            </a:extLst>
          </p:cNvPr>
          <p:cNvCxnSpPr>
            <a:stCxn id="6" idx="2"/>
            <a:endCxn id="17" idx="0"/>
          </p:cNvCxnSpPr>
          <p:nvPr/>
        </p:nvCxnSpPr>
        <p:spPr>
          <a:xfrm rot="5400000">
            <a:off x="4404241" y="5909127"/>
            <a:ext cx="624623" cy="8227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E7B2037E-3806-B655-9400-85BC6AEAF62E}"/>
              </a:ext>
            </a:extLst>
          </p:cNvPr>
          <p:cNvCxnSpPr>
            <a:stCxn id="16" idx="2"/>
            <a:endCxn id="17" idx="3"/>
          </p:cNvCxnSpPr>
          <p:nvPr/>
        </p:nvCxnSpPr>
        <p:spPr>
          <a:xfrm rot="5400000">
            <a:off x="6699946" y="4367239"/>
            <a:ext cx="1181523" cy="30982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14501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18299-4863-5EA1-F0EC-B306ED6C7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534DC-4177-35FC-D95B-DA3EE557B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Initializing the Session Middleware</a:t>
            </a:r>
          </a:p>
          <a:p>
            <a:r>
              <a:rPr lang="en-US" dirty="0"/>
              <a:t>Using MongoDB to store Sessions</a:t>
            </a:r>
          </a:p>
          <a:p>
            <a:r>
              <a:rPr lang="en-US" dirty="0"/>
              <a:t>Deleting a Cookie</a:t>
            </a:r>
          </a:p>
        </p:txBody>
      </p:sp>
    </p:spTree>
    <p:extLst>
      <p:ext uri="{BB962C8B-B14F-4D97-AF65-F5344CB8AC3E}">
        <p14:creationId xmlns:p14="http://schemas.microsoft.com/office/powerpoint/2010/main" val="17606752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EA8DC-794E-5304-7022-B34B7B556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037" y="255181"/>
            <a:ext cx="10949763" cy="592178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Cookies</a:t>
            </a:r>
          </a:p>
          <a:p>
            <a:r>
              <a:rPr lang="en-US" dirty="0"/>
              <a:t>Great for storing data on the client (browser)</a:t>
            </a:r>
          </a:p>
          <a:p>
            <a:r>
              <a:rPr lang="en-US" dirty="0"/>
              <a:t>Do NOT store sensitive data here! It can be </a:t>
            </a:r>
            <a:r>
              <a:rPr lang="en-US" dirty="0" err="1"/>
              <a:t>viewed+manipulated</a:t>
            </a:r>
            <a:endParaRPr lang="en-US" dirty="0"/>
          </a:p>
          <a:p>
            <a:r>
              <a:rPr lang="en-US" dirty="0"/>
              <a:t>Cookies can be configured to expire when the browser is closed or when a certain date is reached</a:t>
            </a:r>
          </a:p>
          <a:p>
            <a:r>
              <a:rPr lang="en-US" dirty="0"/>
              <a:t>Works well together with Sessions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Sessions</a:t>
            </a:r>
          </a:p>
          <a:p>
            <a:r>
              <a:rPr lang="en-US" dirty="0"/>
              <a:t>Stored on the server, NOT on the client</a:t>
            </a:r>
          </a:p>
          <a:p>
            <a:r>
              <a:rPr lang="en-US" dirty="0"/>
              <a:t>Great for storing sensitive data that should survive across requests</a:t>
            </a:r>
          </a:p>
          <a:p>
            <a:r>
              <a:rPr lang="en-US" dirty="0"/>
              <a:t>You can store ANYTHING in sessions</a:t>
            </a:r>
          </a:p>
          <a:p>
            <a:r>
              <a:rPr lang="en-US" dirty="0"/>
              <a:t>Often used for storing user data/ authentication status</a:t>
            </a:r>
          </a:p>
          <a:p>
            <a:r>
              <a:rPr lang="en-US" dirty="0"/>
              <a:t>Identified via Cokie </a:t>
            </a:r>
          </a:p>
          <a:p>
            <a:r>
              <a:rPr lang="en-US" dirty="0"/>
              <a:t>You can use different storages for saving your sessions on the server</a:t>
            </a:r>
          </a:p>
        </p:txBody>
      </p:sp>
    </p:spTree>
    <p:extLst>
      <p:ext uri="{BB962C8B-B14F-4D97-AF65-F5344CB8AC3E}">
        <p14:creationId xmlns:p14="http://schemas.microsoft.com/office/powerpoint/2010/main" val="177221854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407D1-A557-35FF-7698-00F907C2A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Authentication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829C2A-AC4C-1BD7-2263-4BC2AC1A9A0D}"/>
              </a:ext>
            </a:extLst>
          </p:cNvPr>
          <p:cNvSpPr/>
          <p:nvPr/>
        </p:nvSpPr>
        <p:spPr>
          <a:xfrm>
            <a:off x="4061637" y="1403498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131EFF-4404-325E-821D-2209C756E62A}"/>
              </a:ext>
            </a:extLst>
          </p:cNvPr>
          <p:cNvSpPr/>
          <p:nvPr/>
        </p:nvSpPr>
        <p:spPr>
          <a:xfrm>
            <a:off x="1205023" y="2934586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View all products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D964C2-02A4-6482-B3F3-17DDDB0D841C}"/>
              </a:ext>
            </a:extLst>
          </p:cNvPr>
          <p:cNvSpPr/>
          <p:nvPr/>
        </p:nvSpPr>
        <p:spPr>
          <a:xfrm>
            <a:off x="4867939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&amp; Manage Products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6C3D19-540C-7319-8700-769D9DDEFB66}"/>
              </a:ext>
            </a:extLst>
          </p:cNvPr>
          <p:cNvSpPr/>
          <p:nvPr/>
        </p:nvSpPr>
        <p:spPr>
          <a:xfrm>
            <a:off x="8530855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Place Orders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C39337-4E36-53C2-DA25-1132011AF8A3}"/>
              </a:ext>
            </a:extLst>
          </p:cNvPr>
          <p:cNvSpPr/>
          <p:nvPr/>
        </p:nvSpPr>
        <p:spPr>
          <a:xfrm>
            <a:off x="3863162" y="4508204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40539E-BA0A-99E3-A013-37F6243D1CDD}"/>
              </a:ext>
            </a:extLst>
          </p:cNvPr>
          <p:cNvSpPr/>
          <p:nvPr/>
        </p:nvSpPr>
        <p:spPr>
          <a:xfrm>
            <a:off x="3781646" y="5773367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77E5BC40-2C06-B5B9-EAED-F8F43B3ADEDE}"/>
              </a:ext>
            </a:extLst>
          </p:cNvPr>
          <p:cNvCxnSpPr>
            <a:stCxn id="3" idx="2"/>
            <a:endCxn id="4" idx="0"/>
          </p:cNvCxnSpPr>
          <p:nvPr/>
        </p:nvCxnSpPr>
        <p:spPr>
          <a:xfrm rot="5400000">
            <a:off x="3590261" y="1235149"/>
            <a:ext cx="542260" cy="28566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E5FBA3B2-E674-FE36-FF98-2F9A0BE4675D}"/>
              </a:ext>
            </a:extLst>
          </p:cNvPr>
          <p:cNvCxnSpPr>
            <a:stCxn id="3" idx="2"/>
            <a:endCxn id="5" idx="0"/>
          </p:cNvCxnSpPr>
          <p:nvPr/>
        </p:nvCxnSpPr>
        <p:spPr>
          <a:xfrm rot="16200000" flipH="1">
            <a:off x="5411087" y="2270937"/>
            <a:ext cx="563525" cy="80630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BB49207E-9F09-FC90-35E1-78257B9DDF53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16200000" flipH="1">
            <a:off x="7242545" y="439479"/>
            <a:ext cx="563525" cy="446921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A6DC3B6E-38D2-F923-600A-33F22C48FDA9}"/>
              </a:ext>
            </a:extLst>
          </p:cNvPr>
          <p:cNvSpPr/>
          <p:nvPr/>
        </p:nvSpPr>
        <p:spPr>
          <a:xfrm>
            <a:off x="4582633" y="2551814"/>
            <a:ext cx="6847367" cy="1818167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5D0D7B-FFFA-A89E-F51D-49FFB4BFC7FD}"/>
              </a:ext>
            </a:extLst>
          </p:cNvPr>
          <p:cNvSpPr txBox="1"/>
          <p:nvPr/>
        </p:nvSpPr>
        <p:spPr>
          <a:xfrm>
            <a:off x="1350335" y="4125433"/>
            <a:ext cx="1751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Open to anyone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EBCA3E-C9E5-F02E-8EE5-6D9734A0A934}"/>
              </a:ext>
            </a:extLst>
          </p:cNvPr>
          <p:cNvSpPr txBox="1"/>
          <p:nvPr/>
        </p:nvSpPr>
        <p:spPr>
          <a:xfrm>
            <a:off x="7021033" y="3972664"/>
            <a:ext cx="33974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available to logged-in users</a:t>
            </a:r>
          </a:p>
        </p:txBody>
      </p:sp>
    </p:spTree>
    <p:extLst>
      <p:ext uri="{BB962C8B-B14F-4D97-AF65-F5344CB8AC3E}">
        <p14:creationId xmlns:p14="http://schemas.microsoft.com/office/powerpoint/2010/main" val="35011834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96396-AFF1-B870-465F-6268D6EC0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FBD8F-2C5E-5D39-A133-C396E9C6D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an Authentication Flow</a:t>
            </a:r>
          </a:p>
          <a:p>
            <a:r>
              <a:rPr lang="en-US" dirty="0"/>
              <a:t>Working on Route Protection</a:t>
            </a:r>
          </a:p>
          <a:p>
            <a:r>
              <a:rPr lang="en-US" dirty="0"/>
              <a:t>Using Middleware to Protect routes</a:t>
            </a:r>
          </a:p>
          <a:p>
            <a:r>
              <a:rPr lang="en-US" dirty="0"/>
              <a:t>CSRF Attacks – Cross-Site Request Forgery</a:t>
            </a:r>
          </a:p>
          <a:p>
            <a:r>
              <a:rPr lang="en-US" dirty="0" err="1"/>
              <a:t>Airtel.com</a:t>
            </a:r>
            <a:r>
              <a:rPr lang="en-US" dirty="0"/>
              <a:t> </a:t>
            </a:r>
            <a:r>
              <a:rPr lang="en-US" dirty="0" err="1"/>
              <a:t>Aiitel.com</a:t>
            </a:r>
            <a:r>
              <a:rPr lang="en-US" dirty="0"/>
              <a:t> (</a:t>
            </a:r>
            <a:r>
              <a:rPr lang="en-US"/>
              <a:t>send money to C)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1609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25017</TotalTime>
  <Words>2501</Words>
  <Application>Microsoft Macintosh PowerPoint</Application>
  <PresentationFormat>Widescreen</PresentationFormat>
  <Paragraphs>510</Paragraphs>
  <Slides>58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2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Intro</vt:lpstr>
      <vt:lpstr>Course Outline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  <vt:lpstr>Module Summary</vt:lpstr>
      <vt:lpstr>Storing Data in Databases</vt:lpstr>
      <vt:lpstr>SQL vs NoSQL</vt:lpstr>
      <vt:lpstr>SQL</vt:lpstr>
      <vt:lpstr>Core SQL Database Characteristics</vt:lpstr>
      <vt:lpstr>SQL Queries</vt:lpstr>
      <vt:lpstr>NoSQL</vt:lpstr>
      <vt:lpstr>NoSQL Characteristics</vt:lpstr>
      <vt:lpstr>PowerPoint Presentation</vt:lpstr>
      <vt:lpstr>SQL vs NoSQL</vt:lpstr>
      <vt:lpstr>MySQL Download install</vt:lpstr>
      <vt:lpstr>Sequelize</vt:lpstr>
      <vt:lpstr>PowerPoint Presentation</vt:lpstr>
      <vt:lpstr>Module Summary</vt:lpstr>
      <vt:lpstr>NoSQL Databases / MongoDB</vt:lpstr>
      <vt:lpstr>PowerPoint Presentation</vt:lpstr>
      <vt:lpstr>JSON(BSON) Data Format</vt:lpstr>
      <vt:lpstr>PowerPoint Presentation</vt:lpstr>
      <vt:lpstr>Mongoose</vt:lpstr>
      <vt:lpstr>Session &amp; Cookies</vt:lpstr>
      <vt:lpstr>Cookie</vt:lpstr>
      <vt:lpstr>PowerPoint Presentation</vt:lpstr>
      <vt:lpstr>Session</vt:lpstr>
      <vt:lpstr>Session</vt:lpstr>
      <vt:lpstr>PowerPoint Presentation</vt:lpstr>
      <vt:lpstr>User Authentication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77</cp:revision>
  <dcterms:created xsi:type="dcterms:W3CDTF">2025-11-04T10:55:41Z</dcterms:created>
  <dcterms:modified xsi:type="dcterms:W3CDTF">2026-01-22T12:37:59Z</dcterms:modified>
</cp:coreProperties>
</file>