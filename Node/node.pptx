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9" r:id="rId24"/>
    <p:sldId id="280" r:id="rId25"/>
    <p:sldId id="278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399"/>
    <p:restoredTop sz="94667"/>
  </p:normalViewPr>
  <p:slideViewPr>
    <p:cSldViewPr snapToGrid="0">
      <p:cViewPr varScale="1">
        <p:scale>
          <a:sx n="138" d="100"/>
          <a:sy n="138" d="100"/>
        </p:scale>
        <p:origin x="184" y="3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E0DB51-6D75-C5F7-D6B6-006BBF4E3F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2CB29DC-307C-5C3F-60D5-1C91C88745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737A5B-4A6B-07ED-D1FE-2F726326EE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12/5/25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17F330-573D-5332-7BF5-124D95BA55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9FDEDA-94F9-0FE0-B698-222EF7F1A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46441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3BED47-5C07-22E0-DCC6-C86F8C501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1796D5-CF25-0AEF-2478-5DD094B1AC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812E6C-4CB6-8074-BE04-82253F1079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12/5/25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69FF9C-BB59-B5FC-4DBA-FA5D1319A0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C8BE49-3FC5-F872-FBC8-E09CF9A65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80145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2DB423-63FF-ACA6-B06A-5671F99570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98F72A-A31F-0415-B271-84B3570509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138BD8-92E7-9CB3-F4AA-F0D4CCEDB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12/5/25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049CA8-AD78-FCD5-C074-ED1278D407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B28AB8-F396-A944-B1C4-D9A9768AC9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4474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1BE9EE-3E85-20BF-E99D-7E5A5AA04C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A4EC2A-18DE-1791-4B46-945336B8CA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95894E0-1A90-E514-FDCE-E8A417A9C9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B6831FF-02D8-445A-9D56-7D54FACEE8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12/5/25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4242527-97B8-E9E7-DFF2-1826EE3F0F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B79502-76D8-4134-D77B-C36F7E2064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3032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B75023-3D20-5336-1598-AAEA582D97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8BCA03-E81D-5FDD-D3CA-ED65B4C3B8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E849C6-7A40-97A2-EC0A-7870F1C587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CF1C54B-7D6A-7063-60CB-18B969488E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E30B219-7582-6CAE-38B6-62E9F21CE6B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4EB537A-5B92-9340-A5F7-BED076F496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12/5/25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AE06E9D-0841-409A-B771-95982687AD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C0CBCE8-584F-60D3-0C4E-8F21F7FCC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75709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B8F43A-60B1-718E-739D-BAA566B8CC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76F8909-2199-167D-F1BF-D7898A77E3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12/5/25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DB9B7E-8664-B26A-A037-F0A6A1A8F6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45F09F-3451-26C3-A58F-798C679D4E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21982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1F34CE8-4E6A-B41C-A3F1-27233C2D48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12/5/25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038C1A3-95C3-B803-0452-E3607E69E6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9E1E8D-1E05-F486-7ACF-15A6F01BA6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2649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54940C-5A69-20CE-25E9-850C2C6238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98940B-5120-7A9F-0EC8-AE8305D635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877003-87CB-441F-1FC1-5C3B9E6E7F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881E9D2-2763-71B0-4C09-908F883E3C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12/5/25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14C269-D37A-4A29-672F-B37AB72863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5002C2-4A46-7002-B4DA-4F1D1DF8FF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37878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4CD0E3-47B2-BF48-8491-EA783E1AA2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D6161ED-21F5-AAB7-0ECD-ACB5341857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C56EBB-75DF-8BE9-D0CC-22B699D324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215579-7EC6-88D2-DA07-5C343A585C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12/5/25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2F33D4-5332-1F55-AF9D-09F8295037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BB9D46-AF90-21BB-4AF0-F72CA7F022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52658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4CBDAF-98E2-7BE8-70A7-6DF0EBAC14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CFA12EB-5CB7-7B8C-E6FF-A0F9A490CE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7AC768-F58B-8A6A-E410-CFA302BFBF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12/5/25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789D0E-E824-D51E-0B32-45B0976619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753844-6998-9EDD-13E5-B894C5923D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25075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862629B-11C3-D47E-1D6B-F2367B0D95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9E9D98C-D6A8-3DEC-1C4D-E421B8395E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42C2A7-2C4E-3EA1-0FE5-23124714B7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12/5/25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90ECF4-036C-1C3C-1CC9-3B31F6FDEE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C259A5-53DA-D969-B817-38992D5AC1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1109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5FC6E8F-92A5-76FF-EDFC-ED3B7AF1A9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C4BB33-83DC-2392-1C39-A5D4F10598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4544E4-7104-52CA-A3C5-2D8D6D02F1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0AC578A-F481-8B4F-AC68-5322D79242CE}" type="datetimeFigureOut">
              <a:rPr lang="en-US" smtClean="0"/>
              <a:t>12/5/25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9F24C0-0578-1843-125D-374665A5F2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183B94-674B-8A34-C4CC-370CEF7AD5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9518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mailto:mohan@gmail.com" TargetMode="External"/><Relationship Id="rId2" Type="http://schemas.openxmlformats.org/officeDocument/2006/relationships/hyperlink" Target="mailto:ram@gmail.com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mailto:sohan@gmail.com" TargetMode="Externa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86E4C9-58D6-3C0F-8B97-959AB5C467C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What is Node.js?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6824880-E4F4-226D-CBFC-11BCF24304F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Node.js is a JavaScript runtime environment</a:t>
            </a:r>
          </a:p>
          <a:p>
            <a:r>
              <a:rPr lang="en-US" dirty="0"/>
              <a:t>Framework for writing server-side JavaScript applications</a:t>
            </a:r>
          </a:p>
          <a:p>
            <a:r>
              <a:rPr lang="en-US" dirty="0"/>
              <a:t>Node js use JS as Programming Language</a:t>
            </a:r>
          </a:p>
        </p:txBody>
      </p:sp>
    </p:spTree>
    <p:extLst>
      <p:ext uri="{BB962C8B-B14F-4D97-AF65-F5344CB8AC3E}">
        <p14:creationId xmlns:p14="http://schemas.microsoft.com/office/powerpoint/2010/main" val="40870598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EF8DF1-7535-5AD6-A5FB-A02E79C586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Node.js History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3159FF-4F28-0909-C40B-29540C57F4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May,2009</a:t>
            </a:r>
          </a:p>
          <a:p>
            <a:r>
              <a:rPr lang="en-US" dirty="0"/>
              <a:t>Open source and used with NPM </a:t>
            </a:r>
          </a:p>
        </p:txBody>
      </p:sp>
    </p:spTree>
    <p:extLst>
      <p:ext uri="{BB962C8B-B14F-4D97-AF65-F5344CB8AC3E}">
        <p14:creationId xmlns:p14="http://schemas.microsoft.com/office/powerpoint/2010/main" val="34530286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16E75E-0F2B-86D3-440C-F279E7DDF0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Node.js Use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88AE4E-F3C7-A89D-6C0F-5544ADF417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Mostly used for Making API</a:t>
            </a:r>
          </a:p>
          <a:p>
            <a:r>
              <a:rPr lang="en-US" dirty="0"/>
              <a:t>Also use for website and web app</a:t>
            </a:r>
          </a:p>
          <a:p>
            <a:r>
              <a:rPr lang="en-US" dirty="0"/>
              <a:t>SSR(Server Side Scripting)</a:t>
            </a:r>
          </a:p>
          <a:p>
            <a:r>
              <a:rPr lang="en-US" dirty="0"/>
              <a:t>Make module and import file</a:t>
            </a:r>
          </a:p>
          <a:p>
            <a:r>
              <a:rPr lang="en-US" dirty="0"/>
              <a:t>Make first </a:t>
            </a:r>
            <a:r>
              <a:rPr lang="en-US" dirty="0" err="1"/>
              <a:t>api</a:t>
            </a:r>
            <a:r>
              <a:rPr lang="en-US" dirty="0"/>
              <a:t> with </a:t>
            </a:r>
            <a:r>
              <a:rPr lang="en-US"/>
              <a:t>http module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21869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A44CAD-753F-55C0-78DA-92A53605B3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0195"/>
          </a:xfrm>
        </p:spPr>
        <p:txBody>
          <a:bodyPr/>
          <a:lstStyle/>
          <a:p>
            <a:r>
              <a:rPr lang="en-US" dirty="0"/>
              <a:t>Course 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E81BA0-6B3D-6A22-9058-0FD5B0206E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65320"/>
            <a:ext cx="10515600" cy="5111643"/>
          </a:xfrm>
        </p:spPr>
        <p:txBody>
          <a:bodyPr numCol="2">
            <a:normAutofit fontScale="70000" lnSpcReduction="20000"/>
          </a:bodyPr>
          <a:lstStyle/>
          <a:p>
            <a:r>
              <a:rPr lang="en-US" dirty="0"/>
              <a:t>Getting Started</a:t>
            </a:r>
          </a:p>
          <a:p>
            <a:r>
              <a:rPr lang="en-US" dirty="0"/>
              <a:t>JS Refresher</a:t>
            </a:r>
          </a:p>
          <a:p>
            <a:r>
              <a:rPr lang="en-US" dirty="0"/>
              <a:t>Node.js Basics</a:t>
            </a:r>
          </a:p>
          <a:p>
            <a:r>
              <a:rPr lang="en-US" dirty="0"/>
              <a:t>Efficient development</a:t>
            </a:r>
          </a:p>
          <a:p>
            <a:r>
              <a:rPr lang="en-US" dirty="0"/>
              <a:t>Using Express.js</a:t>
            </a:r>
          </a:p>
          <a:p>
            <a:r>
              <a:rPr lang="en-US" dirty="0"/>
              <a:t>Templating Engines</a:t>
            </a:r>
          </a:p>
          <a:p>
            <a:r>
              <a:rPr lang="en-US" dirty="0"/>
              <a:t>Model-View-Controller</a:t>
            </a:r>
          </a:p>
          <a:p>
            <a:r>
              <a:rPr lang="en-US" dirty="0"/>
              <a:t>Advanced Routes &amp; Models</a:t>
            </a:r>
          </a:p>
          <a:p>
            <a:r>
              <a:rPr lang="en-US" dirty="0"/>
              <a:t>Node + SQL (MySQL)</a:t>
            </a:r>
          </a:p>
          <a:p>
            <a:r>
              <a:rPr lang="en-US" dirty="0"/>
              <a:t>Using Sequelize</a:t>
            </a:r>
          </a:p>
          <a:p>
            <a:r>
              <a:rPr lang="en-US" dirty="0"/>
              <a:t>Node + NoSQL (MongoDB)</a:t>
            </a:r>
          </a:p>
          <a:p>
            <a:r>
              <a:rPr lang="en-US" dirty="0"/>
              <a:t>Using Mongoose</a:t>
            </a:r>
          </a:p>
          <a:p>
            <a:r>
              <a:rPr lang="en-US" dirty="0"/>
              <a:t>Sessions &amp; Cookies</a:t>
            </a:r>
          </a:p>
          <a:p>
            <a:r>
              <a:rPr lang="en-US" dirty="0"/>
              <a:t>Authentication</a:t>
            </a:r>
          </a:p>
          <a:p>
            <a:r>
              <a:rPr lang="en-US" dirty="0"/>
              <a:t>Sending E-Mails</a:t>
            </a:r>
          </a:p>
          <a:p>
            <a:r>
              <a:rPr lang="en-US" dirty="0"/>
              <a:t>Authentication Deep Dive</a:t>
            </a:r>
          </a:p>
          <a:p>
            <a:r>
              <a:rPr lang="en-US" dirty="0"/>
              <a:t>User Input Validation</a:t>
            </a:r>
          </a:p>
          <a:p>
            <a:r>
              <a:rPr lang="en-US" dirty="0"/>
              <a:t>Error Handling</a:t>
            </a:r>
          </a:p>
          <a:p>
            <a:r>
              <a:rPr lang="en-US" dirty="0"/>
              <a:t>File Uploads &amp; Downloads</a:t>
            </a:r>
          </a:p>
          <a:p>
            <a:r>
              <a:rPr lang="en-US" dirty="0"/>
              <a:t>Pagination</a:t>
            </a:r>
          </a:p>
          <a:p>
            <a:r>
              <a:rPr lang="en-US" dirty="0"/>
              <a:t>Async Requests</a:t>
            </a:r>
          </a:p>
          <a:p>
            <a:r>
              <a:rPr lang="en-US" dirty="0"/>
              <a:t>Handling Payments</a:t>
            </a:r>
          </a:p>
          <a:p>
            <a:r>
              <a:rPr lang="en-US" dirty="0"/>
              <a:t>REST API Basics</a:t>
            </a:r>
          </a:p>
          <a:p>
            <a:r>
              <a:rPr lang="en-US" dirty="0"/>
              <a:t>Advanced REST API Features</a:t>
            </a:r>
          </a:p>
          <a:p>
            <a:r>
              <a:rPr lang="en-US" dirty="0"/>
              <a:t>Using async-await</a:t>
            </a:r>
          </a:p>
          <a:p>
            <a:r>
              <a:rPr lang="en-US" dirty="0"/>
              <a:t>Websockets &amp; Socket.io</a:t>
            </a:r>
          </a:p>
          <a:p>
            <a:r>
              <a:rPr lang="en-US" dirty="0" err="1"/>
              <a:t>GraphQL</a:t>
            </a:r>
            <a:endParaRPr lang="en-US" dirty="0"/>
          </a:p>
          <a:p>
            <a:r>
              <a:rPr lang="en-US" dirty="0"/>
              <a:t>Deployment</a:t>
            </a:r>
          </a:p>
          <a:p>
            <a:r>
              <a:rPr lang="en-US" dirty="0"/>
              <a:t>Beyond Web Servers</a:t>
            </a:r>
          </a:p>
        </p:txBody>
      </p:sp>
    </p:spTree>
    <p:extLst>
      <p:ext uri="{BB962C8B-B14F-4D97-AF65-F5344CB8AC3E}">
        <p14:creationId xmlns:p14="http://schemas.microsoft.com/office/powerpoint/2010/main" val="19185367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9DB4F8-20C3-716A-084A-C01BD91358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04490D-5503-F973-BD86-8195BDB589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does the web work?</a:t>
            </a:r>
          </a:p>
          <a:p>
            <a:r>
              <a:rPr lang="en-US" dirty="0"/>
              <a:t>Creating a Node.js Server</a:t>
            </a:r>
          </a:p>
          <a:p>
            <a:r>
              <a:rPr lang="en-US" dirty="0"/>
              <a:t>Using Node Core Modules</a:t>
            </a:r>
          </a:p>
          <a:p>
            <a:r>
              <a:rPr lang="en-US" dirty="0"/>
              <a:t>Working with Requests &amp; Responses (Basics)</a:t>
            </a:r>
          </a:p>
          <a:p>
            <a:r>
              <a:rPr lang="en-US" dirty="0"/>
              <a:t>Asynchronous Code &amp; The Event Loop</a:t>
            </a:r>
          </a:p>
        </p:txBody>
      </p:sp>
    </p:spTree>
    <p:extLst>
      <p:ext uri="{BB962C8B-B14F-4D97-AF65-F5344CB8AC3E}">
        <p14:creationId xmlns:p14="http://schemas.microsoft.com/office/powerpoint/2010/main" val="42591366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6B1D9-20D5-8FB8-641C-B11561F8E7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4674833" cy="584786"/>
          </a:xfrm>
        </p:spPr>
        <p:txBody>
          <a:bodyPr>
            <a:normAutofit fontScale="90000"/>
          </a:bodyPr>
          <a:lstStyle/>
          <a:p>
            <a:r>
              <a:rPr lang="en-US" dirty="0"/>
              <a:t>How the web works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D10844C-4279-6C7D-D70B-A9D17453ED62}"/>
              </a:ext>
            </a:extLst>
          </p:cNvPr>
          <p:cNvSpPr/>
          <p:nvPr/>
        </p:nvSpPr>
        <p:spPr>
          <a:xfrm>
            <a:off x="4900474" y="949912"/>
            <a:ext cx="2805343" cy="74572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User/Client</a:t>
            </a:r>
          </a:p>
          <a:p>
            <a:pPr algn="ctr"/>
            <a:r>
              <a:rPr lang="en-US" dirty="0"/>
              <a:t>(Browser)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4CB7241-273D-A8CC-540A-3C55B03F673E}"/>
              </a:ext>
            </a:extLst>
          </p:cNvPr>
          <p:cNvSpPr/>
          <p:nvPr/>
        </p:nvSpPr>
        <p:spPr>
          <a:xfrm>
            <a:off x="4371513" y="2093990"/>
            <a:ext cx="4181383" cy="5149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http://my-</a:t>
            </a:r>
            <a:r>
              <a:rPr lang="en-US" dirty="0" err="1"/>
              <a:t>page.com</a:t>
            </a:r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8B008D8-6A3B-4D1E-6251-E0DF9038FF7A}"/>
              </a:ext>
            </a:extLst>
          </p:cNvPr>
          <p:cNvCxnSpPr>
            <a:stCxn id="4" idx="2"/>
            <a:endCxn id="5" idx="0"/>
          </p:cNvCxnSpPr>
          <p:nvPr/>
        </p:nvCxnSpPr>
        <p:spPr>
          <a:xfrm>
            <a:off x="6303146" y="1695635"/>
            <a:ext cx="159059" cy="39835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B0099D72-66D9-5AE9-68B0-59C32C0EC6C7}"/>
              </a:ext>
            </a:extLst>
          </p:cNvPr>
          <p:cNvSpPr/>
          <p:nvPr/>
        </p:nvSpPr>
        <p:spPr>
          <a:xfrm>
            <a:off x="4371512" y="2900717"/>
            <a:ext cx="4181383" cy="5149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Domain Lookup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C8EE05F-D43B-392A-8298-FFFD2610E658}"/>
              </a:ext>
            </a:extLst>
          </p:cNvPr>
          <p:cNvSpPr/>
          <p:nvPr/>
        </p:nvSpPr>
        <p:spPr>
          <a:xfrm>
            <a:off x="378041" y="2894059"/>
            <a:ext cx="2267506" cy="5149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Request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F828F16-3A2F-43ED-7865-96E7BBF80752}"/>
              </a:ext>
            </a:extLst>
          </p:cNvPr>
          <p:cNvCxnSpPr>
            <a:stCxn id="8" idx="1"/>
            <a:endCxn id="9" idx="3"/>
          </p:cNvCxnSpPr>
          <p:nvPr/>
        </p:nvCxnSpPr>
        <p:spPr>
          <a:xfrm flipH="1" flipV="1">
            <a:off x="2645547" y="3151512"/>
            <a:ext cx="1725965" cy="66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Elbow Connector 14">
            <a:extLst>
              <a:ext uri="{FF2B5EF4-FFF2-40B4-BE49-F238E27FC236}">
                <a16:creationId xmlns:a16="http://schemas.microsoft.com/office/drawing/2014/main" id="{7E018B7F-1C72-12AA-DF2F-DF9609D4BE36}"/>
              </a:ext>
            </a:extLst>
          </p:cNvPr>
          <p:cNvCxnSpPr>
            <a:stCxn id="4" idx="1"/>
            <a:endCxn id="9" idx="0"/>
          </p:cNvCxnSpPr>
          <p:nvPr/>
        </p:nvCxnSpPr>
        <p:spPr>
          <a:xfrm rot="10800000" flipV="1">
            <a:off x="1511794" y="1322773"/>
            <a:ext cx="3388680" cy="157128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39A1A567-0373-0C4D-E92C-53F5D0E17A00}"/>
              </a:ext>
            </a:extLst>
          </p:cNvPr>
          <p:cNvSpPr/>
          <p:nvPr/>
        </p:nvSpPr>
        <p:spPr>
          <a:xfrm>
            <a:off x="4770451" y="4129534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Server</a:t>
            </a:r>
          </a:p>
          <a:p>
            <a:pPr algn="ctr"/>
            <a:r>
              <a:rPr lang="en-US" dirty="0"/>
              <a:t>(at 10.221.221.332.12)</a:t>
            </a:r>
          </a:p>
        </p:txBody>
      </p:sp>
      <p:cxnSp>
        <p:nvCxnSpPr>
          <p:cNvPr id="18" name="Elbow Connector 17">
            <a:extLst>
              <a:ext uri="{FF2B5EF4-FFF2-40B4-BE49-F238E27FC236}">
                <a16:creationId xmlns:a16="http://schemas.microsoft.com/office/drawing/2014/main" id="{AFAAE864-E3DA-44CE-5792-28D88E6514F6}"/>
              </a:ext>
            </a:extLst>
          </p:cNvPr>
          <p:cNvCxnSpPr>
            <a:stCxn id="9" idx="2"/>
            <a:endCxn id="16" idx="1"/>
          </p:cNvCxnSpPr>
          <p:nvPr/>
        </p:nvCxnSpPr>
        <p:spPr>
          <a:xfrm rot="16200000" flipH="1">
            <a:off x="2612516" y="2308241"/>
            <a:ext cx="1057213" cy="325865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Elbow Connector 19">
            <a:extLst>
              <a:ext uri="{FF2B5EF4-FFF2-40B4-BE49-F238E27FC236}">
                <a16:creationId xmlns:a16="http://schemas.microsoft.com/office/drawing/2014/main" id="{B1860B4B-91D4-949C-7B24-0E79BE38DA9F}"/>
              </a:ext>
            </a:extLst>
          </p:cNvPr>
          <p:cNvCxnSpPr>
            <a:stCxn id="16" idx="3"/>
            <a:endCxn id="4" idx="3"/>
          </p:cNvCxnSpPr>
          <p:nvPr/>
        </p:nvCxnSpPr>
        <p:spPr>
          <a:xfrm flipH="1" flipV="1">
            <a:off x="7705817" y="1322774"/>
            <a:ext cx="448137" cy="3143403"/>
          </a:xfrm>
          <a:prstGeom prst="bentConnector3">
            <a:avLst>
              <a:gd name="adj1" fmla="val -318448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5324E217-AE59-1933-D7E7-BE703608ECC8}"/>
              </a:ext>
            </a:extLst>
          </p:cNvPr>
          <p:cNvSpPr/>
          <p:nvPr/>
        </p:nvSpPr>
        <p:spPr>
          <a:xfrm>
            <a:off x="9232777" y="2608895"/>
            <a:ext cx="2179834" cy="8000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Response </a:t>
            </a:r>
            <a:br>
              <a:rPr lang="en-US" dirty="0"/>
            </a:br>
            <a:r>
              <a:rPr lang="en-US" dirty="0"/>
              <a:t>(e.g. Html page)</a:t>
            </a:r>
          </a:p>
        </p:txBody>
      </p:sp>
      <p:sp>
        <p:nvSpPr>
          <p:cNvPr id="23" name="Sort 22">
            <a:extLst>
              <a:ext uri="{FF2B5EF4-FFF2-40B4-BE49-F238E27FC236}">
                <a16:creationId xmlns:a16="http://schemas.microsoft.com/office/drawing/2014/main" id="{E0BC7A77-8DFB-77CC-E08C-F4C0A688BE68}"/>
              </a:ext>
            </a:extLst>
          </p:cNvPr>
          <p:cNvSpPr/>
          <p:nvPr/>
        </p:nvSpPr>
        <p:spPr>
          <a:xfrm>
            <a:off x="5973930" y="4802819"/>
            <a:ext cx="666567" cy="843379"/>
          </a:xfrm>
          <a:prstGeom prst="flowChartSor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3FE6662-4ABC-3BBE-3E5A-97F02CD5A08D}"/>
              </a:ext>
            </a:extLst>
          </p:cNvPr>
          <p:cNvSpPr/>
          <p:nvPr/>
        </p:nvSpPr>
        <p:spPr>
          <a:xfrm>
            <a:off x="4690923" y="5646198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&lt;Your Code&gt;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DB1FE68-A7FB-2E4B-2301-0759A8339BD5}"/>
              </a:ext>
            </a:extLst>
          </p:cNvPr>
          <p:cNvSpPr/>
          <p:nvPr/>
        </p:nvSpPr>
        <p:spPr>
          <a:xfrm>
            <a:off x="573164" y="5646198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Node.js, PHP, ASP.NET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185C7BA-6358-31EB-DB96-B3854376B939}"/>
              </a:ext>
            </a:extLst>
          </p:cNvPr>
          <p:cNvSpPr/>
          <p:nvPr/>
        </p:nvSpPr>
        <p:spPr>
          <a:xfrm>
            <a:off x="8657760" y="5646198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Database</a:t>
            </a:r>
          </a:p>
        </p:txBody>
      </p:sp>
    </p:spTree>
    <p:extLst>
      <p:ext uri="{BB962C8B-B14F-4D97-AF65-F5344CB8AC3E}">
        <p14:creationId xmlns:p14="http://schemas.microsoft.com/office/powerpoint/2010/main" val="12605322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1598C4-CB5E-F600-BB36-CA7C2DE080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HTTP,HTTPS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F701D4-6717-878A-E311-982543E393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Hyper Text Transfer Protocol – A Protocol for transferring data which is understood by Browser and Server</a:t>
            </a:r>
          </a:p>
          <a:p>
            <a:r>
              <a:rPr lang="en-US" dirty="0"/>
              <a:t>Hyper Text Transfer Protocol Secure – HTTP + Data Encryption (during Transmission)</a:t>
            </a:r>
          </a:p>
        </p:txBody>
      </p:sp>
    </p:spTree>
    <p:extLst>
      <p:ext uri="{BB962C8B-B14F-4D97-AF65-F5344CB8AC3E}">
        <p14:creationId xmlns:p14="http://schemas.microsoft.com/office/powerpoint/2010/main" val="36541581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13846D-93E5-D855-133F-4CD796B950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Core Modules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05FB9A-D2D9-38FB-0235-1F274948CA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http – Launch a server, send requests</a:t>
            </a:r>
          </a:p>
          <a:p>
            <a:r>
              <a:rPr lang="en-US" dirty="0"/>
              <a:t>https – launch a SSL server</a:t>
            </a:r>
          </a:p>
          <a:p>
            <a:r>
              <a:rPr lang="en-US" dirty="0"/>
              <a:t>Fs</a:t>
            </a:r>
          </a:p>
          <a:p>
            <a:r>
              <a:rPr lang="en-US" dirty="0"/>
              <a:t>Path</a:t>
            </a:r>
          </a:p>
          <a:p>
            <a:r>
              <a:rPr lang="en-US" dirty="0" err="1"/>
              <a:t>Os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73831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0ADCA4-F947-9900-4D01-CBF214AC3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 Node Server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E996D43-2932-9CFC-9663-84C903CF987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8045" t="23638" r="3131" b="30673"/>
          <a:stretch>
            <a:fillRect/>
          </a:stretch>
        </p:blipFill>
        <p:spPr>
          <a:xfrm>
            <a:off x="1207363" y="1420426"/>
            <a:ext cx="9206144" cy="446900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6FF67DC-4035-09BB-9841-9D8F3857981C}"/>
              </a:ext>
            </a:extLst>
          </p:cNvPr>
          <p:cNvSpPr txBox="1"/>
          <p:nvPr/>
        </p:nvSpPr>
        <p:spPr>
          <a:xfrm>
            <a:off x="1544715" y="3116062"/>
            <a:ext cx="1979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Node </a:t>
            </a:r>
            <a:r>
              <a:rPr lang="en-US" dirty="0" err="1"/>
              <a:t>app.js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8BF4FF-77FB-F5C9-E288-B0D6B0BE2C34}"/>
              </a:ext>
            </a:extLst>
          </p:cNvPr>
          <p:cNvSpPr txBox="1"/>
          <p:nvPr/>
        </p:nvSpPr>
        <p:spPr>
          <a:xfrm>
            <a:off x="7511988" y="2561323"/>
            <a:ext cx="1979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Start Script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B5F7B61-59A5-3DAE-BC15-EDF46F8B69B8}"/>
              </a:ext>
            </a:extLst>
          </p:cNvPr>
          <p:cNvSpPr txBox="1"/>
          <p:nvPr/>
        </p:nvSpPr>
        <p:spPr>
          <a:xfrm>
            <a:off x="7511988" y="3605393"/>
            <a:ext cx="249314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Parse Code, Register Variables &amp; Functions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10741D4-6962-0C68-CBCD-D6957D75BD4B}"/>
              </a:ext>
            </a:extLst>
          </p:cNvPr>
          <p:cNvSpPr txBox="1"/>
          <p:nvPr/>
        </p:nvSpPr>
        <p:spPr>
          <a:xfrm>
            <a:off x="4725879" y="5437574"/>
            <a:ext cx="24931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Event Loop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0ED174-964A-B8A4-E28D-954EE8EC0242}"/>
              </a:ext>
            </a:extLst>
          </p:cNvPr>
          <p:cNvSpPr txBox="1"/>
          <p:nvPr/>
        </p:nvSpPr>
        <p:spPr>
          <a:xfrm>
            <a:off x="2277862" y="4675528"/>
            <a:ext cx="24931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Node Application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58D258F-72EC-8861-2E49-28664506816A}"/>
              </a:ext>
            </a:extLst>
          </p:cNvPr>
          <p:cNvSpPr txBox="1"/>
          <p:nvPr/>
        </p:nvSpPr>
        <p:spPr>
          <a:xfrm>
            <a:off x="10005134" y="4966100"/>
            <a:ext cx="208477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Keeps on running as long as there are event listeners registered</a:t>
            </a:r>
          </a:p>
        </p:txBody>
      </p:sp>
    </p:spTree>
    <p:extLst>
      <p:ext uri="{BB962C8B-B14F-4D97-AF65-F5344CB8AC3E}">
        <p14:creationId xmlns:p14="http://schemas.microsoft.com/office/powerpoint/2010/main" val="2129583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ADFC4-3EF2-F768-75A7-E5D366CB9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Node.js Program Lifecycle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FDE1CD-56F7-37DB-F261-DD48FA85B3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Node </a:t>
            </a:r>
            <a:r>
              <a:rPr lang="en-US" dirty="0" err="1"/>
              <a:t>app.js</a:t>
            </a:r>
            <a:r>
              <a:rPr lang="en-US" dirty="0"/>
              <a:t> -&gt; Start Script -&gt; Parse code, register variables &amp; functions-&gt;Event Loop-&gt;</a:t>
            </a:r>
            <a:r>
              <a:rPr lang="en-US" dirty="0" err="1"/>
              <a:t>process.exit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63790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DDF9A9-76EE-6EDB-E699-6A5F4E1DAE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B21ABD-10CE-20EC-F3EF-07CD005BD6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Understanding Request</a:t>
            </a:r>
          </a:p>
        </p:txBody>
      </p:sp>
    </p:spTree>
    <p:extLst>
      <p:ext uri="{BB962C8B-B14F-4D97-AF65-F5344CB8AC3E}">
        <p14:creationId xmlns:p14="http://schemas.microsoft.com/office/powerpoint/2010/main" val="21675733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00FCE3-F02E-76A7-C55B-1A852F347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Routing request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076803-6B7F-21B6-1558-B3A02FD880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Parsing request bodies</a:t>
            </a:r>
          </a:p>
          <a:p>
            <a:r>
              <a:rPr lang="en-US" dirty="0"/>
              <a:t>Blocking and no—blocking code</a:t>
            </a:r>
          </a:p>
        </p:txBody>
      </p:sp>
    </p:spTree>
    <p:extLst>
      <p:ext uri="{BB962C8B-B14F-4D97-AF65-F5344CB8AC3E}">
        <p14:creationId xmlns:p14="http://schemas.microsoft.com/office/powerpoint/2010/main" val="38330730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D48713-D01D-7EE5-891C-FDDF4C324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AD9F1D4-32BD-83D0-731D-28E1A4E04F9D}"/>
              </a:ext>
            </a:extLst>
          </p:cNvPr>
          <p:cNvSpPr/>
          <p:nvPr/>
        </p:nvSpPr>
        <p:spPr>
          <a:xfrm>
            <a:off x="5912528" y="1438183"/>
            <a:ext cx="3577701" cy="17489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/>
              <a:t>Buffer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688DDF-A8F7-F945-3CE5-E758D30F70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6086383" cy="975403"/>
          </a:xfrm>
        </p:spPr>
        <p:txBody>
          <a:bodyPr/>
          <a:lstStyle/>
          <a:p>
            <a:r>
              <a:rPr lang="en-US" dirty="0"/>
              <a:t>Parsing request bodies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BA3C94-C3A5-9F49-16D4-B7CA753684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55241" y="450156"/>
            <a:ext cx="3050219" cy="402670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Streams &amp; Buffers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AFAE223-05ED-A55E-1FF8-AF1DC7A1BEB2}"/>
              </a:ext>
            </a:extLst>
          </p:cNvPr>
          <p:cNvSpPr/>
          <p:nvPr/>
        </p:nvSpPr>
        <p:spPr>
          <a:xfrm>
            <a:off x="683581" y="1695635"/>
            <a:ext cx="1482570" cy="9676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Stream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6E3692C-D26F-3495-A82F-4ED84DA43B0D}"/>
              </a:ext>
            </a:extLst>
          </p:cNvPr>
          <p:cNvSpPr/>
          <p:nvPr/>
        </p:nvSpPr>
        <p:spPr>
          <a:xfrm>
            <a:off x="10022890" y="1695635"/>
            <a:ext cx="1482570" cy="9676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Fully Parsed</a:t>
            </a:r>
          </a:p>
        </p:txBody>
      </p:sp>
      <p:sp>
        <p:nvSpPr>
          <p:cNvPr id="6" name="Right Arrow 5">
            <a:extLst>
              <a:ext uri="{FF2B5EF4-FFF2-40B4-BE49-F238E27FC236}">
                <a16:creationId xmlns:a16="http://schemas.microsoft.com/office/drawing/2014/main" id="{C8EB6D3F-7A6C-1038-9B82-4CE67BA3C88F}"/>
              </a:ext>
            </a:extLst>
          </p:cNvPr>
          <p:cNvSpPr/>
          <p:nvPr/>
        </p:nvSpPr>
        <p:spPr>
          <a:xfrm>
            <a:off x="2268245" y="1886505"/>
            <a:ext cx="7652551" cy="585926"/>
          </a:xfrm>
          <a:prstGeom prst="rightArrow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endParaRPr lang="en-US" b="1">
              <a:ln/>
              <a:solidFill>
                <a:schemeClr val="accent4"/>
              </a:solidFill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B854057F-E2CC-FE24-2C1F-81C8594385E3}"/>
              </a:ext>
            </a:extLst>
          </p:cNvPr>
          <p:cNvSpPr/>
          <p:nvPr/>
        </p:nvSpPr>
        <p:spPr>
          <a:xfrm>
            <a:off x="2716567" y="1793289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1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FA95405A-5C96-4992-611A-ACE1D5DBC9B5}"/>
              </a:ext>
            </a:extLst>
          </p:cNvPr>
          <p:cNvSpPr/>
          <p:nvPr/>
        </p:nvSpPr>
        <p:spPr>
          <a:xfrm>
            <a:off x="4377431" y="1793289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2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D034CFE3-3FCD-357D-2089-62749496DB78}"/>
              </a:ext>
            </a:extLst>
          </p:cNvPr>
          <p:cNvSpPr/>
          <p:nvPr/>
        </p:nvSpPr>
        <p:spPr>
          <a:xfrm>
            <a:off x="6094520" y="1744462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3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BE5EAFAC-E4CF-1A9E-A717-80E3A01E600C}"/>
              </a:ext>
            </a:extLst>
          </p:cNvPr>
          <p:cNvSpPr/>
          <p:nvPr/>
        </p:nvSpPr>
        <p:spPr>
          <a:xfrm>
            <a:off x="7955874" y="1793289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4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6692651-76BE-190B-3858-5ED4E33D1371}"/>
              </a:ext>
            </a:extLst>
          </p:cNvPr>
          <p:cNvSpPr/>
          <p:nvPr/>
        </p:nvSpPr>
        <p:spPr>
          <a:xfrm>
            <a:off x="3266983" y="3187083"/>
            <a:ext cx="1794028" cy="6303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9410072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2D757D-67D6-B70B-3B15-B21F0A03CD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Single Thread, Event Loop &amp; Blocking Code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FC59DA7-DA17-5766-151E-8429764AA70E}"/>
              </a:ext>
            </a:extLst>
          </p:cNvPr>
          <p:cNvSpPr/>
          <p:nvPr/>
        </p:nvSpPr>
        <p:spPr>
          <a:xfrm>
            <a:off x="838200" y="1690688"/>
            <a:ext cx="4275338" cy="55536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Incoming Requests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D91CCE-7753-6431-92D2-349592DB0FA8}"/>
              </a:ext>
            </a:extLst>
          </p:cNvPr>
          <p:cNvSpPr/>
          <p:nvPr/>
        </p:nvSpPr>
        <p:spPr>
          <a:xfrm>
            <a:off x="838200" y="3849442"/>
            <a:ext cx="4275338" cy="3141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B2D18E0-7F63-6D3F-1176-E08326AEAD84}"/>
              </a:ext>
            </a:extLst>
          </p:cNvPr>
          <p:cNvSpPr/>
          <p:nvPr/>
        </p:nvSpPr>
        <p:spPr>
          <a:xfrm>
            <a:off x="838200" y="4454858"/>
            <a:ext cx="2109186" cy="21234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&lt;Your Code&gt;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760B2B9-E2DE-F305-EF72-7481A19BF406}"/>
              </a:ext>
            </a:extLst>
          </p:cNvPr>
          <p:cNvSpPr/>
          <p:nvPr/>
        </p:nvSpPr>
        <p:spPr>
          <a:xfrm>
            <a:off x="3004352" y="4454857"/>
            <a:ext cx="2109186" cy="21234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Single JavaScript Thread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8C86AAD-D8A8-50EE-EC4E-D5B0C34B6097}"/>
              </a:ext>
            </a:extLst>
          </p:cNvPr>
          <p:cNvSpPr/>
          <p:nvPr/>
        </p:nvSpPr>
        <p:spPr>
          <a:xfrm>
            <a:off x="7078462" y="2367252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Event loop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AC9C340-E1D1-6922-93BD-4ED9F4B2EC3E}"/>
              </a:ext>
            </a:extLst>
          </p:cNvPr>
          <p:cNvSpPr/>
          <p:nvPr/>
        </p:nvSpPr>
        <p:spPr>
          <a:xfrm>
            <a:off x="7078462" y="3170004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Handle Event Callbacks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D227362-E694-5DD2-80D9-8E03EA5ABFE9}"/>
              </a:ext>
            </a:extLst>
          </p:cNvPr>
          <p:cNvSpPr/>
          <p:nvPr/>
        </p:nvSpPr>
        <p:spPr>
          <a:xfrm>
            <a:off x="7078462" y="4911507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 Pool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EB7941C-2193-F097-B05C-752757CF452C}"/>
              </a:ext>
            </a:extLst>
          </p:cNvPr>
          <p:cNvSpPr/>
          <p:nvPr/>
        </p:nvSpPr>
        <p:spPr>
          <a:xfrm>
            <a:off x="7078462" y="5685344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Do the Heavy Lifting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858D3E9-58D3-823B-61E1-1AF5E4FCBFEE}"/>
              </a:ext>
            </a:extLst>
          </p:cNvPr>
          <p:cNvSpPr/>
          <p:nvPr/>
        </p:nvSpPr>
        <p:spPr>
          <a:xfrm>
            <a:off x="10599937" y="4911507"/>
            <a:ext cx="1163713" cy="7738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Different Thread(s)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C154EE1-8FB7-C688-4311-FF15058DFEDA}"/>
              </a:ext>
            </a:extLst>
          </p:cNvPr>
          <p:cNvSpPr/>
          <p:nvPr/>
        </p:nvSpPr>
        <p:spPr>
          <a:xfrm>
            <a:off x="5580355" y="4655661"/>
            <a:ext cx="1148919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fs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034CDBB-1672-1C0B-0B8D-A0A21F68034B}"/>
              </a:ext>
            </a:extLst>
          </p:cNvPr>
          <p:cNvCxnSpPr>
            <a:stCxn id="4" idx="2"/>
            <a:endCxn id="5" idx="0"/>
          </p:cNvCxnSpPr>
          <p:nvPr/>
        </p:nvCxnSpPr>
        <p:spPr>
          <a:xfrm>
            <a:off x="2975869" y="2246050"/>
            <a:ext cx="0" cy="16033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E62BDFE-858B-A3F1-08B1-F3E45B67EADB}"/>
              </a:ext>
            </a:extLst>
          </p:cNvPr>
          <p:cNvCxnSpPr>
            <a:endCxn id="5" idx="0"/>
          </p:cNvCxnSpPr>
          <p:nvPr/>
        </p:nvCxnSpPr>
        <p:spPr>
          <a:xfrm>
            <a:off x="1562470" y="2246050"/>
            <a:ext cx="1413399" cy="16033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F6D90AA-F92E-395C-277E-BA9749188E79}"/>
              </a:ext>
            </a:extLst>
          </p:cNvPr>
          <p:cNvCxnSpPr>
            <a:endCxn id="5" idx="0"/>
          </p:cNvCxnSpPr>
          <p:nvPr/>
        </p:nvCxnSpPr>
        <p:spPr>
          <a:xfrm flipH="1">
            <a:off x="2975869" y="2246050"/>
            <a:ext cx="1329801" cy="16033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20">
            <a:extLst>
              <a:ext uri="{FF2B5EF4-FFF2-40B4-BE49-F238E27FC236}">
                <a16:creationId xmlns:a16="http://schemas.microsoft.com/office/drawing/2014/main" id="{1A92C5F3-C3A9-952F-FC56-F79B8272F86C}"/>
              </a:ext>
            </a:extLst>
          </p:cNvPr>
          <p:cNvCxnSpPr>
            <a:stCxn id="7" idx="3"/>
            <a:endCxn id="13" idx="2"/>
          </p:cNvCxnSpPr>
          <p:nvPr/>
        </p:nvCxnSpPr>
        <p:spPr>
          <a:xfrm flipV="1">
            <a:off x="5113538" y="5173652"/>
            <a:ext cx="1041277" cy="34295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Elbow Connector 22">
            <a:extLst>
              <a:ext uri="{FF2B5EF4-FFF2-40B4-BE49-F238E27FC236}">
                <a16:creationId xmlns:a16="http://schemas.microsoft.com/office/drawing/2014/main" id="{B40B77F7-C3DE-7BF8-9095-E9DDC20A09EC}"/>
              </a:ext>
            </a:extLst>
          </p:cNvPr>
          <p:cNvCxnSpPr>
            <a:stCxn id="7" idx="3"/>
            <a:endCxn id="8" idx="1"/>
          </p:cNvCxnSpPr>
          <p:nvPr/>
        </p:nvCxnSpPr>
        <p:spPr>
          <a:xfrm flipV="1">
            <a:off x="5113538" y="2626248"/>
            <a:ext cx="1964924" cy="2890357"/>
          </a:xfrm>
          <a:prstGeom prst="bentConnector3">
            <a:avLst>
              <a:gd name="adj1" fmla="val 14759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Elbow Connector 25">
            <a:extLst>
              <a:ext uri="{FF2B5EF4-FFF2-40B4-BE49-F238E27FC236}">
                <a16:creationId xmlns:a16="http://schemas.microsoft.com/office/drawing/2014/main" id="{13651446-6929-75D4-EB8D-45C6BF13A3C7}"/>
              </a:ext>
            </a:extLst>
          </p:cNvPr>
          <p:cNvCxnSpPr>
            <a:stCxn id="13" idx="3"/>
            <a:endCxn id="10" idx="1"/>
          </p:cNvCxnSpPr>
          <p:nvPr/>
        </p:nvCxnSpPr>
        <p:spPr>
          <a:xfrm>
            <a:off x="6729274" y="4914657"/>
            <a:ext cx="349188" cy="255846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Elbow Connector 27">
            <a:extLst>
              <a:ext uri="{FF2B5EF4-FFF2-40B4-BE49-F238E27FC236}">
                <a16:creationId xmlns:a16="http://schemas.microsoft.com/office/drawing/2014/main" id="{38EF2DF4-1C18-0B0F-5EBD-C1F85CCD3E8B}"/>
              </a:ext>
            </a:extLst>
          </p:cNvPr>
          <p:cNvCxnSpPr>
            <a:stCxn id="10" idx="0"/>
            <a:endCxn id="8" idx="3"/>
          </p:cNvCxnSpPr>
          <p:nvPr/>
        </p:nvCxnSpPr>
        <p:spPr>
          <a:xfrm rot="5400000" flipH="1" flipV="1">
            <a:off x="7517722" y="3241582"/>
            <a:ext cx="2285259" cy="1054593"/>
          </a:xfrm>
          <a:prstGeom prst="bentConnector4">
            <a:avLst>
              <a:gd name="adj1" fmla="val 27240"/>
              <a:gd name="adj2" fmla="val 205016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ight Arrow 30">
            <a:extLst>
              <a:ext uri="{FF2B5EF4-FFF2-40B4-BE49-F238E27FC236}">
                <a16:creationId xmlns:a16="http://schemas.microsoft.com/office/drawing/2014/main" id="{B068FF12-E9A3-0600-1CF5-14ECA26A0197}"/>
              </a:ext>
            </a:extLst>
          </p:cNvPr>
          <p:cNvSpPr/>
          <p:nvPr/>
        </p:nvSpPr>
        <p:spPr>
          <a:xfrm>
            <a:off x="9294920" y="5246703"/>
            <a:ext cx="976544" cy="26990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74174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3B959E-3602-7F11-A738-CE9B19518B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77749"/>
          </a:xfrm>
        </p:spPr>
        <p:txBody>
          <a:bodyPr/>
          <a:lstStyle/>
          <a:p>
            <a:r>
              <a:rPr lang="en-US" dirty="0"/>
              <a:t>The Event Loop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C295A7-F6C3-858D-D839-779F50D84668}"/>
              </a:ext>
            </a:extLst>
          </p:cNvPr>
          <p:cNvSpPr txBox="1"/>
          <p:nvPr/>
        </p:nvSpPr>
        <p:spPr>
          <a:xfrm>
            <a:off x="1953087" y="1660124"/>
            <a:ext cx="7421775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Phases</a:t>
            </a:r>
          </a:p>
          <a:p>
            <a:pPr marL="342900" indent="-342900">
              <a:buAutoNum type="arabicPeriod"/>
            </a:pPr>
            <a:r>
              <a:rPr lang="en-US" dirty="0"/>
              <a:t>Timers Phase : callbacks execute – </a:t>
            </a:r>
            <a:r>
              <a:rPr lang="en-US" dirty="0" err="1"/>
              <a:t>setTimeout</a:t>
            </a:r>
            <a:r>
              <a:rPr lang="en-US" dirty="0"/>
              <a:t>(), </a:t>
            </a:r>
            <a:r>
              <a:rPr lang="en-US" dirty="0" err="1"/>
              <a:t>setinterval</a:t>
            </a:r>
            <a:r>
              <a:rPr lang="en-US" dirty="0"/>
              <a:t>()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Pending Callbacks Phase: I/O callbacks (pending callbacks)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Poll Phase: new I/O events, callback ready(execute),timer phase(wait)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Check Phase: </a:t>
            </a:r>
            <a:r>
              <a:rPr lang="en-US" dirty="0" err="1"/>
              <a:t>setImmediate</a:t>
            </a:r>
            <a:r>
              <a:rPr lang="en-US" dirty="0"/>
              <a:t>() callbacks execute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Close Callbacks Phase: close event callbacks</a:t>
            </a:r>
            <a:r>
              <a:rPr lang="en-US"/>
              <a:t>(execute)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03218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743A05-2B49-C7D3-1593-BF5E56BA8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61639"/>
            <a:ext cx="10515600" cy="5715324"/>
          </a:xfrm>
        </p:spPr>
        <p:txBody>
          <a:bodyPr/>
          <a:lstStyle/>
          <a:p>
            <a:r>
              <a:rPr lang="en-US" dirty="0"/>
              <a:t>Node modules system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26042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1AC442-1C90-70F4-24A8-4FF8CDAF7A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9A9F6E-57AC-54F5-45EF-7740CA0A36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US" dirty="0"/>
              <a:t>How the Web Works </a:t>
            </a:r>
          </a:p>
          <a:p>
            <a:pPr lvl="1"/>
            <a:r>
              <a:rPr lang="en-US" dirty="0"/>
              <a:t>Client =&gt; Request =&gt; Server =&gt; Response =&gt;Client</a:t>
            </a:r>
          </a:p>
          <a:p>
            <a:r>
              <a:rPr lang="en-US" dirty="0"/>
              <a:t>Program Lifecycle &amp; Event Loop</a:t>
            </a:r>
          </a:p>
          <a:p>
            <a:pPr lvl="1"/>
            <a:r>
              <a:rPr lang="en-US" dirty="0"/>
              <a:t>Node.js runs non-blocking JS code and uses an event-</a:t>
            </a:r>
            <a:r>
              <a:rPr lang="en-US" dirty="0" err="1"/>
              <a:t>dirven</a:t>
            </a:r>
            <a:r>
              <a:rPr lang="en-US" dirty="0"/>
              <a:t> code (“Event Loop) for running your logic</a:t>
            </a:r>
          </a:p>
          <a:p>
            <a:pPr lvl="1"/>
            <a:r>
              <a:rPr lang="en-US" dirty="0"/>
              <a:t>A Node program exits as soon as there is no more work to do</a:t>
            </a:r>
          </a:p>
          <a:p>
            <a:pPr lvl="1"/>
            <a:r>
              <a:rPr lang="en-US" dirty="0"/>
              <a:t>The </a:t>
            </a:r>
            <a:r>
              <a:rPr lang="en-US" dirty="0" err="1"/>
              <a:t>createServer</a:t>
            </a:r>
            <a:r>
              <a:rPr lang="en-US" dirty="0"/>
              <a:t>() event never finishes by default</a:t>
            </a:r>
          </a:p>
          <a:p>
            <a:r>
              <a:rPr lang="en-US" dirty="0"/>
              <a:t>Node.js &amp; Core Modules</a:t>
            </a:r>
          </a:p>
          <a:p>
            <a:pPr lvl="1"/>
            <a:r>
              <a:rPr lang="en-US" dirty="0"/>
              <a:t>Node.js ships with multiple core modules (</a:t>
            </a:r>
            <a:r>
              <a:rPr lang="en-US" dirty="0" err="1"/>
              <a:t>http,fs</a:t>
            </a:r>
            <a:r>
              <a:rPr lang="en-US" dirty="0"/>
              <a:t>…)</a:t>
            </a:r>
          </a:p>
          <a:p>
            <a:pPr lvl="1"/>
            <a:r>
              <a:rPr lang="en-US" dirty="0"/>
              <a:t>Core modules can be imported into any file to be used there</a:t>
            </a:r>
          </a:p>
          <a:p>
            <a:pPr lvl="1"/>
            <a:r>
              <a:rPr lang="en-US" dirty="0"/>
              <a:t>Import via require(“module name”)</a:t>
            </a:r>
          </a:p>
          <a:p>
            <a:r>
              <a:rPr lang="en-US" dirty="0"/>
              <a:t>Asynchronous Code</a:t>
            </a:r>
          </a:p>
          <a:p>
            <a:pPr lvl="1"/>
            <a:r>
              <a:rPr lang="en-US" dirty="0"/>
              <a:t>JS code is non-blocking</a:t>
            </a:r>
          </a:p>
          <a:p>
            <a:pPr lvl="1"/>
            <a:r>
              <a:rPr lang="en-US" dirty="0"/>
              <a:t>Use callbacks and events =&gt; order changes!</a:t>
            </a:r>
          </a:p>
          <a:p>
            <a:r>
              <a:rPr lang="en-US" dirty="0"/>
              <a:t>Requests &amp; Responses</a:t>
            </a:r>
          </a:p>
          <a:p>
            <a:pPr lvl="1"/>
            <a:r>
              <a:rPr lang="en-US" dirty="0"/>
              <a:t>Parse request data in chunks (Streams &amp; Buffers)</a:t>
            </a:r>
          </a:p>
          <a:p>
            <a:pPr lvl="1"/>
            <a:r>
              <a:rPr lang="en-US" dirty="0"/>
              <a:t>Avoid “double responses”</a:t>
            </a:r>
          </a:p>
          <a:p>
            <a:r>
              <a:rPr lang="en-US" dirty="0"/>
              <a:t>The Node Module System</a:t>
            </a:r>
          </a:p>
          <a:p>
            <a:pPr lvl="1"/>
            <a:r>
              <a:rPr lang="en-US" dirty="0"/>
              <a:t>Import via require(‘path-to-file”)or require(”module”) for core &amp; third-party modules </a:t>
            </a:r>
          </a:p>
          <a:p>
            <a:pPr lvl="1"/>
            <a:r>
              <a:rPr lang="en-US" dirty="0"/>
              <a:t>Export via </a:t>
            </a:r>
            <a:r>
              <a:rPr lang="en-US" dirty="0" err="1"/>
              <a:t>module.exports</a:t>
            </a:r>
            <a:r>
              <a:rPr lang="en-US" dirty="0"/>
              <a:t> or just exports (for multiple exports)</a:t>
            </a:r>
          </a:p>
        </p:txBody>
      </p:sp>
    </p:spTree>
    <p:extLst>
      <p:ext uri="{BB962C8B-B14F-4D97-AF65-F5344CB8AC3E}">
        <p14:creationId xmlns:p14="http://schemas.microsoft.com/office/powerpoint/2010/main" val="96231915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60DC1-B5DF-7C05-AB45-5190C4F22B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Debugging &amp; Easier Development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45D0A9-26D0-52C7-8A4A-53DC644249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Fixing Errors</a:t>
            </a:r>
          </a:p>
          <a:p>
            <a:r>
              <a:rPr lang="en-US" dirty="0"/>
              <a:t>Developing Efficiently</a:t>
            </a:r>
          </a:p>
          <a:p>
            <a:r>
              <a:rPr lang="en-US" dirty="0"/>
              <a:t>Npm scripts</a:t>
            </a:r>
          </a:p>
          <a:p>
            <a:r>
              <a:rPr lang="en-US" dirty="0"/>
              <a:t>Install 3</a:t>
            </a:r>
            <a:r>
              <a:rPr lang="en-US" baseline="30000" dirty="0"/>
              <a:t>rd</a:t>
            </a:r>
            <a:r>
              <a:rPr lang="en-US" dirty="0"/>
              <a:t> party packages</a:t>
            </a:r>
          </a:p>
        </p:txBody>
      </p:sp>
    </p:spTree>
    <p:extLst>
      <p:ext uri="{BB962C8B-B14F-4D97-AF65-F5344CB8AC3E}">
        <p14:creationId xmlns:p14="http://schemas.microsoft.com/office/powerpoint/2010/main" val="407131264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27689C-EFE9-C3DA-A755-CC015CDE94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69DC64-B3BE-D717-292D-119C1B2EB9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Syntax Errors</a:t>
            </a:r>
          </a:p>
          <a:p>
            <a:r>
              <a:rPr lang="en-US" dirty="0"/>
              <a:t>Runtime Errors</a:t>
            </a:r>
          </a:p>
          <a:p>
            <a:r>
              <a:rPr lang="en-US" dirty="0"/>
              <a:t>Logical Errors</a:t>
            </a:r>
          </a:p>
        </p:txBody>
      </p:sp>
    </p:spTree>
    <p:extLst>
      <p:ext uri="{BB962C8B-B14F-4D97-AF65-F5344CB8AC3E}">
        <p14:creationId xmlns:p14="http://schemas.microsoft.com/office/powerpoint/2010/main" val="62645820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7D4A43-5354-D724-2545-7F301D35C5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D6D45B-CE48-0ACE-5822-DFA2D4DD44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rmAutofit/>
          </a:bodyPr>
          <a:lstStyle/>
          <a:p>
            <a:r>
              <a:rPr lang="en-US" dirty="0"/>
              <a:t>Parsing Incoming Requests</a:t>
            </a:r>
          </a:p>
          <a:p>
            <a:r>
              <a:rPr lang="en-US" dirty="0"/>
              <a:t>Limiting Middleware Execution</a:t>
            </a:r>
          </a:p>
          <a:p>
            <a:r>
              <a:rPr lang="en-US" dirty="0"/>
              <a:t>Using express router</a:t>
            </a:r>
          </a:p>
          <a:p>
            <a:r>
              <a:rPr lang="en-US" dirty="0"/>
              <a:t>Adding a 404 error page</a:t>
            </a:r>
          </a:p>
          <a:p>
            <a:r>
              <a:rPr lang="en-US" dirty="0"/>
              <a:t>Filtering paths</a:t>
            </a:r>
          </a:p>
          <a:p>
            <a:r>
              <a:rPr lang="en-US" dirty="0"/>
              <a:t>Creating HTML Pages</a:t>
            </a:r>
          </a:p>
          <a:p>
            <a:r>
              <a:rPr lang="en-US" dirty="0"/>
              <a:t>Serving HTML Pages</a:t>
            </a:r>
          </a:p>
          <a:p>
            <a:r>
              <a:rPr lang="en-US" dirty="0"/>
              <a:t>404 error page</a:t>
            </a:r>
          </a:p>
          <a:p>
            <a:r>
              <a:rPr lang="en-US" dirty="0"/>
              <a:t>Helper function for navigation</a:t>
            </a:r>
          </a:p>
          <a:p>
            <a:r>
              <a:rPr lang="en-US" dirty="0"/>
              <a:t>Styling CSS pages</a:t>
            </a:r>
          </a:p>
          <a:p>
            <a:r>
              <a:rPr lang="en-US" dirty="0"/>
              <a:t>Serving Files Statically</a:t>
            </a:r>
          </a:p>
        </p:txBody>
      </p:sp>
    </p:spTree>
    <p:extLst>
      <p:ext uri="{BB962C8B-B14F-4D97-AF65-F5344CB8AC3E}">
        <p14:creationId xmlns:p14="http://schemas.microsoft.com/office/powerpoint/2010/main" val="152715784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49D77F-7EFE-1A07-ECB8-CC71EE7E68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167EE9-3DB0-5B8E-CAE2-89DE337571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1650"/>
            <a:ext cx="10515600" cy="4845313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dirty="0"/>
              <a:t>What is Express.js?</a:t>
            </a:r>
          </a:p>
          <a:p>
            <a:pPr lvl="1"/>
            <a:r>
              <a:rPr lang="en-US" dirty="0"/>
              <a:t>Express.js is Node.js framework – a package that adds a bunch of utility functions and tools and a clear set of rules on how the app should be built (middleware!)</a:t>
            </a:r>
          </a:p>
          <a:p>
            <a:pPr lvl="1"/>
            <a:r>
              <a:rPr lang="en-US" dirty="0"/>
              <a:t>It’s highly extensible and other packages can be plugged into it (middleware)</a:t>
            </a:r>
          </a:p>
          <a:p>
            <a:pPr marL="0" indent="0">
              <a:buNone/>
            </a:pPr>
            <a:r>
              <a:rPr lang="en-US" dirty="0"/>
              <a:t>Middleware, next() and res()</a:t>
            </a:r>
          </a:p>
          <a:p>
            <a:pPr lvl="1"/>
            <a:r>
              <a:rPr lang="en-US" dirty="0"/>
              <a:t>Express.js relies heavily on middleware functions – you can easily add them by calling use()</a:t>
            </a:r>
          </a:p>
          <a:p>
            <a:pPr lvl="1"/>
            <a:r>
              <a:rPr lang="en-US" dirty="0"/>
              <a:t>Middleware functions handle a request and should call next() to forward the request to the next function in line or send a response</a:t>
            </a:r>
          </a:p>
          <a:p>
            <a:pPr marL="0" indent="0">
              <a:buNone/>
            </a:pPr>
            <a:r>
              <a:rPr lang="en-US" dirty="0"/>
              <a:t>Routing</a:t>
            </a:r>
          </a:p>
          <a:p>
            <a:pPr lvl="1"/>
            <a:r>
              <a:rPr lang="en-US" dirty="0"/>
              <a:t>You can filter requests by path and method</a:t>
            </a:r>
          </a:p>
          <a:p>
            <a:pPr lvl="1"/>
            <a:r>
              <a:rPr lang="en-US" dirty="0"/>
              <a:t>If you filter by method, paths are matched exactly, otherwise, the first segment of a URL is matched</a:t>
            </a:r>
          </a:p>
          <a:p>
            <a:pPr lvl="1"/>
            <a:r>
              <a:rPr lang="en-US" dirty="0"/>
              <a:t>You can use the </a:t>
            </a:r>
            <a:r>
              <a:rPr lang="en-US" dirty="0" err="1"/>
              <a:t>express.router</a:t>
            </a:r>
            <a:r>
              <a:rPr lang="en-US" dirty="0"/>
              <a:t> to split you routes across files </a:t>
            </a:r>
            <a:r>
              <a:rPr lang="en-US" dirty="0" err="1"/>
              <a:t>elegantely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Serve Files</a:t>
            </a:r>
          </a:p>
          <a:p>
            <a:pPr lvl="1"/>
            <a:r>
              <a:rPr lang="en-US" dirty="0"/>
              <a:t>You’re not limited to serving dummy text as a response</a:t>
            </a:r>
          </a:p>
          <a:p>
            <a:pPr lvl="1"/>
            <a:r>
              <a:rPr lang="en-US" dirty="0"/>
              <a:t>You can </a:t>
            </a:r>
            <a:r>
              <a:rPr lang="en-US" dirty="0" err="1"/>
              <a:t>sendFile</a:t>
            </a:r>
            <a:r>
              <a:rPr lang="en-US" dirty="0"/>
              <a:t>() to your users – </a:t>
            </a:r>
            <a:r>
              <a:rPr lang="en-US" dirty="0" err="1"/>
              <a:t>e.g</a:t>
            </a:r>
            <a:r>
              <a:rPr lang="en-US" dirty="0"/>
              <a:t> HTML files</a:t>
            </a:r>
          </a:p>
          <a:p>
            <a:pPr lvl="1"/>
            <a:r>
              <a:rPr lang="en-US" dirty="0"/>
              <a:t>If a request is directly made for a file (</a:t>
            </a:r>
            <a:r>
              <a:rPr lang="en-US" dirty="0" err="1"/>
              <a:t>e.g</a:t>
            </a:r>
            <a:r>
              <a:rPr lang="en-US" dirty="0"/>
              <a:t> a .</a:t>
            </a:r>
            <a:r>
              <a:rPr lang="en-US" dirty="0" err="1"/>
              <a:t>css</a:t>
            </a:r>
            <a:r>
              <a:rPr lang="en-US" dirty="0"/>
              <a:t> file is requested), you can enable static serving for such files via </a:t>
            </a:r>
            <a:r>
              <a:rPr lang="en-US" dirty="0" err="1"/>
              <a:t>express.static</a:t>
            </a:r>
            <a:r>
              <a:rPr lang="en-US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43999761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267A34-0EE1-D980-6CC8-85604BA72C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Dynamic Content &amp; Templates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72CD2E-7619-664B-B8FA-BC2078E5EC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Managing data (without database)</a:t>
            </a:r>
          </a:p>
          <a:p>
            <a:r>
              <a:rPr lang="en-US" dirty="0"/>
              <a:t>Render dynamic content in our Views</a:t>
            </a:r>
          </a:p>
          <a:p>
            <a:r>
              <a:rPr lang="en-US" dirty="0"/>
              <a:t>Understanding Templating Engines</a:t>
            </a:r>
          </a:p>
        </p:txBody>
      </p:sp>
    </p:spTree>
    <p:extLst>
      <p:ext uri="{BB962C8B-B14F-4D97-AF65-F5344CB8AC3E}">
        <p14:creationId xmlns:p14="http://schemas.microsoft.com/office/powerpoint/2010/main" val="386172742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5D7BE-3E32-C4B5-4F60-A8D03D25B0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Templating Engines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CD58A40-1118-7BD3-1AAF-5931D8C0010F}"/>
              </a:ext>
            </a:extLst>
          </p:cNvPr>
          <p:cNvSpPr/>
          <p:nvPr/>
        </p:nvSpPr>
        <p:spPr>
          <a:xfrm>
            <a:off x="5113538" y="1589103"/>
            <a:ext cx="3710866" cy="6480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HTMLish</a:t>
            </a:r>
            <a:r>
              <a:rPr lang="en-US" dirty="0"/>
              <a:t> Template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77738EF-4AB6-0DB8-67C3-5DBBEB2AD616}"/>
              </a:ext>
            </a:extLst>
          </p:cNvPr>
          <p:cNvSpPr/>
          <p:nvPr/>
        </p:nvSpPr>
        <p:spPr>
          <a:xfrm>
            <a:off x="5113538" y="3747856"/>
            <a:ext cx="3710866" cy="6480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Replaces Placeholders/Snippets with HTML Content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D1E9C5E-4F3A-9020-5CDF-24591326922D}"/>
              </a:ext>
            </a:extLst>
          </p:cNvPr>
          <p:cNvSpPr/>
          <p:nvPr/>
        </p:nvSpPr>
        <p:spPr>
          <a:xfrm>
            <a:off x="5113538" y="5582574"/>
            <a:ext cx="3710866" cy="6480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HTML File</a:t>
            </a:r>
          </a:p>
        </p:txBody>
      </p:sp>
      <p:sp>
        <p:nvSpPr>
          <p:cNvPr id="7" name="Down Arrow 6">
            <a:extLst>
              <a:ext uri="{FF2B5EF4-FFF2-40B4-BE49-F238E27FC236}">
                <a16:creationId xmlns:a16="http://schemas.microsoft.com/office/drawing/2014/main" id="{431DE2DE-2334-B929-D49D-01D5D923501D}"/>
              </a:ext>
            </a:extLst>
          </p:cNvPr>
          <p:cNvSpPr/>
          <p:nvPr/>
        </p:nvSpPr>
        <p:spPr>
          <a:xfrm>
            <a:off x="6782540" y="2379216"/>
            <a:ext cx="585926" cy="117185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Down Arrow 7">
            <a:extLst>
              <a:ext uri="{FF2B5EF4-FFF2-40B4-BE49-F238E27FC236}">
                <a16:creationId xmlns:a16="http://schemas.microsoft.com/office/drawing/2014/main" id="{CC099902-D12C-D838-E4AB-4B3F7EF5414E}"/>
              </a:ext>
            </a:extLst>
          </p:cNvPr>
          <p:cNvSpPr/>
          <p:nvPr/>
        </p:nvSpPr>
        <p:spPr>
          <a:xfrm>
            <a:off x="6835806" y="4403324"/>
            <a:ext cx="585926" cy="117185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731666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EEC32-D420-3C08-8BA0-FBC221F60A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Available Templating Engine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07B46B3-8E73-0719-7413-0EBF60199A3A}"/>
              </a:ext>
            </a:extLst>
          </p:cNvPr>
          <p:cNvSpPr/>
          <p:nvPr/>
        </p:nvSpPr>
        <p:spPr>
          <a:xfrm>
            <a:off x="838200" y="1624614"/>
            <a:ext cx="1931633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EjS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E7D950F-7DC1-AB78-540D-6514FD46F31A}"/>
              </a:ext>
            </a:extLst>
          </p:cNvPr>
          <p:cNvSpPr/>
          <p:nvPr/>
        </p:nvSpPr>
        <p:spPr>
          <a:xfrm>
            <a:off x="5130183" y="1624613"/>
            <a:ext cx="1931633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Pug (jade)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34D9D05-07FB-8EF8-5F13-F4761F278576}"/>
              </a:ext>
            </a:extLst>
          </p:cNvPr>
          <p:cNvSpPr/>
          <p:nvPr/>
        </p:nvSpPr>
        <p:spPr>
          <a:xfrm>
            <a:off x="9073348" y="1624612"/>
            <a:ext cx="1931633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Handlebars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8ABA56C-6B84-9E3D-ACE2-CC4F15D8F4C7}"/>
              </a:ext>
            </a:extLst>
          </p:cNvPr>
          <p:cNvSpPr/>
          <p:nvPr/>
        </p:nvSpPr>
        <p:spPr>
          <a:xfrm>
            <a:off x="838199" y="2780191"/>
            <a:ext cx="2988077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&lt;p&gt;  &lt;%= name %&gt; &lt;/p&gt;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03E231A-5D96-75EF-EA03-CD5317F5FAC2}"/>
              </a:ext>
            </a:extLst>
          </p:cNvPr>
          <p:cNvSpPr/>
          <p:nvPr/>
        </p:nvSpPr>
        <p:spPr>
          <a:xfrm>
            <a:off x="4601960" y="2755777"/>
            <a:ext cx="2988077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 #{name}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6ABD89-7A6D-62C1-DD3D-63B095610E9F}"/>
              </a:ext>
            </a:extLst>
          </p:cNvPr>
          <p:cNvSpPr/>
          <p:nvPr/>
        </p:nvSpPr>
        <p:spPr>
          <a:xfrm>
            <a:off x="8545125" y="2755776"/>
            <a:ext cx="2988077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&lt;p&gt; { {name} } &lt;/p&gt;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D2F51C4-902C-C2B3-CA77-E952F7E49E36}"/>
              </a:ext>
            </a:extLst>
          </p:cNvPr>
          <p:cNvSpPr/>
          <p:nvPr/>
        </p:nvSpPr>
        <p:spPr>
          <a:xfrm>
            <a:off x="838198" y="4962617"/>
            <a:ext cx="2988077" cy="12428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 normal HTML and plain </a:t>
            </a:r>
            <a:r>
              <a:rPr lang="en-US" dirty="0" err="1"/>
              <a:t>javaScript</a:t>
            </a:r>
            <a:r>
              <a:rPr lang="en-US" dirty="0"/>
              <a:t> in your templates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FF77489-C866-3409-3C44-9A241DCAA659}"/>
              </a:ext>
            </a:extLst>
          </p:cNvPr>
          <p:cNvSpPr/>
          <p:nvPr/>
        </p:nvSpPr>
        <p:spPr>
          <a:xfrm>
            <a:off x="4601960" y="4962617"/>
            <a:ext cx="2988077" cy="12428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 minimal HTML and custom template language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A4CD8D4-C0BC-A4C9-7551-FC598CB9F716}"/>
              </a:ext>
            </a:extLst>
          </p:cNvPr>
          <p:cNvSpPr/>
          <p:nvPr/>
        </p:nvSpPr>
        <p:spPr>
          <a:xfrm>
            <a:off x="8545125" y="4962617"/>
            <a:ext cx="2988077" cy="12428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 normal HTML and custom template language</a:t>
            </a:r>
          </a:p>
        </p:txBody>
      </p:sp>
    </p:spTree>
    <p:extLst>
      <p:ext uri="{BB962C8B-B14F-4D97-AF65-F5344CB8AC3E}">
        <p14:creationId xmlns:p14="http://schemas.microsoft.com/office/powerpoint/2010/main" val="328070696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18AC50-97E2-1D78-91FB-E5A9243410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63984"/>
            <a:ext cx="10515600" cy="5812979"/>
          </a:xfrm>
        </p:spPr>
        <p:txBody>
          <a:bodyPr numCol="2">
            <a:normAutofit/>
          </a:bodyPr>
          <a:lstStyle/>
          <a:p>
            <a:r>
              <a:rPr lang="en-US" dirty="0"/>
              <a:t>Sharing Data Access Requests &amp; users</a:t>
            </a:r>
          </a:p>
          <a:p>
            <a:r>
              <a:rPr lang="en-US" dirty="0"/>
              <a:t>Installing &amp; implementing Pug</a:t>
            </a:r>
          </a:p>
          <a:p>
            <a:r>
              <a:rPr lang="en-US" dirty="0"/>
              <a:t>Outputting Dynamic Content</a:t>
            </a:r>
          </a:p>
          <a:p>
            <a:r>
              <a:rPr lang="en-US" dirty="0"/>
              <a:t>Converting HTML files to Pug</a:t>
            </a:r>
          </a:p>
          <a:p>
            <a:r>
              <a:rPr lang="en-US" dirty="0"/>
              <a:t>Adding a Layout</a:t>
            </a:r>
          </a:p>
          <a:p>
            <a:r>
              <a:rPr lang="en-US" dirty="0"/>
              <a:t>Finishing the pug template</a:t>
            </a:r>
          </a:p>
          <a:p>
            <a:r>
              <a:rPr lang="en-US" dirty="0"/>
              <a:t>Working with Handlebars</a:t>
            </a:r>
          </a:p>
          <a:p>
            <a:r>
              <a:rPr lang="en-US" dirty="0"/>
              <a:t>Converting our project to handlebars</a:t>
            </a:r>
          </a:p>
          <a:p>
            <a:r>
              <a:rPr lang="en-US" dirty="0"/>
              <a:t>Adding the layout to handlebars</a:t>
            </a:r>
          </a:p>
          <a:p>
            <a:r>
              <a:rPr lang="en-US" dirty="0"/>
              <a:t>Working with EJS</a:t>
            </a:r>
          </a:p>
          <a:p>
            <a:r>
              <a:rPr lang="en-US" dirty="0"/>
              <a:t>Working on the </a:t>
            </a:r>
            <a:r>
              <a:rPr lang="en-US"/>
              <a:t>Layout with Partials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93829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B92C53-1F18-3AD3-9AF1-ED222A64FE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MVC (Structuring your Code)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E730F8-40FD-6A53-8572-3AA157678B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603375"/>
          </a:xfrm>
        </p:spPr>
        <p:txBody>
          <a:bodyPr/>
          <a:lstStyle/>
          <a:p>
            <a:r>
              <a:rPr lang="en-US" dirty="0"/>
              <a:t>Model – Represent data in your code, work with data(save, fetch)</a:t>
            </a:r>
          </a:p>
          <a:p>
            <a:r>
              <a:rPr lang="en-US" dirty="0"/>
              <a:t>View – What the users see, decoupled from application code</a:t>
            </a:r>
          </a:p>
          <a:p>
            <a:r>
              <a:rPr lang="en-US" dirty="0"/>
              <a:t>Controller – connecting Models and Views, “in-between” logic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771142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85863B-273E-3B2D-F934-53BDAB5968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A2CDCD-D418-F4A4-8B13-374B0C916C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Adding Controllers</a:t>
            </a:r>
          </a:p>
          <a:p>
            <a:r>
              <a:rPr lang="en-US" dirty="0"/>
              <a:t>Adding a Product Model</a:t>
            </a:r>
          </a:p>
          <a:p>
            <a:r>
              <a:rPr lang="en-US" dirty="0"/>
              <a:t>Storing data in Files Via the Model</a:t>
            </a:r>
          </a:p>
          <a:p>
            <a:r>
              <a:rPr lang="en-US" dirty="0"/>
              <a:t>Fetching data from files via the Model</a:t>
            </a:r>
          </a:p>
          <a:p>
            <a:r>
              <a:rPr lang="en-US" dirty="0"/>
              <a:t>Refactoring the file storage code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853899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BBCC09-64F9-44E3-4D85-1867FF1BF9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AA83A7-918D-36D3-B65F-FF98AADE5B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Model</a:t>
            </a:r>
          </a:p>
          <a:p>
            <a:pPr lvl="1"/>
            <a:r>
              <a:rPr lang="en-US" dirty="0"/>
              <a:t>Responsible for representing your data</a:t>
            </a:r>
          </a:p>
          <a:p>
            <a:pPr lvl="1"/>
            <a:r>
              <a:rPr lang="en-US" dirty="0"/>
              <a:t>Responsible for managing your data (saving, fetching, …)</a:t>
            </a:r>
          </a:p>
          <a:p>
            <a:pPr lvl="1"/>
            <a:r>
              <a:rPr lang="en-US" dirty="0"/>
              <a:t>Doesn’t matter if you manage data in memory, files, databases</a:t>
            </a:r>
          </a:p>
          <a:p>
            <a:pPr lvl="1"/>
            <a:r>
              <a:rPr lang="en-US" dirty="0"/>
              <a:t>Contains data-related logic</a:t>
            </a:r>
          </a:p>
          <a:p>
            <a:r>
              <a:rPr lang="en-US" dirty="0"/>
              <a:t>Controller</a:t>
            </a:r>
          </a:p>
          <a:p>
            <a:pPr lvl="1"/>
            <a:r>
              <a:rPr lang="en-US" dirty="0"/>
              <a:t>Connects Model and View</a:t>
            </a:r>
          </a:p>
          <a:p>
            <a:pPr lvl="1"/>
            <a:r>
              <a:rPr lang="en-US" dirty="0"/>
              <a:t>Should only make sure that the two can communicate ( in both directions)</a:t>
            </a:r>
          </a:p>
          <a:p>
            <a:r>
              <a:rPr lang="en-US" dirty="0"/>
              <a:t>View</a:t>
            </a:r>
          </a:p>
          <a:p>
            <a:pPr lvl="1"/>
            <a:r>
              <a:rPr lang="en-US" dirty="0"/>
              <a:t>What the user sees</a:t>
            </a:r>
          </a:p>
          <a:p>
            <a:pPr lvl="1"/>
            <a:r>
              <a:rPr lang="en-US" dirty="0"/>
              <a:t>Shouldn’t contain too much logic (handlebars!)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043310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750284-0580-E891-873A-A420CD2518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71604"/>
            <a:ext cx="10515600" cy="5905359"/>
          </a:xfrm>
        </p:spPr>
        <p:txBody>
          <a:bodyPr/>
          <a:lstStyle/>
          <a:p>
            <a:r>
              <a:rPr lang="en-US" dirty="0"/>
              <a:t>Creating the Shop Structure</a:t>
            </a:r>
          </a:p>
          <a:p>
            <a:r>
              <a:rPr lang="en-US" dirty="0"/>
              <a:t>Working on the Navigation</a:t>
            </a:r>
          </a:p>
          <a:p>
            <a:r>
              <a:rPr lang="en-US" dirty="0"/>
              <a:t>Registering the Routes</a:t>
            </a:r>
          </a:p>
          <a:p>
            <a:r>
              <a:rPr lang="en-US" dirty="0"/>
              <a:t>Storing Product Data</a:t>
            </a:r>
          </a:p>
          <a:p>
            <a:r>
              <a:rPr lang="en-US" dirty="0"/>
              <a:t>Displaying product data</a:t>
            </a:r>
          </a:p>
          <a:p>
            <a:r>
              <a:rPr lang="en-US" dirty="0"/>
              <a:t>Editing &amp; Deleting Products</a:t>
            </a:r>
          </a:p>
          <a:p>
            <a:r>
              <a:rPr lang="en-US" dirty="0"/>
              <a:t>Adding Another Item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301364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609184-4E88-BE3D-3868-0284DAD747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Dynamic Routes &amp; Advanced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21D14C-9F1B-62DE-EA77-ED89753394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Passing route params</a:t>
            </a:r>
          </a:p>
          <a:p>
            <a:r>
              <a:rPr lang="en-US" dirty="0"/>
              <a:t>Using Query Params</a:t>
            </a:r>
          </a:p>
          <a:p>
            <a:r>
              <a:rPr lang="en-US" dirty="0"/>
              <a:t>Enhance our Models</a:t>
            </a:r>
          </a:p>
          <a:p>
            <a:r>
              <a:rPr lang="en-US" dirty="0"/>
              <a:t>Adding the Product ID to the Path</a:t>
            </a:r>
          </a:p>
          <a:p>
            <a:r>
              <a:rPr lang="en-US" dirty="0"/>
              <a:t>Loading Product Detail Data</a:t>
            </a:r>
          </a:p>
          <a:p>
            <a:r>
              <a:rPr lang="en-US" dirty="0"/>
              <a:t>Rendering the Product Detail View</a:t>
            </a:r>
          </a:p>
          <a:p>
            <a:r>
              <a:rPr lang="en-US"/>
              <a:t>Passing Data with POST Requests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146508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18C65D-AA8E-47D2-147B-600BEFCA96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16048"/>
            <a:ext cx="10515600" cy="5660915"/>
          </a:xfrm>
        </p:spPr>
        <p:txBody>
          <a:bodyPr/>
          <a:lstStyle/>
          <a:p>
            <a:r>
              <a:rPr lang="en-US" dirty="0"/>
              <a:t>Adding a Cart Model</a:t>
            </a:r>
          </a:p>
          <a:p>
            <a:r>
              <a:rPr lang="en-US" dirty="0"/>
              <a:t>Using Query Params</a:t>
            </a:r>
          </a:p>
          <a:p>
            <a:r>
              <a:rPr lang="en-US" dirty="0"/>
              <a:t>Pre-populating the Edit Product Page with Data</a:t>
            </a:r>
          </a:p>
          <a:p>
            <a:r>
              <a:rPr lang="en-US" dirty="0"/>
              <a:t>Linking to the Edit Page</a:t>
            </a:r>
          </a:p>
          <a:p>
            <a:r>
              <a:rPr lang="en-US" dirty="0"/>
              <a:t>Editing the Product Data</a:t>
            </a:r>
          </a:p>
          <a:p>
            <a:r>
              <a:rPr lang="en-US" dirty="0"/>
              <a:t>Adding the Product-Delete functionality</a:t>
            </a:r>
          </a:p>
          <a:p>
            <a:r>
              <a:rPr lang="en-US" dirty="0"/>
              <a:t>Deleting Cart Item</a:t>
            </a:r>
          </a:p>
          <a:p>
            <a:r>
              <a:rPr lang="en-US" dirty="0"/>
              <a:t>Displaying Cart Items </a:t>
            </a:r>
            <a:r>
              <a:rPr lang="en-US"/>
              <a:t>on the Cart Page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917111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93B40-6D39-7FBC-52A3-85AAFF99F9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283804-D252-5F62-7ED7-023CD05FB6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Dynamic Routing</a:t>
            </a:r>
          </a:p>
          <a:p>
            <a:pPr lvl="1"/>
            <a:r>
              <a:rPr lang="en-US" dirty="0"/>
              <a:t>You can pass dynamic path segments by adding a “:” to the Express router path</a:t>
            </a:r>
          </a:p>
          <a:p>
            <a:pPr lvl="1"/>
            <a:r>
              <a:rPr lang="en-US" dirty="0"/>
              <a:t>The name you add after “:” is the name by which you can extract the data on </a:t>
            </a:r>
            <a:r>
              <a:rPr lang="en-US" dirty="0" err="1"/>
              <a:t>req.params</a:t>
            </a:r>
            <a:endParaRPr lang="en-US" dirty="0"/>
          </a:p>
          <a:p>
            <a:pPr lvl="1"/>
            <a:r>
              <a:rPr lang="en-US" dirty="0"/>
              <a:t>Optional (query) parameters can also be passed ( ? Param = value &amp; b = 2) and extracted (</a:t>
            </a:r>
            <a:r>
              <a:rPr lang="en-US" dirty="0" err="1"/>
              <a:t>req.query.myParam</a:t>
            </a:r>
            <a:r>
              <a:rPr lang="en-US" dirty="0"/>
              <a:t>)</a:t>
            </a:r>
          </a:p>
          <a:p>
            <a:r>
              <a:rPr lang="en-US" dirty="0"/>
              <a:t>More on Models</a:t>
            </a:r>
          </a:p>
          <a:p>
            <a:pPr lvl="1"/>
            <a:r>
              <a:rPr lang="en-US" dirty="0"/>
              <a:t>A cart model was added – it holds static methods only</a:t>
            </a:r>
          </a:p>
          <a:p>
            <a:pPr lvl="1"/>
            <a:r>
              <a:rPr lang="en-US" dirty="0"/>
              <a:t>You can interact between models ( e.g. delete cart item if a product is deleted)</a:t>
            </a:r>
          </a:p>
          <a:p>
            <a:pPr lvl="1"/>
            <a:r>
              <a:rPr lang="en-US" dirty="0"/>
              <a:t>Working with files for data storage is </a:t>
            </a:r>
            <a:r>
              <a:rPr lang="en-US" dirty="0" err="1"/>
              <a:t>suboptiomal</a:t>
            </a:r>
            <a:r>
              <a:rPr lang="en-US" dirty="0"/>
              <a:t> for bigger amounts of data</a:t>
            </a:r>
          </a:p>
        </p:txBody>
      </p:sp>
    </p:spTree>
    <p:extLst>
      <p:ext uri="{BB962C8B-B14F-4D97-AF65-F5344CB8AC3E}">
        <p14:creationId xmlns:p14="http://schemas.microsoft.com/office/powerpoint/2010/main" val="390334395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0EAB70-EE0C-7530-FBE0-7296B06C19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Storing Data in Databases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058085-6E06-C165-2882-074C72EB6D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Different kinds of databases ( SQL vs NoSQL)</a:t>
            </a:r>
          </a:p>
          <a:p>
            <a:r>
              <a:rPr lang="en-US" dirty="0"/>
              <a:t>Using SQL in a Node.js App</a:t>
            </a:r>
          </a:p>
        </p:txBody>
      </p:sp>
    </p:spTree>
    <p:extLst>
      <p:ext uri="{BB962C8B-B14F-4D97-AF65-F5344CB8AC3E}">
        <p14:creationId xmlns:p14="http://schemas.microsoft.com/office/powerpoint/2010/main" val="328021081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15E188-F2A9-9154-22EE-08834DDFAF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 vs NoSQL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51DEC2-891D-0E44-EC2B-C44F50A4E6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Store data and make it Easily Accessible</a:t>
            </a:r>
          </a:p>
          <a:p>
            <a:pPr lvl="1"/>
            <a:r>
              <a:rPr lang="en-US" dirty="0"/>
              <a:t>SQL databases (e.g. MySQL)</a:t>
            </a:r>
          </a:p>
          <a:p>
            <a:pPr lvl="1"/>
            <a:r>
              <a:rPr lang="en-US" dirty="0"/>
              <a:t>NoSQL Databases (e.g. MongoDB)</a:t>
            </a:r>
          </a:p>
        </p:txBody>
      </p:sp>
    </p:spTree>
    <p:extLst>
      <p:ext uri="{BB962C8B-B14F-4D97-AF65-F5344CB8AC3E}">
        <p14:creationId xmlns:p14="http://schemas.microsoft.com/office/powerpoint/2010/main" val="428360302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57A02-7D28-9F6A-67F7-F9DF52A38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705CC224-20F9-807A-E4F9-C8E0D5D2D1A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64323852"/>
              </p:ext>
            </p:extLst>
          </p:nvPr>
        </p:nvGraphicFramePr>
        <p:xfrm>
          <a:off x="1032162" y="1834862"/>
          <a:ext cx="6033656" cy="212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3293">
                  <a:extLst>
                    <a:ext uri="{9D8B030D-6E8A-4147-A177-3AD203B41FA5}">
                      <a16:colId xmlns:a16="http://schemas.microsoft.com/office/drawing/2014/main" val="633939766"/>
                    </a:ext>
                  </a:extLst>
                </a:gridCol>
                <a:gridCol w="2180890">
                  <a:extLst>
                    <a:ext uri="{9D8B030D-6E8A-4147-A177-3AD203B41FA5}">
                      <a16:colId xmlns:a16="http://schemas.microsoft.com/office/drawing/2014/main" val="2921028910"/>
                    </a:ext>
                  </a:extLst>
                </a:gridCol>
                <a:gridCol w="3109473">
                  <a:extLst>
                    <a:ext uri="{9D8B030D-6E8A-4147-A177-3AD203B41FA5}">
                      <a16:colId xmlns:a16="http://schemas.microsoft.com/office/drawing/2014/main" val="2648814571"/>
                    </a:ext>
                  </a:extLst>
                </a:gridCol>
              </a:tblGrid>
              <a:tr h="370840">
                <a:tc gridSpan="3">
                  <a:txBody>
                    <a:bodyPr/>
                    <a:lstStyle/>
                    <a:p>
                      <a:r>
                        <a:rPr lang="en-US" b="1" dirty="0"/>
                        <a:t>Users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60675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Email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Name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11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hlinkClick r:id="rId2"/>
                        </a:rPr>
                        <a:t>ram@gmail.com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Ram Sharma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62144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2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hlinkClick r:id="rId3"/>
                        </a:rPr>
                        <a:t>mohan@gmail.com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Mohan Verma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8115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hlinkClick r:id="rId4"/>
                        </a:rPr>
                        <a:t>sohan@gmail.com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Sohan Mishra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668102"/>
                  </a:ext>
                </a:extLst>
              </a:tr>
            </a:tbl>
          </a:graphicData>
        </a:graphic>
      </p:graphicFrame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C8DAABE0-9180-9FE7-9BFB-8FBA83047D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64086973"/>
              </p:ext>
            </p:extLst>
          </p:nvPr>
        </p:nvGraphicFramePr>
        <p:xfrm>
          <a:off x="1032162" y="4185517"/>
          <a:ext cx="6033656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0508">
                  <a:extLst>
                    <a:ext uri="{9D8B030D-6E8A-4147-A177-3AD203B41FA5}">
                      <a16:colId xmlns:a16="http://schemas.microsoft.com/office/drawing/2014/main" val="633939766"/>
                    </a:ext>
                  </a:extLst>
                </a:gridCol>
                <a:gridCol w="1439194">
                  <a:extLst>
                    <a:ext uri="{9D8B030D-6E8A-4147-A177-3AD203B41FA5}">
                      <a16:colId xmlns:a16="http://schemas.microsoft.com/office/drawing/2014/main" val="2921028910"/>
                    </a:ext>
                  </a:extLst>
                </a:gridCol>
                <a:gridCol w="2051977">
                  <a:extLst>
                    <a:ext uri="{9D8B030D-6E8A-4147-A177-3AD203B41FA5}">
                      <a16:colId xmlns:a16="http://schemas.microsoft.com/office/drawing/2014/main" val="2648814571"/>
                    </a:ext>
                  </a:extLst>
                </a:gridCol>
                <a:gridCol w="2051977">
                  <a:extLst>
                    <a:ext uri="{9D8B030D-6E8A-4147-A177-3AD203B41FA5}">
                      <a16:colId xmlns:a16="http://schemas.microsoft.com/office/drawing/2014/main" val="303862644"/>
                    </a:ext>
                  </a:extLst>
                </a:gridCol>
              </a:tblGrid>
              <a:tr h="370840">
                <a:tc gridSpan="4">
                  <a:txBody>
                    <a:bodyPr/>
                    <a:lstStyle/>
                    <a:p>
                      <a:r>
                        <a:rPr lang="en-US" dirty="0"/>
                        <a:t>Products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60675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Title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11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62144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8115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668102"/>
                  </a:ext>
                </a:extLst>
              </a:tr>
            </a:tbl>
          </a:graphicData>
        </a:graphic>
      </p:graphicFrame>
      <p:graphicFrame>
        <p:nvGraphicFramePr>
          <p:cNvPr id="6" name="Content Placeholder 3">
            <a:extLst>
              <a:ext uri="{FF2B5EF4-FFF2-40B4-BE49-F238E27FC236}">
                <a16:creationId xmlns:a16="http://schemas.microsoft.com/office/drawing/2014/main" id="{57A07CFC-6D74-67D7-CC97-27DCE8E57C5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92615754"/>
              </p:ext>
            </p:extLst>
          </p:nvPr>
        </p:nvGraphicFramePr>
        <p:xfrm>
          <a:off x="7585364" y="3138430"/>
          <a:ext cx="3768436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6545">
                  <a:extLst>
                    <a:ext uri="{9D8B030D-6E8A-4147-A177-3AD203B41FA5}">
                      <a16:colId xmlns:a16="http://schemas.microsoft.com/office/drawing/2014/main" val="633939766"/>
                    </a:ext>
                  </a:extLst>
                </a:gridCol>
                <a:gridCol w="1431636">
                  <a:extLst>
                    <a:ext uri="{9D8B030D-6E8A-4147-A177-3AD203B41FA5}">
                      <a16:colId xmlns:a16="http://schemas.microsoft.com/office/drawing/2014/main" val="2921028910"/>
                    </a:ext>
                  </a:extLst>
                </a:gridCol>
                <a:gridCol w="1690255">
                  <a:extLst>
                    <a:ext uri="{9D8B030D-6E8A-4147-A177-3AD203B41FA5}">
                      <a16:colId xmlns:a16="http://schemas.microsoft.com/office/drawing/2014/main" val="2648814571"/>
                    </a:ext>
                  </a:extLst>
                </a:gridCol>
              </a:tblGrid>
              <a:tr h="370840">
                <a:tc gridSpan="3">
                  <a:txBody>
                    <a:bodyPr/>
                    <a:lstStyle/>
                    <a:p>
                      <a:r>
                        <a:rPr lang="en-US" dirty="0"/>
                        <a:t>Orders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60675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User_id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Product_id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11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62144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8115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6681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1048264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0217D3-7274-6D7D-30F3-7BA9680F6B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Core SQL Database Characteristics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8B68F1-840D-75FC-CE66-358881265D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 Schema (id, name, age) – All Data ( in a Table has to fit)</a:t>
            </a:r>
          </a:p>
          <a:p>
            <a:r>
              <a:rPr lang="en-US" dirty="0"/>
              <a:t>Data Relations ( Tables are connected)</a:t>
            </a:r>
          </a:p>
          <a:p>
            <a:pPr lvl="1"/>
            <a:r>
              <a:rPr lang="en-US" dirty="0"/>
              <a:t>One-to-One</a:t>
            </a:r>
          </a:p>
          <a:p>
            <a:pPr lvl="1"/>
            <a:r>
              <a:rPr lang="en-US" dirty="0"/>
              <a:t>One-to-Many</a:t>
            </a:r>
          </a:p>
          <a:p>
            <a:pPr lvl="1"/>
            <a:r>
              <a:rPr lang="en-US" dirty="0"/>
              <a:t>Many-to-Many</a:t>
            </a:r>
          </a:p>
        </p:txBody>
      </p:sp>
    </p:spTree>
    <p:extLst>
      <p:ext uri="{BB962C8B-B14F-4D97-AF65-F5344CB8AC3E}">
        <p14:creationId xmlns:p14="http://schemas.microsoft.com/office/powerpoint/2010/main" val="201424483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A291F4-7B93-35A6-DD81-27CF25422B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 Queries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0D3289-22F2-6BC5-1C14-BE9C5F904F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SELECT</a:t>
            </a:r>
            <a:r>
              <a:rPr lang="en-US" dirty="0"/>
              <a:t> </a:t>
            </a:r>
            <a:r>
              <a:rPr lang="en-US" dirty="0">
                <a:solidFill>
                  <a:srgbClr val="00B050"/>
                </a:solidFill>
              </a:rPr>
              <a:t>*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FROM</a:t>
            </a:r>
            <a:r>
              <a:rPr lang="en-US" dirty="0"/>
              <a:t> </a:t>
            </a:r>
            <a:r>
              <a:rPr lang="en-US" dirty="0">
                <a:solidFill>
                  <a:srgbClr val="00B050"/>
                </a:solidFill>
              </a:rPr>
              <a:t>users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WHERE</a:t>
            </a:r>
            <a:r>
              <a:rPr lang="en-US" dirty="0"/>
              <a:t> </a:t>
            </a:r>
            <a:r>
              <a:rPr lang="en-US" dirty="0">
                <a:solidFill>
                  <a:srgbClr val="00B050"/>
                </a:solidFill>
              </a:rPr>
              <a:t>age &gt; 30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SQL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Keywords</a:t>
            </a:r>
          </a:p>
          <a:p>
            <a:pPr marL="0" indent="0">
              <a:buNone/>
            </a:pPr>
            <a:endParaRPr lang="en-US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rgbClr val="00B050"/>
                </a:solidFill>
              </a:rPr>
              <a:t>Parameters/Data</a:t>
            </a:r>
          </a:p>
        </p:txBody>
      </p:sp>
    </p:spTree>
    <p:extLst>
      <p:ext uri="{BB962C8B-B14F-4D97-AF65-F5344CB8AC3E}">
        <p14:creationId xmlns:p14="http://schemas.microsoft.com/office/powerpoint/2010/main" val="287284373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C39F45-21C1-31AF-587F-4A9A43E38E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NoSQL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364BA6-889C-ADE3-A64D-97C7A72A86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Database : Shop</a:t>
            </a:r>
          </a:p>
          <a:p>
            <a:r>
              <a:rPr lang="en-US" dirty="0"/>
              <a:t>Collections : Users, Orders</a:t>
            </a:r>
          </a:p>
          <a:p>
            <a:r>
              <a:rPr lang="en-US" dirty="0"/>
              <a:t>Documents: {</a:t>
            </a:r>
            <a:r>
              <a:rPr lang="en-US" dirty="0" err="1"/>
              <a:t>name:’Ram</a:t>
            </a:r>
            <a:r>
              <a:rPr lang="en-US" dirty="0"/>
              <a:t> Sharmar’,age:30} {…}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694977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C8128E-809B-E593-29C7-25B3221BD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NoSQL Characteristics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769E68-B525-11F4-B0A7-EC563B4BB0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 Data Schema – No Structure required!</a:t>
            </a:r>
          </a:p>
          <a:p>
            <a:r>
              <a:rPr lang="en-US" dirty="0"/>
              <a:t>No Data Relations – No/Few Connections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407558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CE373-EC35-AC0B-1E31-E4DC99BDF9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5AFEC6-4412-DAF0-58C6-60CBAD6543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Horizontal Scaling</a:t>
            </a:r>
          </a:p>
          <a:p>
            <a:pPr lvl="1"/>
            <a:r>
              <a:rPr lang="en-US" dirty="0"/>
              <a:t>Add More Servers ( and merge Data into one Database)</a:t>
            </a:r>
          </a:p>
          <a:p>
            <a:pPr lvl="1"/>
            <a:endParaRPr lang="en-US" dirty="0"/>
          </a:p>
          <a:p>
            <a:r>
              <a:rPr lang="en-US" dirty="0"/>
              <a:t>Vertical Scaling</a:t>
            </a:r>
          </a:p>
          <a:p>
            <a:pPr lvl="1"/>
            <a:r>
              <a:rPr lang="en-US" dirty="0"/>
              <a:t>Improve Server Capacity/Hardware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734D245-C462-FA57-1453-30F8C2E065DD}"/>
              </a:ext>
            </a:extLst>
          </p:cNvPr>
          <p:cNvSpPr/>
          <p:nvPr/>
        </p:nvSpPr>
        <p:spPr>
          <a:xfrm>
            <a:off x="9023927" y="2022764"/>
            <a:ext cx="471055" cy="8312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6A4CDC-3B36-A3BA-9CE9-FCE47A1E5138}"/>
              </a:ext>
            </a:extLst>
          </p:cNvPr>
          <p:cNvSpPr/>
          <p:nvPr/>
        </p:nvSpPr>
        <p:spPr>
          <a:xfrm>
            <a:off x="9619672" y="2022764"/>
            <a:ext cx="471055" cy="8312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721FF50-C47B-03C2-7BAB-2DFD9EA2B272}"/>
              </a:ext>
            </a:extLst>
          </p:cNvPr>
          <p:cNvSpPr/>
          <p:nvPr/>
        </p:nvSpPr>
        <p:spPr>
          <a:xfrm>
            <a:off x="10251208" y="2022764"/>
            <a:ext cx="471055" cy="8312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59FF6FC-F140-BF89-1968-7158BAC02E71}"/>
              </a:ext>
            </a:extLst>
          </p:cNvPr>
          <p:cNvSpPr/>
          <p:nvPr/>
        </p:nvSpPr>
        <p:spPr>
          <a:xfrm>
            <a:off x="7961745" y="3703782"/>
            <a:ext cx="868219" cy="2975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9AA4222-F95B-4377-C295-12793C313CC8}"/>
              </a:ext>
            </a:extLst>
          </p:cNvPr>
          <p:cNvSpPr/>
          <p:nvPr/>
        </p:nvSpPr>
        <p:spPr>
          <a:xfrm>
            <a:off x="7961744" y="4136231"/>
            <a:ext cx="868219" cy="2975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ECDB18F-D60A-60D2-44C3-CDB676B25512}"/>
              </a:ext>
            </a:extLst>
          </p:cNvPr>
          <p:cNvSpPr/>
          <p:nvPr/>
        </p:nvSpPr>
        <p:spPr>
          <a:xfrm>
            <a:off x="7961744" y="4575392"/>
            <a:ext cx="868219" cy="2975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30797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97A0B2-374A-B574-4AA8-067B648D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 vs NoSQL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DDC01F-45B0-C8C5-767E-6DDED73C7A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7508" y="1690688"/>
            <a:ext cx="4528127" cy="435133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Data uses Schemas</a:t>
            </a:r>
          </a:p>
          <a:p>
            <a:r>
              <a:rPr lang="en-US" dirty="0"/>
              <a:t>Relations!	</a:t>
            </a:r>
          </a:p>
          <a:p>
            <a:r>
              <a:rPr lang="en-US" dirty="0"/>
              <a:t>Data is distributed across multiple tables</a:t>
            </a:r>
          </a:p>
          <a:p>
            <a:r>
              <a:rPr lang="en-US" dirty="0"/>
              <a:t>Horizontal scaling is difficult/impossible; vertical scaling is possible</a:t>
            </a:r>
          </a:p>
          <a:p>
            <a:r>
              <a:rPr lang="en-US" dirty="0"/>
              <a:t>Limitations for lots of (thousands) read&amp; write queries per second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0528BA7-9B90-06C1-BB0A-91F00E440B2C}"/>
              </a:ext>
            </a:extLst>
          </p:cNvPr>
          <p:cNvSpPr txBox="1">
            <a:spLocks/>
          </p:cNvSpPr>
          <p:nvPr/>
        </p:nvSpPr>
        <p:spPr>
          <a:xfrm>
            <a:off x="6825673" y="1690688"/>
            <a:ext cx="4528127" cy="435133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Schema-less</a:t>
            </a:r>
          </a:p>
          <a:p>
            <a:r>
              <a:rPr lang="en-US" dirty="0"/>
              <a:t>No(or very few) Relations</a:t>
            </a:r>
          </a:p>
          <a:p>
            <a:r>
              <a:rPr lang="en-US" dirty="0"/>
              <a:t>Data is typically merged/nested in a few collections</a:t>
            </a:r>
          </a:p>
          <a:p>
            <a:r>
              <a:rPr lang="en-US" dirty="0"/>
              <a:t>Both horizontal and vertical scaling is possible</a:t>
            </a:r>
          </a:p>
          <a:p>
            <a:r>
              <a:rPr lang="en-US" dirty="0"/>
              <a:t>Great performance for mass read &amp; write requests</a:t>
            </a:r>
          </a:p>
        </p:txBody>
      </p:sp>
    </p:spTree>
    <p:extLst>
      <p:ext uri="{BB962C8B-B14F-4D97-AF65-F5344CB8AC3E}">
        <p14:creationId xmlns:p14="http://schemas.microsoft.com/office/powerpoint/2010/main" val="19241906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11564</TotalTime>
  <Words>1688</Words>
  <Application>Microsoft Macintosh PowerPoint</Application>
  <PresentationFormat>Widescreen</PresentationFormat>
  <Paragraphs>338</Paragraphs>
  <Slides>41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5" baseType="lpstr">
      <vt:lpstr>Aptos</vt:lpstr>
      <vt:lpstr>Aptos Display</vt:lpstr>
      <vt:lpstr>Arial</vt:lpstr>
      <vt:lpstr>Office Theme</vt:lpstr>
      <vt:lpstr>What is Node.js?</vt:lpstr>
      <vt:lpstr>Node.js History</vt:lpstr>
      <vt:lpstr>Node.js Use</vt:lpstr>
      <vt:lpstr>Course Outline</vt:lpstr>
      <vt:lpstr>Intro</vt:lpstr>
      <vt:lpstr>How the web works</vt:lpstr>
      <vt:lpstr>HTTP,HTTPS</vt:lpstr>
      <vt:lpstr>Core Modules</vt:lpstr>
      <vt:lpstr>Creating a Node Server</vt:lpstr>
      <vt:lpstr>Node.js Program Lifecycle</vt:lpstr>
      <vt:lpstr>PowerPoint Presentation</vt:lpstr>
      <vt:lpstr>Routing request</vt:lpstr>
      <vt:lpstr>Parsing request bodies</vt:lpstr>
      <vt:lpstr>Single Thread, Event Loop &amp; Blocking Code</vt:lpstr>
      <vt:lpstr>The Event Loop</vt:lpstr>
      <vt:lpstr>PowerPoint Presentation</vt:lpstr>
      <vt:lpstr>Module Summary</vt:lpstr>
      <vt:lpstr>Debugging &amp; Easier Development</vt:lpstr>
      <vt:lpstr>Error</vt:lpstr>
      <vt:lpstr>PowerPoint Presentation</vt:lpstr>
      <vt:lpstr>Module summary</vt:lpstr>
      <vt:lpstr>Dynamic Content &amp; Templates</vt:lpstr>
      <vt:lpstr>Templating Engines</vt:lpstr>
      <vt:lpstr>Available Templating Engine</vt:lpstr>
      <vt:lpstr>PowerPoint Presentation</vt:lpstr>
      <vt:lpstr>MVC (Structuring your Code)</vt:lpstr>
      <vt:lpstr>PowerPoint Presentation</vt:lpstr>
      <vt:lpstr>Module Summary</vt:lpstr>
      <vt:lpstr>PowerPoint Presentation</vt:lpstr>
      <vt:lpstr>Dynamic Routes &amp; Advanced Models</vt:lpstr>
      <vt:lpstr>PowerPoint Presentation</vt:lpstr>
      <vt:lpstr>Module Summary</vt:lpstr>
      <vt:lpstr>Storing Data in Databases</vt:lpstr>
      <vt:lpstr>SQL vs NoSQL</vt:lpstr>
      <vt:lpstr>SQL</vt:lpstr>
      <vt:lpstr>Core SQL Database Characteristics</vt:lpstr>
      <vt:lpstr>SQL Queries</vt:lpstr>
      <vt:lpstr>NoSQL</vt:lpstr>
      <vt:lpstr>NoSQL Characteristics</vt:lpstr>
      <vt:lpstr>PowerPoint Presentation</vt:lpstr>
      <vt:lpstr>SQL vs NoSQL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Aeeron Academy</dc:creator>
  <cp:lastModifiedBy>Aeeron Academy</cp:lastModifiedBy>
  <cp:revision>28</cp:revision>
  <dcterms:created xsi:type="dcterms:W3CDTF">2025-11-04T10:55:41Z</dcterms:created>
  <dcterms:modified xsi:type="dcterms:W3CDTF">2025-12-08T06:24:35Z</dcterms:modified>
</cp:coreProperties>
</file>