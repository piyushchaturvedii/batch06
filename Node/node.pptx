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6" r:id="rId79"/>
    <p:sldId id="337" r:id="rId80"/>
    <p:sldId id="333" r:id="rId81"/>
    <p:sldId id="334" r:id="rId82"/>
    <p:sldId id="335" r:id="rId83"/>
    <p:sldId id="338" r:id="rId84"/>
    <p:sldId id="339" r:id="rId85"/>
    <p:sldId id="340" r:id="rId8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67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 dirty="0"/>
              <a:t>Fetching Relation</a:t>
            </a:r>
          </a:p>
          <a:p>
            <a:r>
              <a:rPr lang="en-US" dirty="0"/>
              <a:t>Working on the Shopping Cart</a:t>
            </a:r>
          </a:p>
          <a:p>
            <a:r>
              <a:rPr lang="en-US" dirty="0"/>
              <a:t>Loading the Cart</a:t>
            </a:r>
          </a:p>
          <a:p>
            <a:r>
              <a:rPr lang="en-US" dirty="0"/>
              <a:t>Deleting Cart Items</a:t>
            </a:r>
          </a:p>
          <a:p>
            <a:r>
              <a:rPr lang="en-US" dirty="0"/>
              <a:t>Creating &amp; Getting Orders</a:t>
            </a:r>
          </a:p>
          <a:p>
            <a:r>
              <a:rPr lang="en-US" dirty="0"/>
              <a:t>Storing All order Related Data</a:t>
            </a:r>
          </a:p>
          <a:p>
            <a:r>
              <a:rPr lang="en-US" dirty="0"/>
              <a:t>Clearing the Cart After Storing an Order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4AC2B-4471-4240-67B7-CB39A529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&amp;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2B5FB-C848-5DF6-59F9-1059037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Cookies?</a:t>
            </a:r>
          </a:p>
          <a:p>
            <a:r>
              <a:rPr lang="en-US" dirty="0"/>
              <a:t>What are Sessions?</a:t>
            </a:r>
          </a:p>
          <a:p>
            <a:r>
              <a:rPr lang="en-US" dirty="0"/>
              <a:t>Using Session &amp; Cookies?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226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3E25-4C5B-3C05-800F-25AC51FF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2D8F22-3D28-2DF0-6531-67F0A1ED59F4}"/>
              </a:ext>
            </a:extLst>
          </p:cNvPr>
          <p:cNvSpPr/>
          <p:nvPr/>
        </p:nvSpPr>
        <p:spPr>
          <a:xfrm>
            <a:off x="4321629" y="587829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B21F2-5781-4C72-F4E6-8B4CC2C24332}"/>
              </a:ext>
            </a:extLst>
          </p:cNvPr>
          <p:cNvSpPr/>
          <p:nvPr/>
        </p:nvSpPr>
        <p:spPr>
          <a:xfrm>
            <a:off x="4321627" y="211880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FrontEnd</a:t>
            </a:r>
            <a:r>
              <a:rPr lang="en-US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B8DDE-5664-1C35-2B07-AA629C105147}"/>
              </a:ext>
            </a:extLst>
          </p:cNvPr>
          <p:cNvSpPr/>
          <p:nvPr/>
        </p:nvSpPr>
        <p:spPr>
          <a:xfrm>
            <a:off x="4321628" y="398383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 (Node App)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7F5E0A9-F9E4-0391-ED80-668D3F3554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063813" y="1712543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79F0BA-A461-9077-349D-5EF33483108E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896784" y="3410544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3B3F8F-1DC7-7F09-DCDC-93E972CE97D5}"/>
              </a:ext>
            </a:extLst>
          </p:cNvPr>
          <p:cNvSpPr txBox="1"/>
          <p:nvPr/>
        </p:nvSpPr>
        <p:spPr>
          <a:xfrm>
            <a:off x="3766457" y="3429000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Request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510B-C385-636E-C6C0-5D8662672145}"/>
              </a:ext>
            </a:extLst>
          </p:cNvPr>
          <p:cNvSpPr txBox="1"/>
          <p:nvPr/>
        </p:nvSpPr>
        <p:spPr>
          <a:xfrm>
            <a:off x="5834742" y="3429000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Includes Cookies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B0F118-B727-12F3-B7E8-DFA3E4D8060C}"/>
              </a:ext>
            </a:extLst>
          </p:cNvPr>
          <p:cNvSpPr/>
          <p:nvPr/>
        </p:nvSpPr>
        <p:spPr>
          <a:xfrm>
            <a:off x="8077199" y="2189390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Cookie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DE11782-A359-2D5A-103E-BA61AC9997A4}"/>
              </a:ext>
            </a:extLst>
          </p:cNvPr>
          <p:cNvCxnSpPr>
            <a:stCxn id="5" idx="3"/>
            <a:endCxn id="14" idx="1"/>
          </p:cNvCxnSpPr>
          <p:nvPr/>
        </p:nvCxnSpPr>
        <p:spPr>
          <a:xfrm>
            <a:off x="6618512" y="2478031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5B555A0-2745-B513-08FD-CCDEF49FF496}"/>
              </a:ext>
            </a:extLst>
          </p:cNvPr>
          <p:cNvCxnSpPr>
            <a:stCxn id="6" idx="3"/>
            <a:endCxn id="14" idx="2"/>
          </p:cNvCxnSpPr>
          <p:nvPr/>
        </p:nvCxnSpPr>
        <p:spPr>
          <a:xfrm flipV="1">
            <a:off x="6618513" y="2907847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334225-E1E6-0A62-4E79-1975397BECDC}"/>
              </a:ext>
            </a:extLst>
          </p:cNvPr>
          <p:cNvSpPr txBox="1"/>
          <p:nvPr/>
        </p:nvSpPr>
        <p:spPr>
          <a:xfrm>
            <a:off x="7478482" y="4332957"/>
            <a:ext cx="1959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Header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03EBB-6D09-3173-EF98-AC92000AEA47}"/>
              </a:ext>
            </a:extLst>
          </p:cNvPr>
          <p:cNvSpPr txBox="1"/>
          <p:nvPr/>
        </p:nvSpPr>
        <p:spPr>
          <a:xfrm>
            <a:off x="8088083" y="1433054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Cookies are stored on the client-side</a:t>
            </a:r>
          </a:p>
        </p:txBody>
      </p:sp>
    </p:spTree>
    <p:extLst>
      <p:ext uri="{BB962C8B-B14F-4D97-AF65-F5344CB8AC3E}">
        <p14:creationId xmlns:p14="http://schemas.microsoft.com/office/powerpoint/2010/main" val="419418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E4E20-6891-DC39-BD77-5422A3D0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C4F1D-B57E-5088-3954-51790BD7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the Request Driven Login Solution</a:t>
            </a:r>
          </a:p>
          <a:p>
            <a:r>
              <a:rPr lang="en-US" dirty="0"/>
              <a:t>Setting a Cookie</a:t>
            </a:r>
          </a:p>
          <a:p>
            <a:r>
              <a:rPr lang="en-US" dirty="0"/>
              <a:t>Manipulating Cookies</a:t>
            </a:r>
          </a:p>
          <a:p>
            <a:r>
              <a:rPr lang="en-US" dirty="0"/>
              <a:t>Configuring Cookies</a:t>
            </a:r>
          </a:p>
        </p:txBody>
      </p:sp>
    </p:spTree>
    <p:extLst>
      <p:ext uri="{BB962C8B-B14F-4D97-AF65-F5344CB8AC3E}">
        <p14:creationId xmlns:p14="http://schemas.microsoft.com/office/powerpoint/2010/main" val="2199180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3857-B8E1-838C-545F-79B5063C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3FDBC-122F-90B3-84FC-C70E316D012B}"/>
              </a:ext>
            </a:extLst>
          </p:cNvPr>
          <p:cNvSpPr/>
          <p:nvPr/>
        </p:nvSpPr>
        <p:spPr>
          <a:xfrm>
            <a:off x="3609248" y="1523494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1D1B07-E0DA-720C-253B-350FEE9217FC}"/>
              </a:ext>
            </a:extLst>
          </p:cNvPr>
          <p:cNvSpPr/>
          <p:nvPr/>
        </p:nvSpPr>
        <p:spPr>
          <a:xfrm>
            <a:off x="3609246" y="305446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FrontEnd</a:t>
            </a:r>
            <a:r>
              <a:rPr lang="en-US" b="1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497810-F5D5-9591-8CCE-F12C09527B6F}"/>
              </a:ext>
            </a:extLst>
          </p:cNvPr>
          <p:cNvSpPr/>
          <p:nvPr/>
        </p:nvSpPr>
        <p:spPr>
          <a:xfrm>
            <a:off x="3609247" y="491949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Server (Node App)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7CA0F5F-12F1-86E1-5D28-909F20943637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351432" y="2648208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18741003-FA61-262C-7E71-3F2C6759B81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184403" y="4346209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FA7DFB-8FF7-745C-4B67-19C929162854}"/>
              </a:ext>
            </a:extLst>
          </p:cNvPr>
          <p:cNvSpPr txBox="1"/>
          <p:nvPr/>
        </p:nvSpPr>
        <p:spPr>
          <a:xfrm>
            <a:off x="3054076" y="4364665"/>
            <a:ext cx="1054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504FB-EE53-17EF-BD60-1F6B9CD500BF}"/>
              </a:ext>
            </a:extLst>
          </p:cNvPr>
          <p:cNvSpPr txBox="1"/>
          <p:nvPr/>
        </p:nvSpPr>
        <p:spPr>
          <a:xfrm>
            <a:off x="5451754" y="4289668"/>
            <a:ext cx="2296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Sessions are stored on the server-side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1B4AF5-2E29-BBBD-B25C-0BD85F914055}"/>
              </a:ext>
            </a:extLst>
          </p:cNvPr>
          <p:cNvSpPr/>
          <p:nvPr/>
        </p:nvSpPr>
        <p:spPr>
          <a:xfrm>
            <a:off x="7364818" y="3125055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Cookie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94A36F4-05CA-2DCC-15AF-9C4C94551F35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06131" y="3413696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D2EB1F83-9306-A486-F837-E06EEE86DDF3}"/>
              </a:ext>
            </a:extLst>
          </p:cNvPr>
          <p:cNvCxnSpPr>
            <a:stCxn id="6" idx="3"/>
            <a:endCxn id="11" idx="2"/>
          </p:cNvCxnSpPr>
          <p:nvPr/>
        </p:nvCxnSpPr>
        <p:spPr>
          <a:xfrm flipV="1">
            <a:off x="5906132" y="3843512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3D1BF9-C608-7D7B-B3D5-1D1E58A2033F}"/>
              </a:ext>
            </a:extLst>
          </p:cNvPr>
          <p:cNvSpPr txBox="1"/>
          <p:nvPr/>
        </p:nvSpPr>
        <p:spPr>
          <a:xfrm>
            <a:off x="6766101" y="5268622"/>
            <a:ext cx="20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Response Header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72AB3-5C54-AC74-1313-ED510CC7E6FE}"/>
              </a:ext>
            </a:extLst>
          </p:cNvPr>
          <p:cNvSpPr txBox="1"/>
          <p:nvPr/>
        </p:nvSpPr>
        <p:spPr>
          <a:xfrm>
            <a:off x="7375702" y="2368719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Cookies are stored on the client-side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D904A3-FBD5-7452-86D5-B91789F41F36}"/>
              </a:ext>
            </a:extLst>
          </p:cNvPr>
          <p:cNvSpPr/>
          <p:nvPr/>
        </p:nvSpPr>
        <p:spPr>
          <a:xfrm>
            <a:off x="7521395" y="4677017"/>
            <a:ext cx="2636874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EC9A4C-99A2-F314-0E54-2B77E3A5D0A1}"/>
              </a:ext>
            </a:extLst>
          </p:cNvPr>
          <p:cNvSpPr/>
          <p:nvPr/>
        </p:nvSpPr>
        <p:spPr>
          <a:xfrm>
            <a:off x="3609246" y="6262577"/>
            <a:ext cx="2132335" cy="4890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3B5B5B36-A25D-8267-684F-E5FE822822FC}"/>
              </a:ext>
            </a:extLst>
          </p:cNvPr>
          <p:cNvCxnSpPr>
            <a:stCxn id="6" idx="2"/>
            <a:endCxn id="17" idx="0"/>
          </p:cNvCxnSpPr>
          <p:nvPr/>
        </p:nvCxnSpPr>
        <p:spPr>
          <a:xfrm rot="5400000">
            <a:off x="4404241" y="5909127"/>
            <a:ext cx="624623" cy="8227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7B2037E-3806-B655-9400-85BC6AEAF62E}"/>
              </a:ext>
            </a:extLst>
          </p:cNvPr>
          <p:cNvCxnSpPr>
            <a:stCxn id="16" idx="2"/>
            <a:endCxn id="17" idx="3"/>
          </p:cNvCxnSpPr>
          <p:nvPr/>
        </p:nvCxnSpPr>
        <p:spPr>
          <a:xfrm rot="5400000">
            <a:off x="6699946" y="4367239"/>
            <a:ext cx="1181523" cy="30982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4501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18299-4863-5EA1-F0EC-B306ED6C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534DC-4177-35FC-D95B-DA3EE557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Initializing the Session Middleware</a:t>
            </a:r>
          </a:p>
          <a:p>
            <a:r>
              <a:rPr lang="en-US" dirty="0"/>
              <a:t>Using MongoDB to store Sessions</a:t>
            </a:r>
          </a:p>
          <a:p>
            <a:r>
              <a:rPr lang="en-US" dirty="0"/>
              <a:t>Deleting a Cookie</a:t>
            </a:r>
          </a:p>
        </p:txBody>
      </p:sp>
    </p:spTree>
    <p:extLst>
      <p:ext uri="{BB962C8B-B14F-4D97-AF65-F5344CB8AC3E}">
        <p14:creationId xmlns:p14="http://schemas.microsoft.com/office/powerpoint/2010/main" val="17606752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EA8DC-794E-5304-7022-B34B7B556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037" y="255181"/>
            <a:ext cx="10949763" cy="592178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Cookies</a:t>
            </a:r>
          </a:p>
          <a:p>
            <a:r>
              <a:rPr lang="en-US" dirty="0"/>
              <a:t>Great for storing data on the client (browser)</a:t>
            </a:r>
          </a:p>
          <a:p>
            <a:r>
              <a:rPr lang="en-US" dirty="0"/>
              <a:t>Do NOT store sensitive data here! It can be </a:t>
            </a:r>
            <a:r>
              <a:rPr lang="en-US" dirty="0" err="1"/>
              <a:t>viewed+manipulated</a:t>
            </a:r>
            <a:endParaRPr lang="en-US" dirty="0"/>
          </a:p>
          <a:p>
            <a:r>
              <a:rPr lang="en-US" dirty="0"/>
              <a:t>Cookies can be configured to expire when the browser is closed or when a certain date is reached</a:t>
            </a:r>
          </a:p>
          <a:p>
            <a:r>
              <a:rPr lang="en-US" dirty="0"/>
              <a:t>Works well together with Sessions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Sessions</a:t>
            </a:r>
          </a:p>
          <a:p>
            <a:r>
              <a:rPr lang="en-US" dirty="0"/>
              <a:t>Stored on the server, NOT on the client</a:t>
            </a:r>
          </a:p>
          <a:p>
            <a:r>
              <a:rPr lang="en-US" dirty="0"/>
              <a:t>Great for storing sensitive data that should survive across requests</a:t>
            </a:r>
          </a:p>
          <a:p>
            <a:r>
              <a:rPr lang="en-US" dirty="0"/>
              <a:t>You can store ANYTHING in sessions</a:t>
            </a:r>
          </a:p>
          <a:p>
            <a:r>
              <a:rPr lang="en-US" dirty="0"/>
              <a:t>Often used for storing user data/ authentication status</a:t>
            </a:r>
          </a:p>
          <a:p>
            <a:r>
              <a:rPr lang="en-US" dirty="0"/>
              <a:t>Identified via Cookie </a:t>
            </a:r>
          </a:p>
          <a:p>
            <a:r>
              <a:rPr lang="en-US" dirty="0"/>
              <a:t>You can use different storages for saving your sessions on the server</a:t>
            </a:r>
          </a:p>
        </p:txBody>
      </p:sp>
    </p:spTree>
    <p:extLst>
      <p:ext uri="{BB962C8B-B14F-4D97-AF65-F5344CB8AC3E}">
        <p14:creationId xmlns:p14="http://schemas.microsoft.com/office/powerpoint/2010/main" val="17722185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407D1-A557-35FF-7698-00F907C2A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Authentication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829C2A-AC4C-1BD7-2263-4BC2AC1A9A0D}"/>
              </a:ext>
            </a:extLst>
          </p:cNvPr>
          <p:cNvSpPr/>
          <p:nvPr/>
        </p:nvSpPr>
        <p:spPr>
          <a:xfrm>
            <a:off x="4061637" y="1403498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131EFF-4404-325E-821D-2209C756E62A}"/>
              </a:ext>
            </a:extLst>
          </p:cNvPr>
          <p:cNvSpPr/>
          <p:nvPr/>
        </p:nvSpPr>
        <p:spPr>
          <a:xfrm>
            <a:off x="1205023" y="2934586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View all products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D964C2-02A4-6482-B3F3-17DDDB0D841C}"/>
              </a:ext>
            </a:extLst>
          </p:cNvPr>
          <p:cNvSpPr/>
          <p:nvPr/>
        </p:nvSpPr>
        <p:spPr>
          <a:xfrm>
            <a:off x="4867939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&amp; Manage Products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6C3D19-540C-7319-8700-769D9DDEFB66}"/>
              </a:ext>
            </a:extLst>
          </p:cNvPr>
          <p:cNvSpPr/>
          <p:nvPr/>
        </p:nvSpPr>
        <p:spPr>
          <a:xfrm>
            <a:off x="8530855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 Orders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C39337-4E36-53C2-DA25-1132011AF8A3}"/>
              </a:ext>
            </a:extLst>
          </p:cNvPr>
          <p:cNvSpPr/>
          <p:nvPr/>
        </p:nvSpPr>
        <p:spPr>
          <a:xfrm>
            <a:off x="3863162" y="4508204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0539E-BA0A-99E3-A013-37F6243D1CDD}"/>
              </a:ext>
            </a:extLst>
          </p:cNvPr>
          <p:cNvSpPr/>
          <p:nvPr/>
        </p:nvSpPr>
        <p:spPr>
          <a:xfrm>
            <a:off x="3781646" y="5773367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7E5BC40-2C06-B5B9-EAED-F8F43B3ADEDE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5400000">
            <a:off x="3590261" y="1235149"/>
            <a:ext cx="542260" cy="28566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5FBA3B2-E674-FE36-FF98-2F9A0BE4675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16200000" flipH="1">
            <a:off x="5411087" y="2270937"/>
            <a:ext cx="563525" cy="80630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BB49207E-9F09-FC90-35E1-78257B9DDF53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16200000" flipH="1">
            <a:off x="7242545" y="439479"/>
            <a:ext cx="563525" cy="44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6DC3B6E-38D2-F923-600A-33F22C48FDA9}"/>
              </a:ext>
            </a:extLst>
          </p:cNvPr>
          <p:cNvSpPr/>
          <p:nvPr/>
        </p:nvSpPr>
        <p:spPr>
          <a:xfrm>
            <a:off x="4582633" y="2551814"/>
            <a:ext cx="6847367" cy="1818167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D0D7B-FFFA-A89E-F51D-49FFB4BFC7FD}"/>
              </a:ext>
            </a:extLst>
          </p:cNvPr>
          <p:cNvSpPr txBox="1"/>
          <p:nvPr/>
        </p:nvSpPr>
        <p:spPr>
          <a:xfrm>
            <a:off x="1350335" y="4125433"/>
            <a:ext cx="1751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 to anyone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EBCA3E-C9E5-F02E-8EE5-6D9734A0A934}"/>
              </a:ext>
            </a:extLst>
          </p:cNvPr>
          <p:cNvSpPr txBox="1"/>
          <p:nvPr/>
        </p:nvSpPr>
        <p:spPr>
          <a:xfrm>
            <a:off x="7021033" y="3972664"/>
            <a:ext cx="3397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available to logged-in users</a:t>
            </a:r>
          </a:p>
        </p:txBody>
      </p:sp>
    </p:spTree>
    <p:extLst>
      <p:ext uri="{BB962C8B-B14F-4D97-AF65-F5344CB8AC3E}">
        <p14:creationId xmlns:p14="http://schemas.microsoft.com/office/powerpoint/2010/main" val="35011834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6396-AFF1-B870-465F-6268D6EC0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FBD8F-2C5E-5D39-A133-C396E9C6D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an Authentication Flow</a:t>
            </a:r>
          </a:p>
          <a:p>
            <a:r>
              <a:rPr lang="en-US" dirty="0"/>
              <a:t>Working on Route Protection</a:t>
            </a:r>
          </a:p>
          <a:p>
            <a:r>
              <a:rPr lang="en-US" dirty="0"/>
              <a:t>Using Middleware to Protect routes</a:t>
            </a:r>
          </a:p>
          <a:p>
            <a:r>
              <a:rPr lang="en-US" dirty="0"/>
              <a:t>CSRF Attacks – Cross-Site Request Forgery</a:t>
            </a:r>
          </a:p>
          <a:p>
            <a:r>
              <a:rPr lang="en-US" dirty="0" err="1"/>
              <a:t>Airtel.com</a:t>
            </a:r>
            <a:r>
              <a:rPr lang="en-US" dirty="0"/>
              <a:t> </a:t>
            </a:r>
            <a:r>
              <a:rPr lang="en-US" dirty="0" err="1"/>
              <a:t>Aiitel.com</a:t>
            </a:r>
            <a:r>
              <a:rPr lang="en-US" dirty="0"/>
              <a:t> (send money to C)</a:t>
            </a:r>
          </a:p>
          <a:p>
            <a:r>
              <a:rPr lang="en-US" dirty="0"/>
              <a:t>Fixing Order Button</a:t>
            </a:r>
          </a:p>
          <a:p>
            <a:r>
              <a:rPr lang="en-US" dirty="0"/>
              <a:t>Providing user Feedback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6092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17B49-C1A4-2445-2122-51CE02CBD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51465-F8BD-9353-5C02-ABA927E94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Authentication</a:t>
            </a:r>
          </a:p>
          <a:p>
            <a:pPr lvl="1"/>
            <a:r>
              <a:rPr lang="en-US" dirty="0"/>
              <a:t>Means that not every visitor f the page can view and interact with everything</a:t>
            </a:r>
          </a:p>
          <a:p>
            <a:pPr lvl="1"/>
            <a:r>
              <a:rPr lang="en-US" dirty="0"/>
              <a:t>Has to happen on the server-side and builds up on sessions</a:t>
            </a:r>
          </a:p>
          <a:p>
            <a:pPr lvl="1"/>
            <a:r>
              <a:rPr lang="en-US" dirty="0"/>
              <a:t>You can protect routes by checking the (session-controlled) login status right before you access a controller action</a:t>
            </a:r>
          </a:p>
          <a:p>
            <a:r>
              <a:rPr lang="en-US" dirty="0"/>
              <a:t>Security &amp; UX</a:t>
            </a:r>
          </a:p>
          <a:p>
            <a:pPr lvl="1"/>
            <a:r>
              <a:rPr lang="en-US" dirty="0"/>
              <a:t>Password should be stored in a hashed form</a:t>
            </a:r>
          </a:p>
          <a:p>
            <a:pPr lvl="1"/>
            <a:r>
              <a:rPr lang="en-US" dirty="0"/>
              <a:t>CSRF attacks are a real issue and you should therefore include CSRF protection in ANY application you build</a:t>
            </a:r>
          </a:p>
          <a:p>
            <a:pPr lvl="1"/>
            <a:r>
              <a:rPr lang="en-US" dirty="0"/>
              <a:t>For a better user experience, you can flash data/messages into the </a:t>
            </a:r>
            <a:r>
              <a:rPr lang="en-US"/>
              <a:t>session which you </a:t>
            </a:r>
            <a:r>
              <a:rPr lang="en-US" dirty="0"/>
              <a:t>then can display in your views.</a:t>
            </a:r>
          </a:p>
        </p:txBody>
      </p:sp>
    </p:spTree>
    <p:extLst>
      <p:ext uri="{BB962C8B-B14F-4D97-AF65-F5344CB8AC3E}">
        <p14:creationId xmlns:p14="http://schemas.microsoft.com/office/powerpoint/2010/main" val="3680482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9284-9788-5E7F-8AA9-38A99680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Authentication &amp; Authorization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D4787-9C09-4EF3-1377-17FCAAF51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Resetting Password</a:t>
            </a:r>
          </a:p>
          <a:p>
            <a:r>
              <a:rPr lang="en-US" dirty="0"/>
              <a:t>Implementing the token Logic</a:t>
            </a:r>
          </a:p>
          <a:p>
            <a:r>
              <a:rPr lang="en-US" dirty="0"/>
              <a:t>Creating the Token</a:t>
            </a:r>
          </a:p>
          <a:p>
            <a:r>
              <a:rPr lang="en-US" dirty="0"/>
              <a:t>Adding Logic to Update the Password</a:t>
            </a:r>
          </a:p>
          <a:p>
            <a:r>
              <a:rPr lang="en-US" dirty="0"/>
              <a:t>Adding Authorization</a:t>
            </a:r>
          </a:p>
        </p:txBody>
      </p:sp>
    </p:spTree>
    <p:extLst>
      <p:ext uri="{BB962C8B-B14F-4D97-AF65-F5344CB8AC3E}">
        <p14:creationId xmlns:p14="http://schemas.microsoft.com/office/powerpoint/2010/main" val="37569353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21906-0BA2-E095-CBD4-40136A9B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8DE17-B46C-F1F6-C828-073976A95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Password Resetting</a:t>
            </a:r>
          </a:p>
          <a:p>
            <a:pPr lvl="1"/>
            <a:r>
              <a:rPr lang="en-US" dirty="0"/>
              <a:t>Has to be implemented in a way that prevents users from resetting random user accounts</a:t>
            </a:r>
          </a:p>
          <a:p>
            <a:pPr lvl="1"/>
            <a:r>
              <a:rPr lang="en-US" dirty="0"/>
              <a:t>Reset tokens have to be random unguessable and unique</a:t>
            </a:r>
          </a:p>
          <a:p>
            <a:r>
              <a:rPr lang="en-US" dirty="0"/>
              <a:t>Authorization</a:t>
            </a:r>
          </a:p>
          <a:p>
            <a:pPr lvl="1"/>
            <a:r>
              <a:rPr lang="en-US" dirty="0"/>
              <a:t>An important part of pretty much every app</a:t>
            </a:r>
          </a:p>
          <a:p>
            <a:pPr lvl="1"/>
            <a:r>
              <a:rPr lang="en-US" dirty="0"/>
              <a:t>Not every authenticated user should be able to do everything</a:t>
            </a:r>
          </a:p>
          <a:p>
            <a:pPr lvl="1"/>
            <a:r>
              <a:rPr lang="en-US" dirty="0"/>
              <a:t>You want to lock down access be restricting the permissions of your users</a:t>
            </a:r>
          </a:p>
        </p:txBody>
      </p:sp>
    </p:spTree>
    <p:extLst>
      <p:ext uri="{BB962C8B-B14F-4D97-AF65-F5344CB8AC3E}">
        <p14:creationId xmlns:p14="http://schemas.microsoft.com/office/powerpoint/2010/main" val="29062437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FF4F9-2FCF-EE67-21B4-64DF3F51F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Forms, User Input &amp;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D81AC-CAA2-DE63-18F6-049A9E34A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Setup &amp; Basic Validation</a:t>
            </a:r>
          </a:p>
          <a:p>
            <a:r>
              <a:rPr lang="en-US" dirty="0"/>
              <a:t>Using Validation Error Messages</a:t>
            </a:r>
          </a:p>
          <a:p>
            <a:r>
              <a:rPr lang="en-US" dirty="0"/>
              <a:t>Built-In &amp; Custom Validators</a:t>
            </a:r>
          </a:p>
          <a:p>
            <a:r>
              <a:rPr lang="en-US" dirty="0"/>
              <a:t>More Validators</a:t>
            </a:r>
          </a:p>
          <a:p>
            <a:r>
              <a:rPr lang="en-US" dirty="0"/>
              <a:t>Checking for field equality</a:t>
            </a:r>
          </a:p>
          <a:p>
            <a:r>
              <a:rPr lang="en-US" dirty="0"/>
              <a:t>Adding async Validation</a:t>
            </a:r>
          </a:p>
          <a:p>
            <a:r>
              <a:rPr lang="en-US" dirty="0"/>
              <a:t>Keeping User Input</a:t>
            </a:r>
          </a:p>
          <a:p>
            <a:r>
              <a:rPr lang="en-US" dirty="0"/>
              <a:t>Adding Conditional CSS classes</a:t>
            </a:r>
          </a:p>
          <a:p>
            <a:r>
              <a:rPr lang="en-IN" dirty="0"/>
              <a:t>Sanitizers</a:t>
            </a:r>
          </a:p>
          <a:p>
            <a:r>
              <a:rPr lang="en-IN" dirty="0"/>
              <a:t>Validating Product Addition</a:t>
            </a:r>
          </a:p>
          <a:p>
            <a:r>
              <a:rPr lang="en-IN" dirty="0"/>
              <a:t>Validation Edit Addition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2985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9A072-334A-644B-BC33-D3A60FFD5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types of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58556-4B36-3FBD-53E6-2B7AFDECC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Technical/ Network Errors</a:t>
            </a:r>
          </a:p>
          <a:p>
            <a:pPr lvl="1"/>
            <a:r>
              <a:rPr lang="en-US" dirty="0"/>
              <a:t>E.g. : database server(MongoDB) is down.</a:t>
            </a:r>
          </a:p>
          <a:p>
            <a:pPr lvl="1"/>
            <a:r>
              <a:rPr lang="en-US" dirty="0"/>
              <a:t>Show error page to user</a:t>
            </a:r>
          </a:p>
          <a:p>
            <a:r>
              <a:rPr lang="en-US" dirty="0"/>
              <a:t>“Expected” Errors</a:t>
            </a:r>
          </a:p>
          <a:p>
            <a:pPr lvl="1"/>
            <a:r>
              <a:rPr lang="en-US" dirty="0"/>
              <a:t>E.g. : File can’t be read, database operation fails</a:t>
            </a:r>
          </a:p>
          <a:p>
            <a:pPr lvl="1"/>
            <a:r>
              <a:rPr lang="en-US" dirty="0"/>
              <a:t>Inform user, possibly retry</a:t>
            </a:r>
          </a:p>
          <a:p>
            <a:r>
              <a:rPr lang="en-US" dirty="0"/>
              <a:t>Bugs/Logical Errors</a:t>
            </a:r>
          </a:p>
          <a:p>
            <a:pPr lvl="1"/>
            <a:r>
              <a:rPr lang="en-US" dirty="0"/>
              <a:t>E.g.: User object used when it doesn’t exist</a:t>
            </a:r>
          </a:p>
          <a:p>
            <a:pPr lvl="1"/>
            <a:r>
              <a:rPr lang="en-US" dirty="0"/>
              <a:t>Fix during development</a:t>
            </a:r>
          </a:p>
        </p:txBody>
      </p:sp>
    </p:spTree>
    <p:extLst>
      <p:ext uri="{BB962C8B-B14F-4D97-AF65-F5344CB8AC3E}">
        <p14:creationId xmlns:p14="http://schemas.microsoft.com/office/powerpoint/2010/main" val="28697601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8C9F4-8AC0-C585-13A8-C2E644212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749136" cy="518102"/>
          </a:xfrm>
        </p:spPr>
        <p:txBody>
          <a:bodyPr>
            <a:normAutofit fontScale="90000"/>
          </a:bodyPr>
          <a:lstStyle/>
          <a:p>
            <a:r>
              <a:rPr lang="en-US" dirty="0"/>
              <a:t>Errors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EE036B-CE5E-68D3-D58F-AF0461065621}"/>
              </a:ext>
            </a:extLst>
          </p:cNvPr>
          <p:cNvSpPr/>
          <p:nvPr/>
        </p:nvSpPr>
        <p:spPr>
          <a:xfrm>
            <a:off x="519545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is thrown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699185-024F-90A5-D153-733DBD5B3FF4}"/>
              </a:ext>
            </a:extLst>
          </p:cNvPr>
          <p:cNvSpPr/>
          <p:nvPr/>
        </p:nvSpPr>
        <p:spPr>
          <a:xfrm>
            <a:off x="6553200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error is thrown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84034-B3DC-2B5A-9DD8-6583DB35545D}"/>
              </a:ext>
            </a:extLst>
          </p:cNvPr>
          <p:cNvSpPr/>
          <p:nvPr/>
        </p:nvSpPr>
        <p:spPr>
          <a:xfrm>
            <a:off x="519545" y="2545772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Synchronous Code:</a:t>
            </a:r>
          </a:p>
          <a:p>
            <a:pPr algn="ctr"/>
            <a:r>
              <a:rPr lang="en-US" dirty="0"/>
              <a:t>Try-catch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6599C2-5FD3-4984-669D-7D8D971F2631}"/>
              </a:ext>
            </a:extLst>
          </p:cNvPr>
          <p:cNvSpPr/>
          <p:nvPr/>
        </p:nvSpPr>
        <p:spPr>
          <a:xfrm>
            <a:off x="3096491" y="2545772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Asynchronous Code:</a:t>
            </a:r>
          </a:p>
          <a:p>
            <a:pPr algn="ctr"/>
            <a:r>
              <a:rPr lang="en-US" dirty="0"/>
              <a:t>Then()-catch()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A653E3C7-C998-28DB-AA54-35EFBF56F2A5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5400000">
            <a:off x="2010642" y="1584613"/>
            <a:ext cx="550717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76302D63-B5DC-037A-401B-95437F171EC8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16200000" flipH="1">
            <a:off x="3340678" y="1626176"/>
            <a:ext cx="550717" cy="12884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EB253-753C-9E65-955F-845EE7DD8BE5}"/>
              </a:ext>
            </a:extLst>
          </p:cNvPr>
          <p:cNvSpPr/>
          <p:nvPr/>
        </p:nvSpPr>
        <p:spPr>
          <a:xfrm>
            <a:off x="519545" y="3782291"/>
            <a:ext cx="5119256" cy="2909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33F5EE-F38B-B4DD-43DB-FD80C7C7727A}"/>
              </a:ext>
            </a:extLst>
          </p:cNvPr>
          <p:cNvSpPr/>
          <p:nvPr/>
        </p:nvSpPr>
        <p:spPr>
          <a:xfrm>
            <a:off x="5195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3683F6-1E9D-7434-72AD-A2173B60CAA1}"/>
              </a:ext>
            </a:extLst>
          </p:cNvPr>
          <p:cNvSpPr/>
          <p:nvPr/>
        </p:nvSpPr>
        <p:spPr>
          <a:xfrm>
            <a:off x="32627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Express error handling function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4BC178C-C4F7-EE69-B7F6-279E1E105ED1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rot="16200000" flipH="1">
            <a:off x="2163041" y="2866158"/>
            <a:ext cx="353291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32A11612-5CB8-3BF5-8BD9-91473C67A457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5400000">
            <a:off x="3493078" y="3015095"/>
            <a:ext cx="353291" cy="11811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0ACA801-C423-FA2B-CCE2-78F8AD1D40F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rot="5400000">
            <a:off x="2107624" y="3565813"/>
            <a:ext cx="464127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093A25B9-B77F-7D3E-3C61-888AEF288A06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 rot="16200000" flipH="1">
            <a:off x="3479223" y="3673185"/>
            <a:ext cx="464127" cy="126422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E997CDE-5F52-BDA0-AB86-0EB39B229707}"/>
              </a:ext>
            </a:extLst>
          </p:cNvPr>
          <p:cNvSpPr/>
          <p:nvPr/>
        </p:nvSpPr>
        <p:spPr>
          <a:xfrm>
            <a:off x="7841673" y="2545770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Validate values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24DB90B-022C-0A2D-305B-3C3A6138116E}"/>
              </a:ext>
            </a:extLst>
          </p:cNvPr>
          <p:cNvSpPr/>
          <p:nvPr/>
        </p:nvSpPr>
        <p:spPr>
          <a:xfrm>
            <a:off x="65532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Throw error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17280D-57B7-2476-79CE-1401F556AC9C}"/>
              </a:ext>
            </a:extLst>
          </p:cNvPr>
          <p:cNvSpPr/>
          <p:nvPr/>
        </p:nvSpPr>
        <p:spPr>
          <a:xfrm>
            <a:off x="92964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31E7DB72-CA1A-D724-511E-E070F7FECCE0}"/>
              </a:ext>
            </a:extLst>
          </p:cNvPr>
          <p:cNvCxnSpPr>
            <a:stCxn id="5" idx="2"/>
            <a:endCxn id="23" idx="0"/>
          </p:cNvCxnSpPr>
          <p:nvPr/>
        </p:nvCxnSpPr>
        <p:spPr>
          <a:xfrm rot="5400000">
            <a:off x="8730098" y="2270412"/>
            <a:ext cx="550715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7B6FA689-2F58-251F-D2FD-044037259329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77654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5EBC8AF-68DD-697B-B687-B98494BD2E59}"/>
              </a:ext>
            </a:extLst>
          </p:cNvPr>
          <p:cNvCxnSpPr>
            <a:stCxn id="23" idx="2"/>
            <a:endCxn id="25" idx="0"/>
          </p:cNvCxnSpPr>
          <p:nvPr/>
        </p:nvCxnSpPr>
        <p:spPr>
          <a:xfrm rot="16200000" flipH="1">
            <a:off x="91370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EE0CA03-9353-197A-5DA6-DC4AAA949BE8}"/>
              </a:ext>
            </a:extLst>
          </p:cNvPr>
          <p:cNvSpPr/>
          <p:nvPr/>
        </p:nvSpPr>
        <p:spPr>
          <a:xfrm>
            <a:off x="249382" y="5942155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Page (e.g. 500 pages)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B4852AC-8DD4-19EC-1CEF-D591C49EB3BA}"/>
              </a:ext>
            </a:extLst>
          </p:cNvPr>
          <p:cNvSpPr/>
          <p:nvPr/>
        </p:nvSpPr>
        <p:spPr>
          <a:xfrm>
            <a:off x="4114799" y="5942154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Intended Page with error information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178A794-B0BB-AF36-AD3B-4D54F13E837B}"/>
              </a:ext>
            </a:extLst>
          </p:cNvPr>
          <p:cNvSpPr/>
          <p:nvPr/>
        </p:nvSpPr>
        <p:spPr>
          <a:xfrm>
            <a:off x="8404514" y="5942153"/>
            <a:ext cx="2275610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Redirect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3B2D5C-6D71-9820-E18B-D805B8B1B3AA}"/>
              </a:ext>
            </a:extLst>
          </p:cNvPr>
          <p:cNvSpPr/>
          <p:nvPr/>
        </p:nvSpPr>
        <p:spPr>
          <a:xfrm>
            <a:off x="155864" y="5756564"/>
            <a:ext cx="11118272" cy="935181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8737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02166-211E-DD83-AA42-2C2DE1CF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0D2B-BDEC-A86F-F6A2-21171AA0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Errors some Theory</a:t>
            </a:r>
          </a:p>
          <a:p>
            <a:r>
              <a:rPr lang="en-US" dirty="0"/>
              <a:t>Returning error message</a:t>
            </a:r>
          </a:p>
          <a:p>
            <a:r>
              <a:rPr lang="en-US" dirty="0"/>
              <a:t>Returning error pages</a:t>
            </a:r>
          </a:p>
          <a:p>
            <a:r>
              <a:rPr lang="en-US" dirty="0"/>
              <a:t>Using the Express.js Error Handling Middleware</a:t>
            </a:r>
          </a:p>
          <a:p>
            <a:r>
              <a:rPr lang="en-US" dirty="0"/>
              <a:t>Updating our App</a:t>
            </a:r>
          </a:p>
        </p:txBody>
      </p:sp>
    </p:spTree>
    <p:extLst>
      <p:ext uri="{BB962C8B-B14F-4D97-AF65-F5344CB8AC3E}">
        <p14:creationId xmlns:p14="http://schemas.microsoft.com/office/powerpoint/2010/main" val="12496769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81F45-F791-78A5-B6C9-D6EF9062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Errors &amp; Http Response Codes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68064E5-D592-EC68-61E1-160ED7B31D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4001461"/>
              </p:ext>
            </p:extLst>
          </p:nvPr>
        </p:nvGraphicFramePr>
        <p:xfrm>
          <a:off x="838200" y="1825625"/>
          <a:ext cx="10207335" cy="4091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2445">
                  <a:extLst>
                    <a:ext uri="{9D8B030D-6E8A-4147-A177-3AD203B41FA5}">
                      <a16:colId xmlns:a16="http://schemas.microsoft.com/office/drawing/2014/main" val="825293176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684483145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1179618007"/>
                    </a:ext>
                  </a:extLst>
                </a:gridCol>
              </a:tblGrid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2xx(Success)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Operation Succeeded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5557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Success, resource created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4843132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3xx(Redirect)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Moved permanently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168809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4xx(Client-side error)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authenticated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44616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authorized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543633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found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923479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Invalid input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25516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5xx(Server-side errors)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Server-side error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338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5836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B0E7C-AD6B-DDEB-864C-C386F261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35A4F-D5C4-8C53-8493-873143033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Types of Errors &amp; Handling errors</a:t>
            </a:r>
          </a:p>
          <a:p>
            <a:pPr lvl="1"/>
            <a:r>
              <a:rPr lang="en-US" dirty="0"/>
              <a:t>Differentiate b/w different types of errors – technical errors and expected errors</a:t>
            </a:r>
          </a:p>
          <a:p>
            <a:pPr lvl="1"/>
            <a:r>
              <a:rPr lang="en-US" dirty="0"/>
              <a:t>Error handling can be done with custom if-checks, try-catch, then()-catch() etc.</a:t>
            </a:r>
          </a:p>
          <a:p>
            <a:pPr lvl="1"/>
            <a:r>
              <a:rPr lang="en-US" dirty="0"/>
              <a:t>You can use the Express error handling middleware to handle all unhandled errors</a:t>
            </a:r>
          </a:p>
          <a:p>
            <a:r>
              <a:rPr lang="en-US" dirty="0"/>
              <a:t>Errors &amp; Status Code</a:t>
            </a:r>
          </a:p>
          <a:p>
            <a:pPr lvl="1"/>
            <a:r>
              <a:rPr lang="en-US" dirty="0"/>
              <a:t>When returning responses, it can make sense to also set an appropriate Http status code- this lets the browser know what went wrong</a:t>
            </a:r>
          </a:p>
          <a:p>
            <a:pPr lvl="1"/>
            <a:r>
              <a:rPr lang="en-US" dirty="0"/>
              <a:t>Success (2xx), redirect (3xx), client-side errors (4xx) and server-side errors (5xx) code to choose from</a:t>
            </a:r>
          </a:p>
          <a:p>
            <a:pPr lvl="1"/>
            <a:r>
              <a:rPr lang="en-US" dirty="0"/>
              <a:t>Setting status codes does NOT mean that the response is incomplete or the app crashed!</a:t>
            </a:r>
          </a:p>
        </p:txBody>
      </p:sp>
    </p:spTree>
    <p:extLst>
      <p:ext uri="{BB962C8B-B14F-4D97-AF65-F5344CB8AC3E}">
        <p14:creationId xmlns:p14="http://schemas.microsoft.com/office/powerpoint/2010/main" val="29516228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BC8A5-496A-EAB0-9784-8DFF708EC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upload and Download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73B02-7582-73A6-181F-28C818FEE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Adding a file picker to the frontend</a:t>
            </a:r>
          </a:p>
          <a:p>
            <a:r>
              <a:rPr lang="en-US" dirty="0"/>
              <a:t>Handling multipart form data</a:t>
            </a:r>
          </a:p>
          <a:p>
            <a:r>
              <a:rPr lang="en-US" dirty="0"/>
              <a:t>Configuring Multer to adjust filename &amp; </a:t>
            </a:r>
            <a:r>
              <a:rPr lang="en-US" dirty="0" err="1"/>
              <a:t>filepath</a:t>
            </a:r>
            <a:endParaRPr lang="en-US" dirty="0"/>
          </a:p>
          <a:p>
            <a:r>
              <a:rPr lang="en-US" dirty="0"/>
              <a:t>Filtering files by </a:t>
            </a:r>
            <a:r>
              <a:rPr lang="en-US" dirty="0" err="1"/>
              <a:t>minetype</a:t>
            </a:r>
            <a:endParaRPr lang="en-US" dirty="0"/>
          </a:p>
          <a:p>
            <a:r>
              <a:rPr lang="en-US" dirty="0"/>
              <a:t>Storing file data in the database</a:t>
            </a:r>
          </a:p>
          <a:p>
            <a:r>
              <a:rPr lang="en-US" dirty="0"/>
              <a:t>Serving images statically</a:t>
            </a:r>
          </a:p>
          <a:p>
            <a:r>
              <a:rPr lang="en-US" dirty="0"/>
              <a:t>Downloading files with authentication</a:t>
            </a:r>
          </a:p>
          <a:p>
            <a:r>
              <a:rPr lang="en-US" dirty="0"/>
              <a:t>Setting file type Headers</a:t>
            </a:r>
          </a:p>
          <a:p>
            <a:r>
              <a:rPr lang="en-US" dirty="0"/>
              <a:t>Restricting File Access</a:t>
            </a:r>
          </a:p>
          <a:p>
            <a:r>
              <a:rPr lang="en-US" dirty="0"/>
              <a:t>Streaming Data vs Preloading Data</a:t>
            </a:r>
          </a:p>
          <a:p>
            <a:r>
              <a:rPr lang="en-US" dirty="0"/>
              <a:t>.pdf Generation using </a:t>
            </a:r>
            <a:r>
              <a:rPr lang="en-US" dirty="0" err="1"/>
              <a:t>PDFkit</a:t>
            </a:r>
            <a:endParaRPr lang="en-US" dirty="0"/>
          </a:p>
          <a:p>
            <a:r>
              <a:rPr lang="en-US" dirty="0"/>
              <a:t>Generating .pdf files with Order Data</a:t>
            </a:r>
          </a:p>
          <a:p>
            <a:r>
              <a:rPr lang="en-US" dirty="0"/>
              <a:t>Deleting Files</a:t>
            </a:r>
          </a:p>
        </p:txBody>
      </p:sp>
    </p:spTree>
    <p:extLst>
      <p:ext uri="{BB962C8B-B14F-4D97-AF65-F5344CB8AC3E}">
        <p14:creationId xmlns:p14="http://schemas.microsoft.com/office/powerpoint/2010/main" val="184903009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74BEA-0430-2340-1B20-780A1166E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Pagination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02395-2B8C-7B15-5379-6A9899C9D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Fetching Data in Chunks</a:t>
            </a:r>
          </a:p>
        </p:txBody>
      </p:sp>
    </p:spTree>
    <p:extLst>
      <p:ext uri="{BB962C8B-B14F-4D97-AF65-F5344CB8AC3E}">
        <p14:creationId xmlns:p14="http://schemas.microsoft.com/office/powerpoint/2010/main" val="7993919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E7C99-79E5-0F99-F4B3-8667B0CB1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6D45C-721B-822E-70F9-2AD7437A9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pagination links</a:t>
            </a:r>
          </a:p>
          <a:p>
            <a:r>
              <a:rPr lang="en-US" dirty="0"/>
              <a:t>Retrieving a Chunk of Data</a:t>
            </a:r>
          </a:p>
          <a:p>
            <a:r>
              <a:rPr lang="en-US" dirty="0"/>
              <a:t>Preparing pagination data on the server</a:t>
            </a:r>
          </a:p>
          <a:p>
            <a:r>
              <a:rPr lang="en-US" dirty="0"/>
              <a:t>Adding Dynamic Pagination Buttons</a:t>
            </a:r>
          </a:p>
          <a:p>
            <a:r>
              <a:rPr lang="en-US" dirty="0"/>
              <a:t>Re-Using the Pagination Logic </a:t>
            </a:r>
            <a:r>
              <a:rPr lang="en-US"/>
              <a:t>&amp; Controls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10186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72AFE-0699-6634-EAA9-9FBC25E6B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E1444-E191-7916-8A6A-689221F3ED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client Side JS Code</a:t>
            </a:r>
          </a:p>
          <a:p>
            <a:r>
              <a:rPr lang="en-US" dirty="0"/>
              <a:t>Sending &amp; handling background requests</a:t>
            </a:r>
          </a:p>
          <a:p>
            <a:r>
              <a:rPr lang="en-US" dirty="0"/>
              <a:t>Manipulating the DOM</a:t>
            </a:r>
          </a:p>
        </p:txBody>
      </p:sp>
    </p:spTree>
    <p:extLst>
      <p:ext uri="{BB962C8B-B14F-4D97-AF65-F5344CB8AC3E}">
        <p14:creationId xmlns:p14="http://schemas.microsoft.com/office/powerpoint/2010/main" val="308426618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2E713-E0EF-0C77-292F-BB195D479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Payments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8D2EB-2F14-FDFD-9C5C-26916BF51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Payment Process</a:t>
            </a:r>
          </a:p>
          <a:p>
            <a:pPr lvl="1"/>
            <a:r>
              <a:rPr lang="en-US" dirty="0"/>
              <a:t>Collect Payment Method</a:t>
            </a:r>
          </a:p>
          <a:p>
            <a:pPr lvl="1"/>
            <a:r>
              <a:rPr lang="en-US" dirty="0"/>
              <a:t>Verify Payment Method</a:t>
            </a:r>
          </a:p>
          <a:p>
            <a:pPr lvl="1"/>
            <a:r>
              <a:rPr lang="en-US" dirty="0"/>
              <a:t>Charge Payment Method</a:t>
            </a:r>
          </a:p>
          <a:p>
            <a:pPr lvl="1"/>
            <a:r>
              <a:rPr lang="en-US" dirty="0"/>
              <a:t>Manage Payments</a:t>
            </a:r>
          </a:p>
          <a:p>
            <a:pPr lvl="1"/>
            <a:r>
              <a:rPr lang="en-US" dirty="0"/>
              <a:t>Process Order in App</a:t>
            </a:r>
          </a:p>
          <a:p>
            <a:r>
              <a:rPr lang="en-US" dirty="0"/>
              <a:t>Stripe</a:t>
            </a:r>
          </a:p>
          <a:p>
            <a:pPr lvl="1"/>
            <a:r>
              <a:rPr lang="en-US" dirty="0"/>
              <a:t>Adding a checkout page</a:t>
            </a:r>
          </a:p>
          <a:p>
            <a:pPr lvl="1"/>
            <a:r>
              <a:rPr lang="en-US" dirty="0"/>
              <a:t>Using Stripe in your app</a:t>
            </a:r>
          </a:p>
        </p:txBody>
      </p:sp>
    </p:spTree>
    <p:extLst>
      <p:ext uri="{BB962C8B-B14F-4D97-AF65-F5344CB8AC3E}">
        <p14:creationId xmlns:p14="http://schemas.microsoft.com/office/powerpoint/2010/main" val="3253197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B8E00-1CE3-8D1F-8B10-B186FF2AD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5512-B31D-16C3-2189-444875B95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Decoupling Frontend and Backend</a:t>
            </a:r>
          </a:p>
        </p:txBody>
      </p:sp>
    </p:spTree>
    <p:extLst>
      <p:ext uri="{BB962C8B-B14F-4D97-AF65-F5344CB8AC3E}">
        <p14:creationId xmlns:p14="http://schemas.microsoft.com/office/powerpoint/2010/main" val="378018540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99B5E-2E10-F638-5591-18F9609A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Re</a:t>
            </a:r>
            <a:r>
              <a:rPr lang="en-US" dirty="0"/>
              <a:t>presentational </a:t>
            </a:r>
            <a:r>
              <a:rPr lang="en-US" dirty="0">
                <a:solidFill>
                  <a:srgbClr val="FF0000"/>
                </a:solidFill>
              </a:rPr>
              <a:t>S</a:t>
            </a:r>
            <a:r>
              <a:rPr lang="en-US" dirty="0"/>
              <a:t>tate </a:t>
            </a:r>
            <a:r>
              <a:rPr lang="en-US" dirty="0">
                <a:solidFill>
                  <a:srgbClr val="FF0000"/>
                </a:solidFill>
              </a:rPr>
              <a:t>T</a:t>
            </a:r>
            <a:r>
              <a:rPr lang="en-US" dirty="0"/>
              <a:t>ransfer 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A26CE-F26C-A00A-692C-E9DE6AA45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different kind of Response is Needed</a:t>
            </a:r>
          </a:p>
          <a:p>
            <a:r>
              <a:rPr lang="en-US" dirty="0"/>
              <a:t>Transfer Data instead of User Interfaces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33141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1A256-870E-CA15-DFF5-8C2AD8B1F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 Big Picture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491A03-7E38-DC23-E65A-CD515945327E}"/>
              </a:ext>
            </a:extLst>
          </p:cNvPr>
          <p:cNvSpPr/>
          <p:nvPr/>
        </p:nvSpPr>
        <p:spPr>
          <a:xfrm>
            <a:off x="4094018" y="1485900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1E850B-7E96-D5A9-A8BA-DB89FB224EE7}"/>
              </a:ext>
            </a:extLst>
          </p:cNvPr>
          <p:cNvSpPr/>
          <p:nvPr/>
        </p:nvSpPr>
        <p:spPr>
          <a:xfrm>
            <a:off x="838200" y="4873335"/>
            <a:ext cx="3002972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Mobile App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E5656C-A613-DD83-406C-78BDCBB65032}"/>
              </a:ext>
            </a:extLst>
          </p:cNvPr>
          <p:cNvSpPr/>
          <p:nvPr/>
        </p:nvSpPr>
        <p:spPr>
          <a:xfrm>
            <a:off x="8350828" y="4873335"/>
            <a:ext cx="3002972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Any App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7589C5-1022-85A7-546A-81FBC8A171CE}"/>
              </a:ext>
            </a:extLst>
          </p:cNvPr>
          <p:cNvSpPr/>
          <p:nvPr/>
        </p:nvSpPr>
        <p:spPr>
          <a:xfrm>
            <a:off x="4881129" y="4873335"/>
            <a:ext cx="2076450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B527EB-944F-CEE1-48A2-393340F9C5D8}"/>
              </a:ext>
            </a:extLst>
          </p:cNvPr>
          <p:cNvSpPr/>
          <p:nvPr/>
        </p:nvSpPr>
        <p:spPr>
          <a:xfrm>
            <a:off x="4094018" y="5784273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A119F0-F654-819F-6EA8-2A41FE060568}"/>
              </a:ext>
            </a:extLst>
          </p:cNvPr>
          <p:cNvSpPr/>
          <p:nvPr/>
        </p:nvSpPr>
        <p:spPr>
          <a:xfrm>
            <a:off x="1149927" y="2183822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 Backend API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7A7491-0030-00C8-F1FA-C7B4CA360FD2}"/>
              </a:ext>
            </a:extLst>
          </p:cNvPr>
          <p:cNvSpPr/>
          <p:nvPr/>
        </p:nvSpPr>
        <p:spPr>
          <a:xfrm>
            <a:off x="6698673" y="2183821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Service API</a:t>
            </a:r>
          </a:p>
        </p:txBody>
      </p:sp>
      <p:sp>
        <p:nvSpPr>
          <p:cNvPr id="11" name="Up Arrow 10">
            <a:extLst>
              <a:ext uri="{FF2B5EF4-FFF2-40B4-BE49-F238E27FC236}">
                <a16:creationId xmlns:a16="http://schemas.microsoft.com/office/drawing/2014/main" id="{9E9E9191-E5B2-94D7-281A-06C95C6C34FA}"/>
              </a:ext>
            </a:extLst>
          </p:cNvPr>
          <p:cNvSpPr/>
          <p:nvPr/>
        </p:nvSpPr>
        <p:spPr>
          <a:xfrm>
            <a:off x="1943100" y="3252355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81361498-177F-3ABC-28F8-433E6F7C8456}"/>
              </a:ext>
            </a:extLst>
          </p:cNvPr>
          <p:cNvSpPr/>
          <p:nvPr/>
        </p:nvSpPr>
        <p:spPr>
          <a:xfrm>
            <a:off x="2802081" y="3283527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>
            <a:extLst>
              <a:ext uri="{FF2B5EF4-FFF2-40B4-BE49-F238E27FC236}">
                <a16:creationId xmlns:a16="http://schemas.microsoft.com/office/drawing/2014/main" id="{358D78A8-FF88-9EFA-7C3D-4DD1CD62E4A6}"/>
              </a:ext>
            </a:extLst>
          </p:cNvPr>
          <p:cNvSpPr/>
          <p:nvPr/>
        </p:nvSpPr>
        <p:spPr>
          <a:xfrm>
            <a:off x="5025737" y="3316431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5E745650-748E-D388-E2B3-F8843D2DEE49}"/>
              </a:ext>
            </a:extLst>
          </p:cNvPr>
          <p:cNvSpPr/>
          <p:nvPr/>
        </p:nvSpPr>
        <p:spPr>
          <a:xfrm>
            <a:off x="5884718" y="3347603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Up Arrow 14">
            <a:extLst>
              <a:ext uri="{FF2B5EF4-FFF2-40B4-BE49-F238E27FC236}">
                <a16:creationId xmlns:a16="http://schemas.microsoft.com/office/drawing/2014/main" id="{815137B8-907A-A15B-0B96-14F1F6BB862D}"/>
              </a:ext>
            </a:extLst>
          </p:cNvPr>
          <p:cNvSpPr/>
          <p:nvPr/>
        </p:nvSpPr>
        <p:spPr>
          <a:xfrm>
            <a:off x="8745682" y="3316431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6AFC3B49-B8EB-F1D2-6F23-0CE47E372C5E}"/>
              </a:ext>
            </a:extLst>
          </p:cNvPr>
          <p:cNvSpPr/>
          <p:nvPr/>
        </p:nvSpPr>
        <p:spPr>
          <a:xfrm>
            <a:off x="9604663" y="3347603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BB2E7C-054B-A17B-7EDF-615181F273CC}"/>
              </a:ext>
            </a:extLst>
          </p:cNvPr>
          <p:cNvSpPr/>
          <p:nvPr/>
        </p:nvSpPr>
        <p:spPr>
          <a:xfrm>
            <a:off x="221672" y="3522518"/>
            <a:ext cx="1409701" cy="10806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ONLY the DATA, not UI</a:t>
            </a:r>
          </a:p>
        </p:txBody>
      </p:sp>
    </p:spTree>
    <p:extLst>
      <p:ext uri="{BB962C8B-B14F-4D97-AF65-F5344CB8AC3E}">
        <p14:creationId xmlns:p14="http://schemas.microsoft.com/office/powerpoint/2010/main" val="14246617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04157-ED1C-FC1F-083B-ABA5B6B59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Data Formats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010A48-076C-6A9F-247C-F387DA9E0FFC}"/>
              </a:ext>
            </a:extLst>
          </p:cNvPr>
          <p:cNvSpPr/>
          <p:nvPr/>
        </p:nvSpPr>
        <p:spPr>
          <a:xfrm>
            <a:off x="464127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0FB6C1-58B8-7454-3320-CDE1796F7A0A}"/>
              </a:ext>
            </a:extLst>
          </p:cNvPr>
          <p:cNvSpPr/>
          <p:nvPr/>
        </p:nvSpPr>
        <p:spPr>
          <a:xfrm>
            <a:off x="3307773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Plain Text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8CFD9A-1098-F55B-BBAE-E6DDAE297D71}"/>
              </a:ext>
            </a:extLst>
          </p:cNvPr>
          <p:cNvSpPr/>
          <p:nvPr/>
        </p:nvSpPr>
        <p:spPr>
          <a:xfrm>
            <a:off x="6369628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XML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41A21E-06B9-DBB7-920C-2A145987817B}"/>
              </a:ext>
            </a:extLst>
          </p:cNvPr>
          <p:cNvSpPr/>
          <p:nvPr/>
        </p:nvSpPr>
        <p:spPr>
          <a:xfrm>
            <a:off x="9680864" y="1399741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27CE16-C437-7AE8-C157-1613DB5FAE9E}"/>
              </a:ext>
            </a:extLst>
          </p:cNvPr>
          <p:cNvSpPr/>
          <p:nvPr/>
        </p:nvSpPr>
        <p:spPr>
          <a:xfrm>
            <a:off x="464127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&lt;p&gt;Node.js&lt;/p&gt;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63CDD5-BDE8-4754-98D6-C8C9DD71263C}"/>
              </a:ext>
            </a:extLst>
          </p:cNvPr>
          <p:cNvSpPr/>
          <p:nvPr/>
        </p:nvSpPr>
        <p:spPr>
          <a:xfrm>
            <a:off x="3307773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AC2BCC-8ADA-C242-D81C-EBB0419EE0B4}"/>
              </a:ext>
            </a:extLst>
          </p:cNvPr>
          <p:cNvSpPr/>
          <p:nvPr/>
        </p:nvSpPr>
        <p:spPr>
          <a:xfrm>
            <a:off x="6369628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&lt;name&gt;Node.js&lt;/name&gt;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E5AEF8-30CE-C616-8E17-E8A86A44312B}"/>
              </a:ext>
            </a:extLst>
          </p:cNvPr>
          <p:cNvSpPr/>
          <p:nvPr/>
        </p:nvSpPr>
        <p:spPr>
          <a:xfrm>
            <a:off x="9680864" y="214341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 “title” : ’Node.js’ 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CA0169-7935-5428-9C1D-6E76E6FD0E8D}"/>
              </a:ext>
            </a:extLst>
          </p:cNvPr>
          <p:cNvSpPr/>
          <p:nvPr/>
        </p:nvSpPr>
        <p:spPr>
          <a:xfrm>
            <a:off x="464127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+ Structure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E9B90F-6419-CE95-33D3-FB8651968F02}"/>
              </a:ext>
            </a:extLst>
          </p:cNvPr>
          <p:cNvSpPr/>
          <p:nvPr/>
        </p:nvSpPr>
        <p:spPr>
          <a:xfrm>
            <a:off x="3307773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1EFDF0-00CB-2BFD-4DA4-DAEA74B1163D}"/>
              </a:ext>
            </a:extLst>
          </p:cNvPr>
          <p:cNvSpPr/>
          <p:nvPr/>
        </p:nvSpPr>
        <p:spPr>
          <a:xfrm>
            <a:off x="6369628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EBEBC4-97BD-DE47-3F76-97220B4D7754}"/>
              </a:ext>
            </a:extLst>
          </p:cNvPr>
          <p:cNvSpPr/>
          <p:nvPr/>
        </p:nvSpPr>
        <p:spPr>
          <a:xfrm>
            <a:off x="9680864" y="313805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539A40-4E6B-F4AA-B9DF-76BE296E000C}"/>
              </a:ext>
            </a:extLst>
          </p:cNvPr>
          <p:cNvSpPr/>
          <p:nvPr/>
        </p:nvSpPr>
        <p:spPr>
          <a:xfrm>
            <a:off x="464127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Contains User Interface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29318F-8F86-CBE0-3381-FEFEBECF6D5A}"/>
              </a:ext>
            </a:extLst>
          </p:cNvPr>
          <p:cNvSpPr/>
          <p:nvPr/>
        </p:nvSpPr>
        <p:spPr>
          <a:xfrm>
            <a:off x="3307773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47FB85A-38ED-1AC0-072D-3F2B56169A95}"/>
              </a:ext>
            </a:extLst>
          </p:cNvPr>
          <p:cNvSpPr/>
          <p:nvPr/>
        </p:nvSpPr>
        <p:spPr>
          <a:xfrm>
            <a:off x="6369628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87095C-508F-6C8A-3696-A3BCF49D669E}"/>
              </a:ext>
            </a:extLst>
          </p:cNvPr>
          <p:cNvSpPr/>
          <p:nvPr/>
        </p:nvSpPr>
        <p:spPr>
          <a:xfrm>
            <a:off x="9680864" y="4378468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C9F050-2C5E-D4B8-B8F5-EA0C7D796483}"/>
              </a:ext>
            </a:extLst>
          </p:cNvPr>
          <p:cNvSpPr/>
          <p:nvPr/>
        </p:nvSpPr>
        <p:spPr>
          <a:xfrm>
            <a:off x="464127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Unnecessarily difficult to parse if you just need the data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4A488E4-A2BE-F743-0F63-78FA3766512A}"/>
              </a:ext>
            </a:extLst>
          </p:cNvPr>
          <p:cNvSpPr/>
          <p:nvPr/>
        </p:nvSpPr>
        <p:spPr>
          <a:xfrm>
            <a:off x="3307773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Unnecessarily difficult to parse, no clear data structure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4E255A-2362-D0E8-F3FE-89F3550ED60A}"/>
              </a:ext>
            </a:extLst>
          </p:cNvPr>
          <p:cNvSpPr/>
          <p:nvPr/>
        </p:nvSpPr>
        <p:spPr>
          <a:xfrm>
            <a:off x="6369628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Machine-readable but relatively verbose; XML-parser needed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CD8C83-BF0D-B35B-E17C-5E878F94D6D3}"/>
              </a:ext>
            </a:extLst>
          </p:cNvPr>
          <p:cNvSpPr/>
          <p:nvPr/>
        </p:nvSpPr>
        <p:spPr>
          <a:xfrm>
            <a:off x="9680864" y="5327936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Machine-readable and concise; can easily be converted to JavaScript</a:t>
            </a:r>
          </a:p>
        </p:txBody>
      </p:sp>
    </p:spTree>
    <p:extLst>
      <p:ext uri="{BB962C8B-B14F-4D97-AF65-F5344CB8AC3E}">
        <p14:creationId xmlns:p14="http://schemas.microsoft.com/office/powerpoint/2010/main" val="65366449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5D1EC-6FED-78E4-8206-90519FB3E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0E98C-84B1-CBDE-9B08-804E2A01F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– Get a Resource from the Server</a:t>
            </a:r>
          </a:p>
          <a:p>
            <a:r>
              <a:rPr lang="en-US" dirty="0"/>
              <a:t>POST – Post a Resource to the Server (i.e. create or append Resource)</a:t>
            </a:r>
          </a:p>
          <a:p>
            <a:r>
              <a:rPr lang="en-US" dirty="0"/>
              <a:t>DELETE – Delete a Resource on the Server</a:t>
            </a:r>
          </a:p>
          <a:p>
            <a:r>
              <a:rPr lang="en-US" dirty="0"/>
              <a:t>PUT – put a Resource on to the server (overwrite)</a:t>
            </a:r>
          </a:p>
          <a:p>
            <a:r>
              <a:rPr lang="en-US" dirty="0"/>
              <a:t>PATCH – update parts of an existing Resource on the Server</a:t>
            </a:r>
          </a:p>
          <a:p>
            <a:r>
              <a:rPr lang="en-US" dirty="0"/>
              <a:t>OPTIONS – Determine whether follow-up Request is allowed (sent automatically)</a:t>
            </a:r>
          </a:p>
        </p:txBody>
      </p:sp>
    </p:spTree>
    <p:extLst>
      <p:ext uri="{BB962C8B-B14F-4D97-AF65-F5344CB8AC3E}">
        <p14:creationId xmlns:p14="http://schemas.microsoft.com/office/powerpoint/2010/main" val="397779889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7E06B-15A8-55AF-EED2-EE1F92E4A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Concepts &amp;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6D4CB-1B23-95CB-1F4B-FD749A5B5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REST APIs are all about data, no UI logic is exchanged</a:t>
            </a:r>
          </a:p>
          <a:p>
            <a:r>
              <a:rPr lang="en-US" dirty="0"/>
              <a:t>Are normal Node servers which expose different endpoints (</a:t>
            </a:r>
            <a:r>
              <a:rPr lang="en-US" dirty="0" err="1"/>
              <a:t>Htt</a:t>
            </a:r>
            <a:r>
              <a:rPr lang="en-US" dirty="0"/>
              <a:t> method + path) for clients to end requests.</a:t>
            </a:r>
          </a:p>
          <a:p>
            <a:r>
              <a:rPr lang="en-US" dirty="0"/>
              <a:t> JSON is the common data format that is used both for requests and responses</a:t>
            </a:r>
          </a:p>
          <a:p>
            <a:r>
              <a:rPr lang="en-US" dirty="0"/>
              <a:t>REST APIs are decoupled from the clients that use them</a:t>
            </a:r>
          </a:p>
        </p:txBody>
      </p:sp>
    </p:spTree>
    <p:extLst>
      <p:ext uri="{BB962C8B-B14F-4D97-AF65-F5344CB8AC3E}">
        <p14:creationId xmlns:p14="http://schemas.microsoft.com/office/powerpoint/2010/main" val="187755856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2350A-F7A9-E618-8E3A-F4A996343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Requests &amp; Responses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DDD9A-5579-B8C4-A943-07E63E7C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Attach data in JSON format and let the other end know by setting the ‘Content-Type’ header</a:t>
            </a:r>
          </a:p>
          <a:p>
            <a:r>
              <a:rPr lang="en-US" dirty="0"/>
              <a:t>CORS errors occur when using an API that does not set CORS headers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08636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13BE1-CEED-82E0-45E3-B16952EB3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DBC82-7823-9DE5-E3ED-19CB23749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Uniform interface – Clearly defined API endpoints with clearly defined request + response data structure</a:t>
            </a:r>
          </a:p>
          <a:p>
            <a:r>
              <a:rPr lang="en-US" dirty="0"/>
              <a:t>Stateless interactions – Server and client don’t store any connection history, every request is handled separately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36281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6C6DC-1C48-9571-3571-0EAFF5F83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75C7D-7D98-F60C-BA2A-9B10916B6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Creating our REST API Project &amp; implementing the Route Setup</a:t>
            </a:r>
          </a:p>
          <a:p>
            <a:r>
              <a:rPr lang="en-US" dirty="0"/>
              <a:t>Sending Requests &amp; Responses Working with Postman</a:t>
            </a:r>
          </a:p>
          <a:p>
            <a:r>
              <a:rPr lang="en-US" dirty="0"/>
              <a:t>REST API, Clients &amp; CORS Errors</a:t>
            </a:r>
          </a:p>
        </p:txBody>
      </p:sp>
    </p:spTree>
    <p:extLst>
      <p:ext uri="{BB962C8B-B14F-4D97-AF65-F5344CB8AC3E}">
        <p14:creationId xmlns:p14="http://schemas.microsoft.com/office/powerpoint/2010/main" val="42396779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2754A-B50A-8325-E52F-0CCBF0F9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0E82D-FC17-DF67-6AE1-511115799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Cross-Origin Resource Sharing</a:t>
            </a:r>
          </a:p>
          <a:p>
            <a:r>
              <a:rPr lang="en-US" dirty="0"/>
              <a:t>Sending Post Requests</a:t>
            </a:r>
          </a:p>
        </p:txBody>
      </p:sp>
    </p:spTree>
    <p:extLst>
      <p:ext uri="{BB962C8B-B14F-4D97-AF65-F5344CB8AC3E}">
        <p14:creationId xmlns:p14="http://schemas.microsoft.com/office/powerpoint/2010/main" val="323892616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21741-891D-2346-B517-4DC3D6991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REST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71F9B-33F6-8AB3-0C47-C1A74271F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Planning a REST API</a:t>
            </a:r>
          </a:p>
          <a:p>
            <a:r>
              <a:rPr lang="en-US" dirty="0"/>
              <a:t>CRUD Operations &amp; Endpoints</a:t>
            </a:r>
          </a:p>
          <a:p>
            <a:r>
              <a:rPr lang="en-US" dirty="0"/>
              <a:t>Validation</a:t>
            </a:r>
          </a:p>
          <a:p>
            <a:r>
              <a:rPr lang="en-US" dirty="0"/>
              <a:t>Image Upload</a:t>
            </a:r>
          </a:p>
          <a:p>
            <a:r>
              <a:rPr lang="en-US" dirty="0"/>
              <a:t>Authentication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5936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27297-C481-E91B-A141-8D74310BC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8097982" cy="315912"/>
          </a:xfrm>
        </p:spPr>
        <p:txBody>
          <a:bodyPr>
            <a:normAutofit fontScale="90000"/>
          </a:bodyPr>
          <a:lstStyle/>
          <a:p>
            <a:r>
              <a:rPr lang="en-US" dirty="0"/>
              <a:t>REST &amp; the Rest of the Course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940211-2EB9-01DB-FACD-BBF3B6DFA760}"/>
              </a:ext>
            </a:extLst>
          </p:cNvPr>
          <p:cNvSpPr/>
          <p:nvPr/>
        </p:nvSpPr>
        <p:spPr>
          <a:xfrm>
            <a:off x="405245" y="96635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 + Express App Setup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4DEF2C-B3E6-48BF-3961-814EA40B5474}"/>
              </a:ext>
            </a:extLst>
          </p:cNvPr>
          <p:cNvSpPr/>
          <p:nvPr/>
        </p:nvSpPr>
        <p:spPr>
          <a:xfrm>
            <a:off x="405245" y="164652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Routing / Endpoints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7190C0-6B7E-9F70-1926-16E1161E3B80}"/>
              </a:ext>
            </a:extLst>
          </p:cNvPr>
          <p:cNvSpPr/>
          <p:nvPr/>
        </p:nvSpPr>
        <p:spPr>
          <a:xfrm>
            <a:off x="405244" y="2326699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Handling Requests &amp; Responses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31ADDD-5C9C-F4CA-E3A6-6126DFCBD534}"/>
              </a:ext>
            </a:extLst>
          </p:cNvPr>
          <p:cNvSpPr/>
          <p:nvPr/>
        </p:nvSpPr>
        <p:spPr>
          <a:xfrm>
            <a:off x="405243" y="3006871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 Validation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309AE-238F-66A4-4B31-DC2F73EF2692}"/>
              </a:ext>
            </a:extLst>
          </p:cNvPr>
          <p:cNvSpPr/>
          <p:nvPr/>
        </p:nvSpPr>
        <p:spPr>
          <a:xfrm>
            <a:off x="405243" y="3687043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 Communication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4584A2-3FEF-C753-8D12-DA86B2057B82}"/>
              </a:ext>
            </a:extLst>
          </p:cNvPr>
          <p:cNvSpPr/>
          <p:nvPr/>
        </p:nvSpPr>
        <p:spPr>
          <a:xfrm>
            <a:off x="405242" y="436721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Files, Uploads, Downloads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8462ED-ACAD-487F-6502-FCA714889A59}"/>
              </a:ext>
            </a:extLst>
          </p:cNvPr>
          <p:cNvSpPr/>
          <p:nvPr/>
        </p:nvSpPr>
        <p:spPr>
          <a:xfrm>
            <a:off x="405242" y="504738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Sessions &amp; Cookies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2564DF-A8C3-BEAC-A92B-9371B3B50037}"/>
              </a:ext>
            </a:extLst>
          </p:cNvPr>
          <p:cNvSpPr/>
          <p:nvPr/>
        </p:nvSpPr>
        <p:spPr>
          <a:xfrm>
            <a:off x="405242" y="5727559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Authentication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F49BDA-0A6E-E777-1486-3C16179F3783}"/>
              </a:ext>
            </a:extLst>
          </p:cNvPr>
          <p:cNvSpPr/>
          <p:nvPr/>
        </p:nvSpPr>
        <p:spPr>
          <a:xfrm>
            <a:off x="6636327" y="96635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E6CECE-85A8-3900-083C-DAFDA2A3DC3D}"/>
              </a:ext>
            </a:extLst>
          </p:cNvPr>
          <p:cNvSpPr/>
          <p:nvPr/>
        </p:nvSpPr>
        <p:spPr>
          <a:xfrm>
            <a:off x="6636327" y="164652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real changes, more Http methods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4BF705-0819-468F-55CB-F9F17A04B2E7}"/>
              </a:ext>
            </a:extLst>
          </p:cNvPr>
          <p:cNvSpPr/>
          <p:nvPr/>
        </p:nvSpPr>
        <p:spPr>
          <a:xfrm>
            <a:off x="6636326" y="2326699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Parse + Send JSON Data, no Views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86FBD9-6875-9539-41E8-9BB3D0FDBBAC}"/>
              </a:ext>
            </a:extLst>
          </p:cNvPr>
          <p:cNvSpPr/>
          <p:nvPr/>
        </p:nvSpPr>
        <p:spPr>
          <a:xfrm>
            <a:off x="6636325" y="3006871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254B6E-B7AE-50EE-D6A5-DE03CDBDA5DC}"/>
              </a:ext>
            </a:extLst>
          </p:cNvPr>
          <p:cNvSpPr/>
          <p:nvPr/>
        </p:nvSpPr>
        <p:spPr>
          <a:xfrm>
            <a:off x="6636325" y="3687043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3B1DCB-41D2-947F-8A65-EA3A7A887997}"/>
              </a:ext>
            </a:extLst>
          </p:cNvPr>
          <p:cNvSpPr/>
          <p:nvPr/>
        </p:nvSpPr>
        <p:spPr>
          <a:xfrm>
            <a:off x="6636324" y="436721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 (only on client – side)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55E372-54E9-B178-200F-01A34842E356}"/>
              </a:ext>
            </a:extLst>
          </p:cNvPr>
          <p:cNvSpPr/>
          <p:nvPr/>
        </p:nvSpPr>
        <p:spPr>
          <a:xfrm>
            <a:off x="6636324" y="5047387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Session &amp; Cookies Usage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02D0D5-1C9E-D459-5552-16B8BFE64F4D}"/>
              </a:ext>
            </a:extLst>
          </p:cNvPr>
          <p:cNvSpPr/>
          <p:nvPr/>
        </p:nvSpPr>
        <p:spPr>
          <a:xfrm>
            <a:off x="6636324" y="5727559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Authentication Approach</a:t>
            </a:r>
          </a:p>
        </p:txBody>
      </p:sp>
    </p:spTree>
    <p:extLst>
      <p:ext uri="{BB962C8B-B14F-4D97-AF65-F5344CB8AC3E}">
        <p14:creationId xmlns:p14="http://schemas.microsoft.com/office/powerpoint/2010/main" val="125537321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C673F-9FB1-C7B4-4BB6-AB22384B4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464" y="166255"/>
            <a:ext cx="10969336" cy="6010708"/>
          </a:xfrm>
        </p:spPr>
        <p:txBody>
          <a:bodyPr numCol="2"/>
          <a:lstStyle/>
          <a:p>
            <a:r>
              <a:rPr lang="en-US" dirty="0"/>
              <a:t>Fetching Lists of Posts</a:t>
            </a:r>
          </a:p>
          <a:p>
            <a:r>
              <a:rPr lang="en-US" dirty="0"/>
              <a:t>Adding a create post endpoint</a:t>
            </a:r>
          </a:p>
          <a:p>
            <a:r>
              <a:rPr lang="en-US" dirty="0"/>
              <a:t>Adding Server Side Validation</a:t>
            </a:r>
          </a:p>
          <a:p>
            <a:r>
              <a:rPr lang="en-US" dirty="0"/>
              <a:t>Setting up a Post Model</a:t>
            </a:r>
          </a:p>
          <a:p>
            <a:r>
              <a:rPr lang="en-US" dirty="0"/>
              <a:t>Storing Posts in the database</a:t>
            </a:r>
          </a:p>
          <a:p>
            <a:r>
              <a:rPr lang="en-US" dirty="0"/>
              <a:t>Static Images &amp; Errors Handling</a:t>
            </a:r>
          </a:p>
          <a:p>
            <a:r>
              <a:rPr lang="en-US" dirty="0"/>
              <a:t>Fetching a single post</a:t>
            </a:r>
          </a:p>
          <a:p>
            <a:r>
              <a:rPr lang="en-US" dirty="0"/>
              <a:t>Uploading image</a:t>
            </a:r>
          </a:p>
          <a:p>
            <a:r>
              <a:rPr lang="en-US" dirty="0"/>
              <a:t>Updating Posts</a:t>
            </a:r>
          </a:p>
          <a:p>
            <a:r>
              <a:rPr lang="en-US" dirty="0"/>
              <a:t>Delete Posts</a:t>
            </a:r>
          </a:p>
          <a:p>
            <a:r>
              <a:rPr lang="en-US" dirty="0"/>
              <a:t>Adding Pagination</a:t>
            </a:r>
          </a:p>
          <a:p>
            <a:r>
              <a:rPr lang="en-US" dirty="0"/>
              <a:t>Adding a User Modal</a:t>
            </a:r>
          </a:p>
          <a:p>
            <a:r>
              <a:rPr lang="en-US" dirty="0"/>
              <a:t>Adding user signup validation</a:t>
            </a:r>
          </a:p>
          <a:p>
            <a:r>
              <a:rPr lang="en-US" dirty="0"/>
              <a:t>Signing </a:t>
            </a:r>
            <a:r>
              <a:rPr lang="en-US"/>
              <a:t>User Password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4895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31338</TotalTime>
  <Words>3667</Words>
  <Application>Microsoft Macintosh PowerPoint</Application>
  <PresentationFormat>Widescreen</PresentationFormat>
  <Paragraphs>735</Paragraphs>
  <Slides>85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89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Intro</vt:lpstr>
      <vt:lpstr>Course Outline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  <vt:lpstr>Session &amp; Cookies</vt:lpstr>
      <vt:lpstr>Cookie</vt:lpstr>
      <vt:lpstr>PowerPoint Presentation</vt:lpstr>
      <vt:lpstr>Session</vt:lpstr>
      <vt:lpstr>Session</vt:lpstr>
      <vt:lpstr>PowerPoint Presentation</vt:lpstr>
      <vt:lpstr>User Authentication</vt:lpstr>
      <vt:lpstr>PowerPoint Presentation</vt:lpstr>
      <vt:lpstr>PowerPoint Presentation</vt:lpstr>
      <vt:lpstr>Advanced Authentication &amp; Authorization</vt:lpstr>
      <vt:lpstr>PowerPoint Presentation</vt:lpstr>
      <vt:lpstr>Forms, User Input &amp; Validation</vt:lpstr>
      <vt:lpstr>Different types of Errors</vt:lpstr>
      <vt:lpstr>Errors</vt:lpstr>
      <vt:lpstr>PowerPoint Presentation</vt:lpstr>
      <vt:lpstr>Errors &amp; Http Response Codes</vt:lpstr>
      <vt:lpstr>PowerPoint Presentation</vt:lpstr>
      <vt:lpstr>File upload and Download</vt:lpstr>
      <vt:lpstr>Pagination</vt:lpstr>
      <vt:lpstr>PowerPoint Presentation</vt:lpstr>
      <vt:lpstr>Async Request</vt:lpstr>
      <vt:lpstr>Adding Payments</vt:lpstr>
      <vt:lpstr>REST APIs</vt:lpstr>
      <vt:lpstr>Representational State Transfer REST</vt:lpstr>
      <vt:lpstr>REST API Big Picture</vt:lpstr>
      <vt:lpstr>Data Formats</vt:lpstr>
      <vt:lpstr>http Methods</vt:lpstr>
      <vt:lpstr>Rest Concepts &amp; Ideas</vt:lpstr>
      <vt:lpstr>Requests &amp; Responses</vt:lpstr>
      <vt:lpstr>REST Principles</vt:lpstr>
      <vt:lpstr>PowerPoint Presentation</vt:lpstr>
      <vt:lpstr>CORS?</vt:lpstr>
      <vt:lpstr>Advanced REST API</vt:lpstr>
      <vt:lpstr>REST &amp; the Rest of the Course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133</cp:revision>
  <dcterms:created xsi:type="dcterms:W3CDTF">2025-11-04T10:55:41Z</dcterms:created>
  <dcterms:modified xsi:type="dcterms:W3CDTF">2026-02-26T12:59:21Z</dcterms:modified>
</cp:coreProperties>
</file>