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0" r:id="rId5"/>
    <p:sldId id="259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9" r:id="rId24"/>
    <p:sldId id="280" r:id="rId25"/>
    <p:sldId id="278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433"/>
    <p:restoredTop sz="94667"/>
  </p:normalViewPr>
  <p:slideViewPr>
    <p:cSldViewPr snapToGrid="0">
      <p:cViewPr varScale="1">
        <p:scale>
          <a:sx n="123" d="100"/>
          <a:sy n="123" d="100"/>
        </p:scale>
        <p:origin x="192" y="6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E0DB51-6D75-C5F7-D6B6-006BBF4E3F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CB29DC-307C-5C3F-60D5-1C91C88745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737A5B-4A6B-07ED-D1FE-2F726326E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17F330-573D-5332-7BF5-124D95BA5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9FDEDA-94F9-0FE0-B698-222EF7F1A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6441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BED47-5C07-22E0-DCC6-C86F8C501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1796D5-CF25-0AEF-2478-5DD094B1AC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812E6C-4CB6-8074-BE04-82253F107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69FF9C-BB59-B5FC-4DBA-FA5D1319A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8BE49-3FC5-F872-FBC8-E09CF9A65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0145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2DB423-63FF-ACA6-B06A-5671F9957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98F72A-A31F-0415-B271-84B3570509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138BD8-92E7-9CB3-F4AA-F0D4CCEDB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049CA8-AD78-FCD5-C074-ED1278D40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B28AB8-F396-A944-B1C4-D9A9768AC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4474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BE9EE-3E85-20BF-E99D-7E5A5AA04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A4EC2A-18DE-1791-4B46-945336B8CA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5894E0-1A90-E514-FDCE-E8A417A9C9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6831FF-02D8-445A-9D56-7D54FACEE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242527-97B8-E9E7-DFF2-1826EE3F0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B79502-76D8-4134-D77B-C36F7E206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032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75023-3D20-5336-1598-AAEA582D97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8BCA03-E81D-5FDD-D3CA-ED65B4C3B8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E849C6-7A40-97A2-EC0A-7870F1C587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CF1C54B-7D6A-7063-60CB-18B969488E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30B219-7582-6CAE-38B6-62E9F21CE6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4EB537A-5B92-9340-A5F7-BED076F49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1/28/26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AE06E9D-0841-409A-B771-95982687AD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C0CBCE8-584F-60D3-0C4E-8F21F7FCC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75709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8F43A-60B1-718E-739D-BAA566B8C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76F8909-2199-167D-F1BF-D7898A77E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1/28/26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DB9B7E-8664-B26A-A037-F0A6A1A8F6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45F09F-3451-26C3-A58F-798C679D4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1982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F34CE8-4E6A-B41C-A3F1-27233C2D4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1/28/26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38C1A3-95C3-B803-0452-E3607E69E6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E1E8D-1E05-F486-7ACF-15A6F01BA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2649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54940C-5A69-20CE-25E9-850C2C623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98940B-5120-7A9F-0EC8-AE8305D635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877003-87CB-441F-1FC1-5C3B9E6E7F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81E9D2-2763-71B0-4C09-908F883E3C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14C269-D37A-4A29-672F-B37AB7286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5002C2-4A46-7002-B4DA-4F1D1DF8FF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7878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CD0E3-47B2-BF48-8491-EA783E1AA2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D6161ED-21F5-AAB7-0ECD-ACB5341857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C56EBB-75DF-8BE9-D0CC-22B699D324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215579-7EC6-88D2-DA07-5C343A585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2F33D4-5332-1F55-AF9D-09F8295037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BB9D46-AF90-21BB-4AF0-F72CA7F02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52658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CBDAF-98E2-7BE8-70A7-6DF0EBAC1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FA12EB-5CB7-7B8C-E6FF-A0F9A490CE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AC768-F58B-8A6A-E410-CFA302BFB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789D0E-E824-D51E-0B32-45B097661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753844-6998-9EDD-13E5-B894C5923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5075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62629B-11C3-D47E-1D6B-F2367B0D95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E9D98C-D6A8-3DEC-1C4D-E421B8395E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42C2A7-2C4E-3EA1-0FE5-23124714B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90ECF4-036C-1C3C-1CC9-3B31F6FDE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C259A5-53DA-D969-B817-38992D5AC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1109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5FC6E8F-92A5-76FF-EDFC-ED3B7AF1A9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C4BB33-83DC-2392-1C39-A5D4F10598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4544E4-7104-52CA-A3C5-2D8D6D02F1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AC578A-F481-8B4F-AC68-5322D79242CE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9F24C0-0578-1843-125D-374665A5F2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183B94-674B-8A34-C4CC-370CEF7AD5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9518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mailto:mohan@gmail.com" TargetMode="External"/><Relationship Id="rId2" Type="http://schemas.openxmlformats.org/officeDocument/2006/relationships/hyperlink" Target="mailto:ram@gmail.com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mailto:sohan@gmail.com" TargetMode="Externa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86E4C9-58D6-3C0F-8B97-959AB5C467C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What is Node.js?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824880-E4F4-226D-CBFC-11BCF24304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Node.js is a JavaScript runtime environment</a:t>
            </a:r>
          </a:p>
          <a:p>
            <a:r>
              <a:rPr lang="en-US" dirty="0"/>
              <a:t>Framework for writing server-side JavaScript applications</a:t>
            </a:r>
          </a:p>
          <a:p>
            <a:r>
              <a:rPr lang="en-US" dirty="0"/>
              <a:t>Node js use JS as Programming Language</a:t>
            </a:r>
          </a:p>
        </p:txBody>
      </p:sp>
    </p:spTree>
    <p:extLst>
      <p:ext uri="{BB962C8B-B14F-4D97-AF65-F5344CB8AC3E}">
        <p14:creationId xmlns:p14="http://schemas.microsoft.com/office/powerpoint/2010/main" val="40870598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F8DF1-7535-5AD6-A5FB-A02E79C58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History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3159FF-4F28-0909-C40B-29540C57F4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May,2009</a:t>
            </a:r>
          </a:p>
          <a:p>
            <a:r>
              <a:rPr lang="en-US" dirty="0"/>
              <a:t>Open source and used with NPM </a:t>
            </a:r>
          </a:p>
        </p:txBody>
      </p:sp>
    </p:spTree>
    <p:extLst>
      <p:ext uri="{BB962C8B-B14F-4D97-AF65-F5344CB8AC3E}">
        <p14:creationId xmlns:p14="http://schemas.microsoft.com/office/powerpoint/2010/main" val="34530286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6E75E-0F2B-86D3-440C-F279E7DDF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88AE4E-F3C7-A89D-6C0F-5544ADF417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Mostly used for Making API</a:t>
            </a:r>
          </a:p>
          <a:p>
            <a:r>
              <a:rPr lang="en-US" dirty="0"/>
              <a:t>Also use for website and web app</a:t>
            </a:r>
          </a:p>
          <a:p>
            <a:r>
              <a:rPr lang="en-US" dirty="0"/>
              <a:t>SSR(Server Side Scripting)</a:t>
            </a:r>
          </a:p>
          <a:p>
            <a:r>
              <a:rPr lang="en-US" dirty="0"/>
              <a:t>Make module and import file</a:t>
            </a:r>
          </a:p>
          <a:p>
            <a:r>
              <a:rPr lang="en-US" dirty="0"/>
              <a:t>Make first </a:t>
            </a:r>
            <a:r>
              <a:rPr lang="en-US" dirty="0" err="1"/>
              <a:t>api</a:t>
            </a:r>
            <a:r>
              <a:rPr lang="en-US" dirty="0"/>
              <a:t> with </a:t>
            </a:r>
            <a:r>
              <a:rPr lang="en-US"/>
              <a:t>http module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21869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9DB4F8-20C3-716A-084A-C01BD9135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04490D-5503-F973-BD86-8195BDB589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does the web work?</a:t>
            </a:r>
          </a:p>
          <a:p>
            <a:r>
              <a:rPr lang="en-US" dirty="0"/>
              <a:t>Creating a Node.js Server</a:t>
            </a:r>
          </a:p>
          <a:p>
            <a:r>
              <a:rPr lang="en-US" dirty="0"/>
              <a:t>Using Node Core Modules</a:t>
            </a:r>
          </a:p>
          <a:p>
            <a:r>
              <a:rPr lang="en-US" dirty="0"/>
              <a:t>Working with Requests &amp; Responses (Basics)</a:t>
            </a:r>
          </a:p>
          <a:p>
            <a:r>
              <a:rPr lang="en-US" dirty="0"/>
              <a:t>Asynchronous Code &amp; The Event Loop</a:t>
            </a:r>
          </a:p>
        </p:txBody>
      </p:sp>
    </p:spTree>
    <p:extLst>
      <p:ext uri="{BB962C8B-B14F-4D97-AF65-F5344CB8AC3E}">
        <p14:creationId xmlns:p14="http://schemas.microsoft.com/office/powerpoint/2010/main" val="42591366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44CAD-753F-55C0-78DA-92A53605B3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0195"/>
          </a:xfrm>
        </p:spPr>
        <p:txBody>
          <a:bodyPr/>
          <a:lstStyle/>
          <a:p>
            <a:r>
              <a:rPr lang="en-US" dirty="0"/>
              <a:t>Course 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E81BA0-6B3D-6A22-9058-0FD5B0206E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65320"/>
            <a:ext cx="10515600" cy="5111643"/>
          </a:xfrm>
        </p:spPr>
        <p:txBody>
          <a:bodyPr numCol="2">
            <a:normAutofit fontScale="70000" lnSpcReduction="20000"/>
          </a:bodyPr>
          <a:lstStyle/>
          <a:p>
            <a:r>
              <a:rPr lang="en-US" dirty="0"/>
              <a:t>Getting Started</a:t>
            </a:r>
          </a:p>
          <a:p>
            <a:r>
              <a:rPr lang="en-US" dirty="0"/>
              <a:t>JS Refresher</a:t>
            </a:r>
          </a:p>
          <a:p>
            <a:r>
              <a:rPr lang="en-US" dirty="0"/>
              <a:t>Node.js Basics</a:t>
            </a:r>
          </a:p>
          <a:p>
            <a:r>
              <a:rPr lang="en-US" dirty="0"/>
              <a:t>Efficient development</a:t>
            </a:r>
          </a:p>
          <a:p>
            <a:r>
              <a:rPr lang="en-US" dirty="0"/>
              <a:t>Using Express.js</a:t>
            </a:r>
          </a:p>
          <a:p>
            <a:r>
              <a:rPr lang="en-US" dirty="0"/>
              <a:t>Templating Engines</a:t>
            </a:r>
          </a:p>
          <a:p>
            <a:r>
              <a:rPr lang="en-US" dirty="0"/>
              <a:t>Model-View-Controller</a:t>
            </a:r>
          </a:p>
          <a:p>
            <a:r>
              <a:rPr lang="en-US" dirty="0"/>
              <a:t>Advanced Routes &amp; Models</a:t>
            </a:r>
          </a:p>
          <a:p>
            <a:r>
              <a:rPr lang="en-US" dirty="0"/>
              <a:t>Node + SQL (MySQL)</a:t>
            </a:r>
          </a:p>
          <a:p>
            <a:r>
              <a:rPr lang="en-US" dirty="0"/>
              <a:t>Using Sequelize</a:t>
            </a:r>
          </a:p>
          <a:p>
            <a:r>
              <a:rPr lang="en-US" dirty="0"/>
              <a:t>Node + NoSQL (MongoDB)</a:t>
            </a:r>
          </a:p>
          <a:p>
            <a:r>
              <a:rPr lang="en-US" dirty="0"/>
              <a:t>Using Mongoose</a:t>
            </a:r>
          </a:p>
          <a:p>
            <a:r>
              <a:rPr lang="en-US" dirty="0"/>
              <a:t>Sessions &amp; Cookies</a:t>
            </a:r>
          </a:p>
          <a:p>
            <a:r>
              <a:rPr lang="en-US" dirty="0"/>
              <a:t>Authentication</a:t>
            </a:r>
          </a:p>
          <a:p>
            <a:r>
              <a:rPr lang="en-US" dirty="0"/>
              <a:t>Sending E-Mails</a:t>
            </a:r>
          </a:p>
          <a:p>
            <a:r>
              <a:rPr lang="en-US" dirty="0"/>
              <a:t>Authentication Deep Dive</a:t>
            </a:r>
          </a:p>
          <a:p>
            <a:r>
              <a:rPr lang="en-US" dirty="0"/>
              <a:t>User Input Validation</a:t>
            </a:r>
          </a:p>
          <a:p>
            <a:r>
              <a:rPr lang="en-US" dirty="0"/>
              <a:t>Error Handling</a:t>
            </a:r>
          </a:p>
          <a:p>
            <a:r>
              <a:rPr lang="en-US" dirty="0"/>
              <a:t>File Uploads &amp; Downloads</a:t>
            </a:r>
          </a:p>
          <a:p>
            <a:r>
              <a:rPr lang="en-US" dirty="0"/>
              <a:t>Pagination</a:t>
            </a:r>
          </a:p>
          <a:p>
            <a:r>
              <a:rPr lang="en-US" dirty="0"/>
              <a:t>Async Requests</a:t>
            </a:r>
          </a:p>
          <a:p>
            <a:r>
              <a:rPr lang="en-US" dirty="0"/>
              <a:t>Handling Payments</a:t>
            </a:r>
          </a:p>
          <a:p>
            <a:r>
              <a:rPr lang="en-US" dirty="0"/>
              <a:t>REST API Basics</a:t>
            </a:r>
          </a:p>
          <a:p>
            <a:r>
              <a:rPr lang="en-US" dirty="0"/>
              <a:t>Advanced REST API Features</a:t>
            </a:r>
          </a:p>
          <a:p>
            <a:r>
              <a:rPr lang="en-US" dirty="0"/>
              <a:t>Using async-await</a:t>
            </a:r>
          </a:p>
          <a:p>
            <a:r>
              <a:rPr lang="en-US" dirty="0"/>
              <a:t>Websockets &amp; Socket.io</a:t>
            </a:r>
          </a:p>
          <a:p>
            <a:r>
              <a:rPr lang="en-US" dirty="0" err="1"/>
              <a:t>GraphQL</a:t>
            </a:r>
            <a:endParaRPr lang="en-US" dirty="0"/>
          </a:p>
          <a:p>
            <a:r>
              <a:rPr lang="en-US" dirty="0"/>
              <a:t>Deployment</a:t>
            </a:r>
          </a:p>
          <a:p>
            <a:r>
              <a:rPr lang="en-US" dirty="0"/>
              <a:t>Beyond Web Servers</a:t>
            </a:r>
          </a:p>
        </p:txBody>
      </p:sp>
    </p:spTree>
    <p:extLst>
      <p:ext uri="{BB962C8B-B14F-4D97-AF65-F5344CB8AC3E}">
        <p14:creationId xmlns:p14="http://schemas.microsoft.com/office/powerpoint/2010/main" val="19185367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6B1D9-20D5-8FB8-641C-B11561F8E7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4674833" cy="584786"/>
          </a:xfrm>
        </p:spPr>
        <p:txBody>
          <a:bodyPr>
            <a:normAutofit fontScale="90000"/>
          </a:bodyPr>
          <a:lstStyle/>
          <a:p>
            <a:r>
              <a:rPr lang="en-US" dirty="0"/>
              <a:t>How the web works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10844C-4279-6C7D-D70B-A9D17453ED62}"/>
              </a:ext>
            </a:extLst>
          </p:cNvPr>
          <p:cNvSpPr/>
          <p:nvPr/>
        </p:nvSpPr>
        <p:spPr>
          <a:xfrm>
            <a:off x="4900474" y="949912"/>
            <a:ext cx="2805343" cy="74572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User/Client</a:t>
            </a:r>
          </a:p>
          <a:p>
            <a:pPr algn="ctr"/>
            <a:r>
              <a:rPr lang="en-US" dirty="0"/>
              <a:t>(Browser)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CB7241-273D-A8CC-540A-3C55B03F673E}"/>
              </a:ext>
            </a:extLst>
          </p:cNvPr>
          <p:cNvSpPr/>
          <p:nvPr/>
        </p:nvSpPr>
        <p:spPr>
          <a:xfrm>
            <a:off x="4371513" y="2093990"/>
            <a:ext cx="4181383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http://my-</a:t>
            </a:r>
            <a:r>
              <a:rPr lang="en-US" dirty="0" err="1"/>
              <a:t>page.com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8B008D8-6A3B-4D1E-6251-E0DF9038FF7A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6303146" y="1695635"/>
            <a:ext cx="159059" cy="39835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B0099D72-66D9-5AE9-68B0-59C32C0EC6C7}"/>
              </a:ext>
            </a:extLst>
          </p:cNvPr>
          <p:cNvSpPr/>
          <p:nvPr/>
        </p:nvSpPr>
        <p:spPr>
          <a:xfrm>
            <a:off x="4371512" y="2900717"/>
            <a:ext cx="4181383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Domain Lookup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C8EE05F-D43B-392A-8298-FFFD2610E658}"/>
              </a:ext>
            </a:extLst>
          </p:cNvPr>
          <p:cNvSpPr/>
          <p:nvPr/>
        </p:nvSpPr>
        <p:spPr>
          <a:xfrm>
            <a:off x="378041" y="2894059"/>
            <a:ext cx="2267506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Request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F828F16-3A2F-43ED-7865-96E7BBF80752}"/>
              </a:ext>
            </a:extLst>
          </p:cNvPr>
          <p:cNvCxnSpPr>
            <a:stCxn id="8" idx="1"/>
            <a:endCxn id="9" idx="3"/>
          </p:cNvCxnSpPr>
          <p:nvPr/>
        </p:nvCxnSpPr>
        <p:spPr>
          <a:xfrm flipH="1" flipV="1">
            <a:off x="2645547" y="3151512"/>
            <a:ext cx="1725965" cy="66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7E018B7F-1C72-12AA-DF2F-DF9609D4BE36}"/>
              </a:ext>
            </a:extLst>
          </p:cNvPr>
          <p:cNvCxnSpPr>
            <a:stCxn id="4" idx="1"/>
            <a:endCxn id="9" idx="0"/>
          </p:cNvCxnSpPr>
          <p:nvPr/>
        </p:nvCxnSpPr>
        <p:spPr>
          <a:xfrm rot="10800000" flipV="1">
            <a:off x="1511794" y="1322773"/>
            <a:ext cx="3388680" cy="157128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39A1A567-0373-0C4D-E92C-53F5D0E17A00}"/>
              </a:ext>
            </a:extLst>
          </p:cNvPr>
          <p:cNvSpPr/>
          <p:nvPr/>
        </p:nvSpPr>
        <p:spPr>
          <a:xfrm>
            <a:off x="4770451" y="4129534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Server</a:t>
            </a:r>
          </a:p>
          <a:p>
            <a:pPr algn="ctr"/>
            <a:r>
              <a:rPr lang="en-US" dirty="0"/>
              <a:t>(at 10.221.221.332.12)</a:t>
            </a:r>
          </a:p>
        </p:txBody>
      </p: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AFAAE864-E3DA-44CE-5792-28D88E6514F6}"/>
              </a:ext>
            </a:extLst>
          </p:cNvPr>
          <p:cNvCxnSpPr>
            <a:stCxn id="9" idx="2"/>
            <a:endCxn id="16" idx="1"/>
          </p:cNvCxnSpPr>
          <p:nvPr/>
        </p:nvCxnSpPr>
        <p:spPr>
          <a:xfrm rot="16200000" flipH="1">
            <a:off x="2612516" y="2308241"/>
            <a:ext cx="1057213" cy="325865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B1860B4B-91D4-949C-7B24-0E79BE38DA9F}"/>
              </a:ext>
            </a:extLst>
          </p:cNvPr>
          <p:cNvCxnSpPr>
            <a:stCxn id="16" idx="3"/>
            <a:endCxn id="4" idx="3"/>
          </p:cNvCxnSpPr>
          <p:nvPr/>
        </p:nvCxnSpPr>
        <p:spPr>
          <a:xfrm flipH="1" flipV="1">
            <a:off x="7705817" y="1322774"/>
            <a:ext cx="448137" cy="3143403"/>
          </a:xfrm>
          <a:prstGeom prst="bentConnector3">
            <a:avLst>
              <a:gd name="adj1" fmla="val -31844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5324E217-AE59-1933-D7E7-BE703608ECC8}"/>
              </a:ext>
            </a:extLst>
          </p:cNvPr>
          <p:cNvSpPr/>
          <p:nvPr/>
        </p:nvSpPr>
        <p:spPr>
          <a:xfrm>
            <a:off x="9232777" y="2608895"/>
            <a:ext cx="2179834" cy="8000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Response </a:t>
            </a:r>
            <a:br>
              <a:rPr lang="en-US" dirty="0"/>
            </a:br>
            <a:r>
              <a:rPr lang="en-US" dirty="0"/>
              <a:t>(e.g. Html page)</a:t>
            </a:r>
          </a:p>
        </p:txBody>
      </p:sp>
      <p:sp>
        <p:nvSpPr>
          <p:cNvPr id="23" name="Sort 22">
            <a:extLst>
              <a:ext uri="{FF2B5EF4-FFF2-40B4-BE49-F238E27FC236}">
                <a16:creationId xmlns:a16="http://schemas.microsoft.com/office/drawing/2014/main" id="{E0BC7A77-8DFB-77CC-E08C-F4C0A688BE68}"/>
              </a:ext>
            </a:extLst>
          </p:cNvPr>
          <p:cNvSpPr/>
          <p:nvPr/>
        </p:nvSpPr>
        <p:spPr>
          <a:xfrm>
            <a:off x="5973930" y="4802819"/>
            <a:ext cx="666567" cy="843379"/>
          </a:xfrm>
          <a:prstGeom prst="flowChartSor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3FE6662-4ABC-3BBE-3E5A-97F02CD5A08D}"/>
              </a:ext>
            </a:extLst>
          </p:cNvPr>
          <p:cNvSpPr/>
          <p:nvPr/>
        </p:nvSpPr>
        <p:spPr>
          <a:xfrm>
            <a:off x="4690923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&lt;Your Code&gt;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DB1FE68-A7FB-2E4B-2301-0759A8339BD5}"/>
              </a:ext>
            </a:extLst>
          </p:cNvPr>
          <p:cNvSpPr/>
          <p:nvPr/>
        </p:nvSpPr>
        <p:spPr>
          <a:xfrm>
            <a:off x="573164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Node.js, PHP, ASP.NET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185C7BA-6358-31EB-DB96-B3854376B939}"/>
              </a:ext>
            </a:extLst>
          </p:cNvPr>
          <p:cNvSpPr/>
          <p:nvPr/>
        </p:nvSpPr>
        <p:spPr>
          <a:xfrm>
            <a:off x="8657760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Database</a:t>
            </a:r>
          </a:p>
        </p:txBody>
      </p:sp>
    </p:spTree>
    <p:extLst>
      <p:ext uri="{BB962C8B-B14F-4D97-AF65-F5344CB8AC3E}">
        <p14:creationId xmlns:p14="http://schemas.microsoft.com/office/powerpoint/2010/main" val="1260532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598C4-CB5E-F600-BB36-CA7C2DE08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HTTP,HTTPS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F701D4-6717-878A-E311-982543E393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Hyper Text Transfer Protocol – A Protocol for transferring data which is understood by Browser and Server</a:t>
            </a:r>
          </a:p>
          <a:p>
            <a:r>
              <a:rPr lang="en-US" dirty="0"/>
              <a:t>Hyper Text Transfer Protocol Secure – HTTP + Data Encryption (during Transmission)</a:t>
            </a:r>
          </a:p>
        </p:txBody>
      </p:sp>
    </p:spTree>
    <p:extLst>
      <p:ext uri="{BB962C8B-B14F-4D97-AF65-F5344CB8AC3E}">
        <p14:creationId xmlns:p14="http://schemas.microsoft.com/office/powerpoint/2010/main" val="36541581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3846D-93E5-D855-133F-4CD796B95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Modules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05FB9A-D2D9-38FB-0235-1F274948CA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http – Launch a server, send requests</a:t>
            </a:r>
          </a:p>
          <a:p>
            <a:r>
              <a:rPr lang="en-US" dirty="0"/>
              <a:t>https – launch a SSL server</a:t>
            </a:r>
          </a:p>
          <a:p>
            <a:r>
              <a:rPr lang="en-US" dirty="0"/>
              <a:t>Fs</a:t>
            </a:r>
          </a:p>
          <a:p>
            <a:r>
              <a:rPr lang="en-US" dirty="0"/>
              <a:t>Path</a:t>
            </a:r>
          </a:p>
          <a:p>
            <a:r>
              <a:rPr lang="en-US" dirty="0" err="1"/>
              <a:t>Os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73831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ADCA4-F947-9900-4D01-CBF214AC3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 Node Server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996D43-2932-9CFC-9663-84C903CF98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045" t="23638" r="3131" b="30673"/>
          <a:stretch>
            <a:fillRect/>
          </a:stretch>
        </p:blipFill>
        <p:spPr>
          <a:xfrm>
            <a:off x="1207363" y="1420426"/>
            <a:ext cx="9206144" cy="446900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6FF67DC-4035-09BB-9841-9D8F3857981C}"/>
              </a:ext>
            </a:extLst>
          </p:cNvPr>
          <p:cNvSpPr txBox="1"/>
          <p:nvPr/>
        </p:nvSpPr>
        <p:spPr>
          <a:xfrm>
            <a:off x="1544715" y="3116062"/>
            <a:ext cx="1979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Node </a:t>
            </a:r>
            <a:r>
              <a:rPr lang="en-US" dirty="0" err="1"/>
              <a:t>app.js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8BF4FF-77FB-F5C9-E288-B0D6B0BE2C34}"/>
              </a:ext>
            </a:extLst>
          </p:cNvPr>
          <p:cNvSpPr txBox="1"/>
          <p:nvPr/>
        </p:nvSpPr>
        <p:spPr>
          <a:xfrm>
            <a:off x="7511988" y="2561323"/>
            <a:ext cx="1979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Start Script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5F7B61-59A5-3DAE-BC15-EDF46F8B69B8}"/>
              </a:ext>
            </a:extLst>
          </p:cNvPr>
          <p:cNvSpPr txBox="1"/>
          <p:nvPr/>
        </p:nvSpPr>
        <p:spPr>
          <a:xfrm>
            <a:off x="7511988" y="3605393"/>
            <a:ext cx="24931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Parse Code, Register Variables &amp; Functions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0741D4-6962-0C68-CBCD-D6957D75BD4B}"/>
              </a:ext>
            </a:extLst>
          </p:cNvPr>
          <p:cNvSpPr txBox="1"/>
          <p:nvPr/>
        </p:nvSpPr>
        <p:spPr>
          <a:xfrm>
            <a:off x="4725879" y="5437574"/>
            <a:ext cx="2493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Event Loop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0ED174-964A-B8A4-E28D-954EE8EC0242}"/>
              </a:ext>
            </a:extLst>
          </p:cNvPr>
          <p:cNvSpPr txBox="1"/>
          <p:nvPr/>
        </p:nvSpPr>
        <p:spPr>
          <a:xfrm>
            <a:off x="2277862" y="4675528"/>
            <a:ext cx="2493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Node Application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58D258F-72EC-8861-2E49-28664506816A}"/>
              </a:ext>
            </a:extLst>
          </p:cNvPr>
          <p:cNvSpPr txBox="1"/>
          <p:nvPr/>
        </p:nvSpPr>
        <p:spPr>
          <a:xfrm>
            <a:off x="10005134" y="4966100"/>
            <a:ext cx="208477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Keeps on running as long as there are event listeners registered</a:t>
            </a:r>
          </a:p>
        </p:txBody>
      </p:sp>
    </p:spTree>
    <p:extLst>
      <p:ext uri="{BB962C8B-B14F-4D97-AF65-F5344CB8AC3E}">
        <p14:creationId xmlns:p14="http://schemas.microsoft.com/office/powerpoint/2010/main" val="2129583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ADFC4-3EF2-F768-75A7-E5D366CB9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Program Lifecycle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FDE1CD-56F7-37DB-F261-DD48FA85B3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Node </a:t>
            </a:r>
            <a:r>
              <a:rPr lang="en-US" dirty="0" err="1"/>
              <a:t>app.js</a:t>
            </a:r>
            <a:r>
              <a:rPr lang="en-US" dirty="0"/>
              <a:t> -&gt; Start Script -&gt; Parse code, register variables &amp; functions-&gt;Event Loop-&gt;</a:t>
            </a:r>
            <a:r>
              <a:rPr lang="en-US" dirty="0" err="1"/>
              <a:t>process.exit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63790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DF9A9-76EE-6EDB-E699-6A5F4E1DA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B21ABD-10CE-20EC-F3EF-07CD005BD6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Understanding Request</a:t>
            </a:r>
          </a:p>
        </p:txBody>
      </p:sp>
    </p:spTree>
    <p:extLst>
      <p:ext uri="{BB962C8B-B14F-4D97-AF65-F5344CB8AC3E}">
        <p14:creationId xmlns:p14="http://schemas.microsoft.com/office/powerpoint/2010/main" val="21675733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0FCE3-F02E-76A7-C55B-1A852F347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Routing request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076803-6B7F-21B6-1558-B3A02FD880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Parsing request bodies</a:t>
            </a:r>
          </a:p>
          <a:p>
            <a:r>
              <a:rPr lang="en-US" dirty="0"/>
              <a:t>Blocking and no—blocking code</a:t>
            </a:r>
          </a:p>
        </p:txBody>
      </p:sp>
    </p:spTree>
    <p:extLst>
      <p:ext uri="{BB962C8B-B14F-4D97-AF65-F5344CB8AC3E}">
        <p14:creationId xmlns:p14="http://schemas.microsoft.com/office/powerpoint/2010/main" val="38330730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48713-D01D-7EE5-891C-FDDF4C324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AD9F1D4-32BD-83D0-731D-28E1A4E04F9D}"/>
              </a:ext>
            </a:extLst>
          </p:cNvPr>
          <p:cNvSpPr/>
          <p:nvPr/>
        </p:nvSpPr>
        <p:spPr>
          <a:xfrm>
            <a:off x="5912528" y="1438183"/>
            <a:ext cx="3577701" cy="1748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/>
              <a:t>Buffer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688DDF-A8F7-F945-3CE5-E758D30F70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086383" cy="975403"/>
          </a:xfrm>
        </p:spPr>
        <p:txBody>
          <a:bodyPr/>
          <a:lstStyle/>
          <a:p>
            <a:r>
              <a:rPr lang="en-US" dirty="0"/>
              <a:t>Parsing request bodies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BA3C94-C3A5-9F49-16D4-B7CA753684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55241" y="450156"/>
            <a:ext cx="3050219" cy="40267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Streams &amp; Buffers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FAE223-05ED-A55E-1FF8-AF1DC7A1BEB2}"/>
              </a:ext>
            </a:extLst>
          </p:cNvPr>
          <p:cNvSpPr/>
          <p:nvPr/>
        </p:nvSpPr>
        <p:spPr>
          <a:xfrm>
            <a:off x="683581" y="1695635"/>
            <a:ext cx="1482570" cy="9676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Stream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E3692C-D26F-3495-A82F-4ED84DA43B0D}"/>
              </a:ext>
            </a:extLst>
          </p:cNvPr>
          <p:cNvSpPr/>
          <p:nvPr/>
        </p:nvSpPr>
        <p:spPr>
          <a:xfrm>
            <a:off x="10022890" y="1695635"/>
            <a:ext cx="1482570" cy="9676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Fully Parsed</a:t>
            </a: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C8EB6D3F-7A6C-1038-9B82-4CE67BA3C88F}"/>
              </a:ext>
            </a:extLst>
          </p:cNvPr>
          <p:cNvSpPr/>
          <p:nvPr/>
        </p:nvSpPr>
        <p:spPr>
          <a:xfrm>
            <a:off x="2268245" y="1886505"/>
            <a:ext cx="7652551" cy="585926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endParaRPr lang="en-US" b="1">
              <a:ln/>
              <a:solidFill>
                <a:schemeClr val="accent4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854057F-E2CC-FE24-2C1F-81C8594385E3}"/>
              </a:ext>
            </a:extLst>
          </p:cNvPr>
          <p:cNvSpPr/>
          <p:nvPr/>
        </p:nvSpPr>
        <p:spPr>
          <a:xfrm>
            <a:off x="2716567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1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A95405A-5C96-4992-611A-ACE1D5DBC9B5}"/>
              </a:ext>
            </a:extLst>
          </p:cNvPr>
          <p:cNvSpPr/>
          <p:nvPr/>
        </p:nvSpPr>
        <p:spPr>
          <a:xfrm>
            <a:off x="4377431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034CFE3-3FCD-357D-2089-62749496DB78}"/>
              </a:ext>
            </a:extLst>
          </p:cNvPr>
          <p:cNvSpPr/>
          <p:nvPr/>
        </p:nvSpPr>
        <p:spPr>
          <a:xfrm>
            <a:off x="6094520" y="1744462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3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BE5EAFAC-E4CF-1A9E-A717-80E3A01E600C}"/>
              </a:ext>
            </a:extLst>
          </p:cNvPr>
          <p:cNvSpPr/>
          <p:nvPr/>
        </p:nvSpPr>
        <p:spPr>
          <a:xfrm>
            <a:off x="7955874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4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6692651-76BE-190B-3858-5ED4E33D1371}"/>
              </a:ext>
            </a:extLst>
          </p:cNvPr>
          <p:cNvSpPr/>
          <p:nvPr/>
        </p:nvSpPr>
        <p:spPr>
          <a:xfrm>
            <a:off x="3266983" y="3187083"/>
            <a:ext cx="1794028" cy="6303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9410072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2D757D-67D6-B70B-3B15-B21F0A03C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Single Thread, Event Loop &amp; Blocking Code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FC59DA7-DA17-5766-151E-8429764AA70E}"/>
              </a:ext>
            </a:extLst>
          </p:cNvPr>
          <p:cNvSpPr/>
          <p:nvPr/>
        </p:nvSpPr>
        <p:spPr>
          <a:xfrm>
            <a:off x="838200" y="1690688"/>
            <a:ext cx="4275338" cy="5553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Incoming Requests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D91CCE-7753-6431-92D2-349592DB0FA8}"/>
              </a:ext>
            </a:extLst>
          </p:cNvPr>
          <p:cNvSpPr/>
          <p:nvPr/>
        </p:nvSpPr>
        <p:spPr>
          <a:xfrm>
            <a:off x="838200" y="3849442"/>
            <a:ext cx="4275338" cy="3141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2D18E0-7F63-6D3F-1176-E08326AEAD84}"/>
              </a:ext>
            </a:extLst>
          </p:cNvPr>
          <p:cNvSpPr/>
          <p:nvPr/>
        </p:nvSpPr>
        <p:spPr>
          <a:xfrm>
            <a:off x="838200" y="4454858"/>
            <a:ext cx="2109186" cy="21234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&lt;Your Code&gt;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60B2B9-E2DE-F305-EF72-7481A19BF406}"/>
              </a:ext>
            </a:extLst>
          </p:cNvPr>
          <p:cNvSpPr/>
          <p:nvPr/>
        </p:nvSpPr>
        <p:spPr>
          <a:xfrm>
            <a:off x="3004352" y="4454857"/>
            <a:ext cx="2109186" cy="21234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Single JavaScript Thread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C86AAD-D8A8-50EE-EC4E-D5B0C34B6097}"/>
              </a:ext>
            </a:extLst>
          </p:cNvPr>
          <p:cNvSpPr/>
          <p:nvPr/>
        </p:nvSpPr>
        <p:spPr>
          <a:xfrm>
            <a:off x="7078462" y="2367252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Event loop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AC9C340-E1D1-6922-93BD-4ED9F4B2EC3E}"/>
              </a:ext>
            </a:extLst>
          </p:cNvPr>
          <p:cNvSpPr/>
          <p:nvPr/>
        </p:nvSpPr>
        <p:spPr>
          <a:xfrm>
            <a:off x="7078462" y="3170004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 Event Callbacks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D227362-E694-5DD2-80D9-8E03EA5ABFE9}"/>
              </a:ext>
            </a:extLst>
          </p:cNvPr>
          <p:cNvSpPr/>
          <p:nvPr/>
        </p:nvSpPr>
        <p:spPr>
          <a:xfrm>
            <a:off x="7078462" y="4911507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 Pool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B7941C-2193-F097-B05C-752757CF452C}"/>
              </a:ext>
            </a:extLst>
          </p:cNvPr>
          <p:cNvSpPr/>
          <p:nvPr/>
        </p:nvSpPr>
        <p:spPr>
          <a:xfrm>
            <a:off x="7078462" y="5685344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Do the Heavy Lifting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858D3E9-58D3-823B-61E1-1AF5E4FCBFEE}"/>
              </a:ext>
            </a:extLst>
          </p:cNvPr>
          <p:cNvSpPr/>
          <p:nvPr/>
        </p:nvSpPr>
        <p:spPr>
          <a:xfrm>
            <a:off x="10599937" y="4911507"/>
            <a:ext cx="1163713" cy="7738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Different Thread(s)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C154EE1-8FB7-C688-4311-FF15058DFEDA}"/>
              </a:ext>
            </a:extLst>
          </p:cNvPr>
          <p:cNvSpPr/>
          <p:nvPr/>
        </p:nvSpPr>
        <p:spPr>
          <a:xfrm>
            <a:off x="5580355" y="4655661"/>
            <a:ext cx="1148919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034CDBB-1672-1C0B-0B8D-A0A21F68034B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2975869" y="2246050"/>
            <a:ext cx="0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E62BDFE-858B-A3F1-08B1-F3E45B67EADB}"/>
              </a:ext>
            </a:extLst>
          </p:cNvPr>
          <p:cNvCxnSpPr>
            <a:endCxn id="5" idx="0"/>
          </p:cNvCxnSpPr>
          <p:nvPr/>
        </p:nvCxnSpPr>
        <p:spPr>
          <a:xfrm>
            <a:off x="1562470" y="2246050"/>
            <a:ext cx="1413399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F6D90AA-F92E-395C-277E-BA9749188E79}"/>
              </a:ext>
            </a:extLst>
          </p:cNvPr>
          <p:cNvCxnSpPr>
            <a:endCxn id="5" idx="0"/>
          </p:cNvCxnSpPr>
          <p:nvPr/>
        </p:nvCxnSpPr>
        <p:spPr>
          <a:xfrm flipH="1">
            <a:off x="2975869" y="2246050"/>
            <a:ext cx="1329801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1A92C5F3-C3A9-952F-FC56-F79B8272F86C}"/>
              </a:ext>
            </a:extLst>
          </p:cNvPr>
          <p:cNvCxnSpPr>
            <a:stCxn id="7" idx="3"/>
            <a:endCxn id="13" idx="2"/>
          </p:cNvCxnSpPr>
          <p:nvPr/>
        </p:nvCxnSpPr>
        <p:spPr>
          <a:xfrm flipV="1">
            <a:off x="5113538" y="5173652"/>
            <a:ext cx="1041277" cy="34295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B40B77F7-C3DE-7BF8-9095-E9DDC20A09EC}"/>
              </a:ext>
            </a:extLst>
          </p:cNvPr>
          <p:cNvCxnSpPr>
            <a:stCxn id="7" idx="3"/>
            <a:endCxn id="8" idx="1"/>
          </p:cNvCxnSpPr>
          <p:nvPr/>
        </p:nvCxnSpPr>
        <p:spPr>
          <a:xfrm flipV="1">
            <a:off x="5113538" y="2626248"/>
            <a:ext cx="1964924" cy="2890357"/>
          </a:xfrm>
          <a:prstGeom prst="bentConnector3">
            <a:avLst>
              <a:gd name="adj1" fmla="val 1475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13651446-6929-75D4-EB8D-45C6BF13A3C7}"/>
              </a:ext>
            </a:extLst>
          </p:cNvPr>
          <p:cNvCxnSpPr>
            <a:stCxn id="13" idx="3"/>
            <a:endCxn id="10" idx="1"/>
          </p:cNvCxnSpPr>
          <p:nvPr/>
        </p:nvCxnSpPr>
        <p:spPr>
          <a:xfrm>
            <a:off x="6729274" y="4914657"/>
            <a:ext cx="349188" cy="25584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Elbow Connector 27">
            <a:extLst>
              <a:ext uri="{FF2B5EF4-FFF2-40B4-BE49-F238E27FC236}">
                <a16:creationId xmlns:a16="http://schemas.microsoft.com/office/drawing/2014/main" id="{38EF2DF4-1C18-0B0F-5EBD-C1F85CCD3E8B}"/>
              </a:ext>
            </a:extLst>
          </p:cNvPr>
          <p:cNvCxnSpPr>
            <a:stCxn id="10" idx="0"/>
            <a:endCxn id="8" idx="3"/>
          </p:cNvCxnSpPr>
          <p:nvPr/>
        </p:nvCxnSpPr>
        <p:spPr>
          <a:xfrm rot="5400000" flipH="1" flipV="1">
            <a:off x="7517722" y="3241582"/>
            <a:ext cx="2285259" cy="1054593"/>
          </a:xfrm>
          <a:prstGeom prst="bentConnector4">
            <a:avLst>
              <a:gd name="adj1" fmla="val 27240"/>
              <a:gd name="adj2" fmla="val 20501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ight Arrow 30">
            <a:extLst>
              <a:ext uri="{FF2B5EF4-FFF2-40B4-BE49-F238E27FC236}">
                <a16:creationId xmlns:a16="http://schemas.microsoft.com/office/drawing/2014/main" id="{B068FF12-E9A3-0600-1CF5-14ECA26A0197}"/>
              </a:ext>
            </a:extLst>
          </p:cNvPr>
          <p:cNvSpPr/>
          <p:nvPr/>
        </p:nvSpPr>
        <p:spPr>
          <a:xfrm>
            <a:off x="9294920" y="5246703"/>
            <a:ext cx="976544" cy="26990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4174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B959E-3602-7F11-A738-CE9B19518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7749"/>
          </a:xfrm>
        </p:spPr>
        <p:txBody>
          <a:bodyPr/>
          <a:lstStyle/>
          <a:p>
            <a:r>
              <a:rPr lang="en-US" dirty="0"/>
              <a:t>The Event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C295A7-F6C3-858D-D839-779F50D84668}"/>
              </a:ext>
            </a:extLst>
          </p:cNvPr>
          <p:cNvSpPr txBox="1"/>
          <p:nvPr/>
        </p:nvSpPr>
        <p:spPr>
          <a:xfrm>
            <a:off x="1953087" y="1660124"/>
            <a:ext cx="7421775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Phases</a:t>
            </a:r>
          </a:p>
          <a:p>
            <a:pPr marL="342900" indent="-342900">
              <a:buAutoNum type="arabicPeriod"/>
            </a:pPr>
            <a:r>
              <a:rPr lang="en-US" dirty="0"/>
              <a:t>Timers Phase : callbacks execute – </a:t>
            </a:r>
            <a:r>
              <a:rPr lang="en-US" dirty="0" err="1"/>
              <a:t>setTimeout</a:t>
            </a:r>
            <a:r>
              <a:rPr lang="en-US" dirty="0"/>
              <a:t>(), </a:t>
            </a:r>
            <a:r>
              <a:rPr lang="en-US" dirty="0" err="1"/>
              <a:t>setinterval</a:t>
            </a:r>
            <a:r>
              <a:rPr lang="en-US" dirty="0"/>
              <a:t>()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Pending Callbacks Phase: I/O callbacks (pending callbacks)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Poll Phase: new I/O events, callback ready(execute),timer phase(wait)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Check Phase: </a:t>
            </a:r>
            <a:r>
              <a:rPr lang="en-US" dirty="0" err="1"/>
              <a:t>setImmediate</a:t>
            </a:r>
            <a:r>
              <a:rPr lang="en-US" dirty="0"/>
              <a:t>() callbacks execute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Close Callbacks Phase: close event callbacks</a:t>
            </a:r>
            <a:r>
              <a:rPr lang="en-US"/>
              <a:t>(execute)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03218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743A05-2B49-C7D3-1593-BF5E56BA8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61639"/>
            <a:ext cx="10515600" cy="5715324"/>
          </a:xfrm>
        </p:spPr>
        <p:txBody>
          <a:bodyPr/>
          <a:lstStyle/>
          <a:p>
            <a:r>
              <a:rPr lang="en-US" dirty="0"/>
              <a:t>Node modules system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26042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AC442-1C90-70F4-24A8-4FF8CDAF7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9A9F6E-57AC-54F5-45EF-7740CA0A36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/>
              <a:t>How the Web Works </a:t>
            </a:r>
          </a:p>
          <a:p>
            <a:pPr lvl="1"/>
            <a:r>
              <a:rPr lang="en-US" dirty="0"/>
              <a:t>Client =&gt; Request =&gt; Server =&gt; Response =&gt;Client</a:t>
            </a:r>
          </a:p>
          <a:p>
            <a:r>
              <a:rPr lang="en-US" dirty="0"/>
              <a:t>Program Lifecycle &amp; Event Loop</a:t>
            </a:r>
          </a:p>
          <a:p>
            <a:pPr lvl="1"/>
            <a:r>
              <a:rPr lang="en-US" dirty="0"/>
              <a:t>Node.js runs non-blocking JS code and uses an event-</a:t>
            </a:r>
            <a:r>
              <a:rPr lang="en-US" dirty="0" err="1"/>
              <a:t>dirven</a:t>
            </a:r>
            <a:r>
              <a:rPr lang="en-US" dirty="0"/>
              <a:t> code (“Event Loop) for running your logic</a:t>
            </a:r>
          </a:p>
          <a:p>
            <a:pPr lvl="1"/>
            <a:r>
              <a:rPr lang="en-US" dirty="0"/>
              <a:t>A Node program exits as soon as there is no more work to do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createServer</a:t>
            </a:r>
            <a:r>
              <a:rPr lang="en-US" dirty="0"/>
              <a:t>() event never finishes by default</a:t>
            </a:r>
          </a:p>
          <a:p>
            <a:r>
              <a:rPr lang="en-US" dirty="0"/>
              <a:t>Node.js &amp; Core Modules</a:t>
            </a:r>
          </a:p>
          <a:p>
            <a:pPr lvl="1"/>
            <a:r>
              <a:rPr lang="en-US" dirty="0"/>
              <a:t>Node.js ships with multiple core modules (</a:t>
            </a:r>
            <a:r>
              <a:rPr lang="en-US" dirty="0" err="1"/>
              <a:t>http,fs</a:t>
            </a:r>
            <a:r>
              <a:rPr lang="en-US" dirty="0"/>
              <a:t>…)</a:t>
            </a:r>
          </a:p>
          <a:p>
            <a:pPr lvl="1"/>
            <a:r>
              <a:rPr lang="en-US" dirty="0"/>
              <a:t>Core modules can be imported into any file to be used there</a:t>
            </a:r>
          </a:p>
          <a:p>
            <a:pPr lvl="1"/>
            <a:r>
              <a:rPr lang="en-US" dirty="0"/>
              <a:t>Import via require(“module name”)</a:t>
            </a:r>
          </a:p>
          <a:p>
            <a:r>
              <a:rPr lang="en-US" dirty="0"/>
              <a:t>Asynchronous Code</a:t>
            </a:r>
          </a:p>
          <a:p>
            <a:pPr lvl="1"/>
            <a:r>
              <a:rPr lang="en-US" dirty="0"/>
              <a:t>JS code is non-blocking</a:t>
            </a:r>
          </a:p>
          <a:p>
            <a:pPr lvl="1"/>
            <a:r>
              <a:rPr lang="en-US" dirty="0"/>
              <a:t>Use callbacks and events =&gt; order changes!</a:t>
            </a:r>
          </a:p>
          <a:p>
            <a:r>
              <a:rPr lang="en-US" dirty="0"/>
              <a:t>Requests &amp; Responses</a:t>
            </a:r>
          </a:p>
          <a:p>
            <a:pPr lvl="1"/>
            <a:r>
              <a:rPr lang="en-US" dirty="0"/>
              <a:t>Parse request data in chunks (Streams &amp; Buffers)</a:t>
            </a:r>
          </a:p>
          <a:p>
            <a:pPr lvl="1"/>
            <a:r>
              <a:rPr lang="en-US" dirty="0"/>
              <a:t>Avoid “double responses”</a:t>
            </a:r>
          </a:p>
          <a:p>
            <a:r>
              <a:rPr lang="en-US" dirty="0"/>
              <a:t>The Node Module System</a:t>
            </a:r>
          </a:p>
          <a:p>
            <a:pPr lvl="1"/>
            <a:r>
              <a:rPr lang="en-US" dirty="0"/>
              <a:t>Import via require(‘path-to-file”)or require(”module”) for core &amp; third-party modules </a:t>
            </a:r>
          </a:p>
          <a:p>
            <a:pPr lvl="1"/>
            <a:r>
              <a:rPr lang="en-US" dirty="0"/>
              <a:t>Export via </a:t>
            </a:r>
            <a:r>
              <a:rPr lang="en-US" dirty="0" err="1"/>
              <a:t>module.exports</a:t>
            </a:r>
            <a:r>
              <a:rPr lang="en-US" dirty="0"/>
              <a:t> or just exports (for multiple exports)</a:t>
            </a:r>
          </a:p>
        </p:txBody>
      </p:sp>
    </p:spTree>
    <p:extLst>
      <p:ext uri="{BB962C8B-B14F-4D97-AF65-F5344CB8AC3E}">
        <p14:creationId xmlns:p14="http://schemas.microsoft.com/office/powerpoint/2010/main" val="9623191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60DC1-B5DF-7C05-AB45-5190C4F22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Debugging &amp; Easier Development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45D0A9-26D0-52C7-8A4A-53DC644249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Fixing Errors</a:t>
            </a:r>
          </a:p>
          <a:p>
            <a:r>
              <a:rPr lang="en-US" dirty="0"/>
              <a:t>Developing Efficiently</a:t>
            </a:r>
          </a:p>
          <a:p>
            <a:r>
              <a:rPr lang="en-US" dirty="0"/>
              <a:t>Npm scripts</a:t>
            </a:r>
          </a:p>
          <a:p>
            <a:r>
              <a:rPr lang="en-US" dirty="0"/>
              <a:t>Install 3</a:t>
            </a:r>
            <a:r>
              <a:rPr lang="en-US" baseline="30000" dirty="0"/>
              <a:t>rd</a:t>
            </a:r>
            <a:r>
              <a:rPr lang="en-US" dirty="0"/>
              <a:t> party packages</a:t>
            </a:r>
          </a:p>
        </p:txBody>
      </p:sp>
    </p:spTree>
    <p:extLst>
      <p:ext uri="{BB962C8B-B14F-4D97-AF65-F5344CB8AC3E}">
        <p14:creationId xmlns:p14="http://schemas.microsoft.com/office/powerpoint/2010/main" val="40713126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7689C-EFE9-C3DA-A755-CC015CDE9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69DC64-B3BE-D717-292D-119C1B2EB9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Syntax Errors</a:t>
            </a:r>
          </a:p>
          <a:p>
            <a:r>
              <a:rPr lang="en-US" dirty="0"/>
              <a:t>Runtime Errors</a:t>
            </a:r>
          </a:p>
          <a:p>
            <a:r>
              <a:rPr lang="en-US" dirty="0"/>
              <a:t>Logical Errors</a:t>
            </a:r>
          </a:p>
        </p:txBody>
      </p:sp>
    </p:spTree>
    <p:extLst>
      <p:ext uri="{BB962C8B-B14F-4D97-AF65-F5344CB8AC3E}">
        <p14:creationId xmlns:p14="http://schemas.microsoft.com/office/powerpoint/2010/main" val="6264582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D4A43-5354-D724-2545-7F301D35C5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D6D45B-CE48-0ACE-5822-DFA2D4DD44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/>
          </a:bodyPr>
          <a:lstStyle/>
          <a:p>
            <a:r>
              <a:rPr lang="en-US" dirty="0"/>
              <a:t>Parsing Incoming Requests</a:t>
            </a:r>
          </a:p>
          <a:p>
            <a:r>
              <a:rPr lang="en-US" dirty="0"/>
              <a:t>Limiting Middleware Execution</a:t>
            </a:r>
          </a:p>
          <a:p>
            <a:r>
              <a:rPr lang="en-US" dirty="0"/>
              <a:t>Using express router</a:t>
            </a:r>
          </a:p>
          <a:p>
            <a:r>
              <a:rPr lang="en-US" dirty="0"/>
              <a:t>Adding a 404 error page</a:t>
            </a:r>
          </a:p>
          <a:p>
            <a:r>
              <a:rPr lang="en-US" dirty="0"/>
              <a:t>Filtering paths</a:t>
            </a:r>
          </a:p>
          <a:p>
            <a:r>
              <a:rPr lang="en-US" dirty="0"/>
              <a:t>Creating HTML Pages</a:t>
            </a:r>
          </a:p>
          <a:p>
            <a:r>
              <a:rPr lang="en-US" dirty="0"/>
              <a:t>Serving HTML Pages</a:t>
            </a:r>
          </a:p>
          <a:p>
            <a:r>
              <a:rPr lang="en-US" dirty="0"/>
              <a:t>404 error page</a:t>
            </a:r>
          </a:p>
          <a:p>
            <a:r>
              <a:rPr lang="en-US" dirty="0"/>
              <a:t>Helper function for navigation</a:t>
            </a:r>
          </a:p>
          <a:p>
            <a:r>
              <a:rPr lang="en-US" dirty="0"/>
              <a:t>Styling CSS pages</a:t>
            </a:r>
          </a:p>
          <a:p>
            <a:r>
              <a:rPr lang="en-US" dirty="0"/>
              <a:t>Serving Files Statically</a:t>
            </a:r>
          </a:p>
        </p:txBody>
      </p:sp>
    </p:spTree>
    <p:extLst>
      <p:ext uri="{BB962C8B-B14F-4D97-AF65-F5344CB8AC3E}">
        <p14:creationId xmlns:p14="http://schemas.microsoft.com/office/powerpoint/2010/main" val="15271578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9D77F-7EFE-1A07-ECB8-CC71EE7E6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67EE9-3DB0-5B8E-CAE2-89DE337571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1650"/>
            <a:ext cx="10515600" cy="4845313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/>
              <a:t>What is Express.js?</a:t>
            </a:r>
          </a:p>
          <a:p>
            <a:pPr lvl="1"/>
            <a:r>
              <a:rPr lang="en-US" dirty="0"/>
              <a:t>Express.js is Node.js framework – a package that adds a bunch of utility functions and tools and a clear set of rules on how the app should be built (middleware!)</a:t>
            </a:r>
          </a:p>
          <a:p>
            <a:pPr lvl="1"/>
            <a:r>
              <a:rPr lang="en-US" dirty="0"/>
              <a:t>It’s highly extensible and other packages can be plugged into it (middleware)</a:t>
            </a:r>
          </a:p>
          <a:p>
            <a:pPr marL="0" indent="0">
              <a:buNone/>
            </a:pPr>
            <a:r>
              <a:rPr lang="en-US" dirty="0"/>
              <a:t>Middleware, next() and res()</a:t>
            </a:r>
          </a:p>
          <a:p>
            <a:pPr lvl="1"/>
            <a:r>
              <a:rPr lang="en-US" dirty="0"/>
              <a:t>Express.js relies heavily on middleware functions – you can easily add them by calling use()</a:t>
            </a:r>
          </a:p>
          <a:p>
            <a:pPr lvl="1"/>
            <a:r>
              <a:rPr lang="en-US" dirty="0"/>
              <a:t>Middleware functions handle a request and should call next() to forward the request to the next function in line or send a response</a:t>
            </a:r>
          </a:p>
          <a:p>
            <a:pPr marL="0" indent="0">
              <a:buNone/>
            </a:pPr>
            <a:r>
              <a:rPr lang="en-US" dirty="0"/>
              <a:t>Routing</a:t>
            </a:r>
          </a:p>
          <a:p>
            <a:pPr lvl="1"/>
            <a:r>
              <a:rPr lang="en-US" dirty="0"/>
              <a:t>You can filter requests by path and method</a:t>
            </a:r>
          </a:p>
          <a:p>
            <a:pPr lvl="1"/>
            <a:r>
              <a:rPr lang="en-US" dirty="0"/>
              <a:t>If you filter by method, paths are matched exactly, otherwise, the first segment of a URL is matched</a:t>
            </a:r>
          </a:p>
          <a:p>
            <a:pPr lvl="1"/>
            <a:r>
              <a:rPr lang="en-US" dirty="0"/>
              <a:t>You can use the </a:t>
            </a:r>
            <a:r>
              <a:rPr lang="en-US" dirty="0" err="1"/>
              <a:t>express.router</a:t>
            </a:r>
            <a:r>
              <a:rPr lang="en-US" dirty="0"/>
              <a:t> to split you routes across files </a:t>
            </a:r>
            <a:r>
              <a:rPr lang="en-US" dirty="0" err="1"/>
              <a:t>elegantely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Serve Files</a:t>
            </a:r>
          </a:p>
          <a:p>
            <a:pPr lvl="1"/>
            <a:r>
              <a:rPr lang="en-US" dirty="0"/>
              <a:t>You’re not limited to serving dummy text as a response</a:t>
            </a:r>
          </a:p>
          <a:p>
            <a:pPr lvl="1"/>
            <a:r>
              <a:rPr lang="en-US" dirty="0"/>
              <a:t>You can </a:t>
            </a:r>
            <a:r>
              <a:rPr lang="en-US" dirty="0" err="1"/>
              <a:t>sendFile</a:t>
            </a:r>
            <a:r>
              <a:rPr lang="en-US" dirty="0"/>
              <a:t>() to your users – </a:t>
            </a:r>
            <a:r>
              <a:rPr lang="en-US" dirty="0" err="1"/>
              <a:t>e.g</a:t>
            </a:r>
            <a:r>
              <a:rPr lang="en-US" dirty="0"/>
              <a:t> HTML files</a:t>
            </a:r>
          </a:p>
          <a:p>
            <a:pPr lvl="1"/>
            <a:r>
              <a:rPr lang="en-US" dirty="0"/>
              <a:t>If a request is directly made for a file (</a:t>
            </a:r>
            <a:r>
              <a:rPr lang="en-US" dirty="0" err="1"/>
              <a:t>e.g</a:t>
            </a:r>
            <a:r>
              <a:rPr lang="en-US" dirty="0"/>
              <a:t> a .</a:t>
            </a:r>
            <a:r>
              <a:rPr lang="en-US" dirty="0" err="1"/>
              <a:t>css</a:t>
            </a:r>
            <a:r>
              <a:rPr lang="en-US" dirty="0"/>
              <a:t> file is requested), you can enable static serving for such files via </a:t>
            </a:r>
            <a:r>
              <a:rPr lang="en-US" dirty="0" err="1"/>
              <a:t>express.static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4399976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67A34-0EE1-D980-6CC8-85604BA72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Content &amp; Templates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72CD2E-7619-664B-B8FA-BC2078E5EC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Managing data (without database)</a:t>
            </a:r>
          </a:p>
          <a:p>
            <a:r>
              <a:rPr lang="en-US" dirty="0"/>
              <a:t>Render dynamic content in our Views</a:t>
            </a:r>
          </a:p>
          <a:p>
            <a:r>
              <a:rPr lang="en-US" dirty="0"/>
              <a:t>Understanding Templating Engines</a:t>
            </a:r>
          </a:p>
        </p:txBody>
      </p:sp>
    </p:spTree>
    <p:extLst>
      <p:ext uri="{BB962C8B-B14F-4D97-AF65-F5344CB8AC3E}">
        <p14:creationId xmlns:p14="http://schemas.microsoft.com/office/powerpoint/2010/main" val="38617274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5D7BE-3E32-C4B5-4F60-A8D03D25B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Templating Engines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CD58A40-1118-7BD3-1AAF-5931D8C0010F}"/>
              </a:ext>
            </a:extLst>
          </p:cNvPr>
          <p:cNvSpPr/>
          <p:nvPr/>
        </p:nvSpPr>
        <p:spPr>
          <a:xfrm>
            <a:off x="5113538" y="1589103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HTMLish</a:t>
            </a:r>
            <a:r>
              <a:rPr lang="en-US" dirty="0"/>
              <a:t> Template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77738EF-4AB6-0DB8-67C3-5DBBEB2AD616}"/>
              </a:ext>
            </a:extLst>
          </p:cNvPr>
          <p:cNvSpPr/>
          <p:nvPr/>
        </p:nvSpPr>
        <p:spPr>
          <a:xfrm>
            <a:off x="5113538" y="3747856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Replaces Placeholders/Snippets with HTML Content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D1E9C5E-4F3A-9020-5CDF-24591326922D}"/>
              </a:ext>
            </a:extLst>
          </p:cNvPr>
          <p:cNvSpPr/>
          <p:nvPr/>
        </p:nvSpPr>
        <p:spPr>
          <a:xfrm>
            <a:off x="5113538" y="5582574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HTML File</a:t>
            </a:r>
          </a:p>
        </p:txBody>
      </p:sp>
      <p:sp>
        <p:nvSpPr>
          <p:cNvPr id="7" name="Down Arrow 6">
            <a:extLst>
              <a:ext uri="{FF2B5EF4-FFF2-40B4-BE49-F238E27FC236}">
                <a16:creationId xmlns:a16="http://schemas.microsoft.com/office/drawing/2014/main" id="{431DE2DE-2334-B929-D49D-01D5D923501D}"/>
              </a:ext>
            </a:extLst>
          </p:cNvPr>
          <p:cNvSpPr/>
          <p:nvPr/>
        </p:nvSpPr>
        <p:spPr>
          <a:xfrm>
            <a:off x="6782540" y="2379216"/>
            <a:ext cx="585926" cy="11718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Down Arrow 7">
            <a:extLst>
              <a:ext uri="{FF2B5EF4-FFF2-40B4-BE49-F238E27FC236}">
                <a16:creationId xmlns:a16="http://schemas.microsoft.com/office/drawing/2014/main" id="{CC099902-D12C-D838-E4AB-4B3F7EF5414E}"/>
              </a:ext>
            </a:extLst>
          </p:cNvPr>
          <p:cNvSpPr/>
          <p:nvPr/>
        </p:nvSpPr>
        <p:spPr>
          <a:xfrm>
            <a:off x="6835806" y="4403324"/>
            <a:ext cx="585926" cy="11718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3166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EC32-D420-3C08-8BA0-FBC221F60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Available Templating Engine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07B46B3-8E73-0719-7413-0EBF60199A3A}"/>
              </a:ext>
            </a:extLst>
          </p:cNvPr>
          <p:cNvSpPr/>
          <p:nvPr/>
        </p:nvSpPr>
        <p:spPr>
          <a:xfrm>
            <a:off x="838200" y="1624614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EjS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E7D950F-7DC1-AB78-540D-6514FD46F31A}"/>
              </a:ext>
            </a:extLst>
          </p:cNvPr>
          <p:cNvSpPr/>
          <p:nvPr/>
        </p:nvSpPr>
        <p:spPr>
          <a:xfrm>
            <a:off x="5130183" y="1624613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Pug (jade)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34D9D05-07FB-8EF8-5F13-F4761F278576}"/>
              </a:ext>
            </a:extLst>
          </p:cNvPr>
          <p:cNvSpPr/>
          <p:nvPr/>
        </p:nvSpPr>
        <p:spPr>
          <a:xfrm>
            <a:off x="9073348" y="1624612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Handlebars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ABA56C-6B84-9E3D-ACE2-CC4F15D8F4C7}"/>
              </a:ext>
            </a:extLst>
          </p:cNvPr>
          <p:cNvSpPr/>
          <p:nvPr/>
        </p:nvSpPr>
        <p:spPr>
          <a:xfrm>
            <a:off x="838199" y="2780191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&lt;p&gt;  &lt;%= name %&gt; &lt;/p&gt;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03E231A-5D96-75EF-EA03-CD5317F5FAC2}"/>
              </a:ext>
            </a:extLst>
          </p:cNvPr>
          <p:cNvSpPr/>
          <p:nvPr/>
        </p:nvSpPr>
        <p:spPr>
          <a:xfrm>
            <a:off x="4601960" y="2755777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 #{name}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6ABD89-7A6D-62C1-DD3D-63B095610E9F}"/>
              </a:ext>
            </a:extLst>
          </p:cNvPr>
          <p:cNvSpPr/>
          <p:nvPr/>
        </p:nvSpPr>
        <p:spPr>
          <a:xfrm>
            <a:off x="8545125" y="2755776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&lt;p&gt; { {name} } &lt;/p&gt;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D2F51C4-902C-C2B3-CA77-E952F7E49E36}"/>
              </a:ext>
            </a:extLst>
          </p:cNvPr>
          <p:cNvSpPr/>
          <p:nvPr/>
        </p:nvSpPr>
        <p:spPr>
          <a:xfrm>
            <a:off x="838198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normal HTML and plain </a:t>
            </a:r>
            <a:r>
              <a:rPr lang="en-US" dirty="0" err="1"/>
              <a:t>javaScript</a:t>
            </a:r>
            <a:r>
              <a:rPr lang="en-US" dirty="0"/>
              <a:t> in your templates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FF77489-C866-3409-3C44-9A241DCAA659}"/>
              </a:ext>
            </a:extLst>
          </p:cNvPr>
          <p:cNvSpPr/>
          <p:nvPr/>
        </p:nvSpPr>
        <p:spPr>
          <a:xfrm>
            <a:off x="4601960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minimal HTML and custom template language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A4CD8D4-C0BC-A4C9-7551-FC598CB9F716}"/>
              </a:ext>
            </a:extLst>
          </p:cNvPr>
          <p:cNvSpPr/>
          <p:nvPr/>
        </p:nvSpPr>
        <p:spPr>
          <a:xfrm>
            <a:off x="8545125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normal HTML and custom template language</a:t>
            </a:r>
          </a:p>
        </p:txBody>
      </p:sp>
    </p:spTree>
    <p:extLst>
      <p:ext uri="{BB962C8B-B14F-4D97-AF65-F5344CB8AC3E}">
        <p14:creationId xmlns:p14="http://schemas.microsoft.com/office/powerpoint/2010/main" val="32807069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18AC50-97E2-1D78-91FB-E5A9243410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63984"/>
            <a:ext cx="10515600" cy="5812979"/>
          </a:xfrm>
        </p:spPr>
        <p:txBody>
          <a:bodyPr numCol="2">
            <a:normAutofit/>
          </a:bodyPr>
          <a:lstStyle/>
          <a:p>
            <a:r>
              <a:rPr lang="en-US" dirty="0"/>
              <a:t>Sharing Data Access Requests &amp; users</a:t>
            </a:r>
          </a:p>
          <a:p>
            <a:r>
              <a:rPr lang="en-US" dirty="0"/>
              <a:t>Installing &amp; implementing Pug</a:t>
            </a:r>
          </a:p>
          <a:p>
            <a:r>
              <a:rPr lang="en-US" dirty="0"/>
              <a:t>Outputting Dynamic Content</a:t>
            </a:r>
          </a:p>
          <a:p>
            <a:r>
              <a:rPr lang="en-US" dirty="0"/>
              <a:t>Converting HTML files to Pug</a:t>
            </a:r>
          </a:p>
          <a:p>
            <a:r>
              <a:rPr lang="en-US" dirty="0"/>
              <a:t>Adding a Layout</a:t>
            </a:r>
          </a:p>
          <a:p>
            <a:r>
              <a:rPr lang="en-US" dirty="0"/>
              <a:t>Finishing the pug template</a:t>
            </a:r>
          </a:p>
          <a:p>
            <a:r>
              <a:rPr lang="en-US" dirty="0"/>
              <a:t>Working with Handlebars</a:t>
            </a:r>
          </a:p>
          <a:p>
            <a:r>
              <a:rPr lang="en-US" dirty="0"/>
              <a:t>Converting our project to handlebars</a:t>
            </a:r>
          </a:p>
          <a:p>
            <a:r>
              <a:rPr lang="en-US" dirty="0"/>
              <a:t>Adding the layout to handlebars</a:t>
            </a:r>
          </a:p>
          <a:p>
            <a:r>
              <a:rPr lang="en-US" dirty="0"/>
              <a:t>Working with EJS</a:t>
            </a:r>
          </a:p>
          <a:p>
            <a:r>
              <a:rPr lang="en-US" dirty="0"/>
              <a:t>Working on the </a:t>
            </a:r>
            <a:r>
              <a:rPr lang="en-US"/>
              <a:t>Layout with Partials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93829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92C53-1F18-3AD3-9AF1-ED222A64F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MVC (Structuring your Code)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E730F8-40FD-6A53-8572-3AA157678B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603375"/>
          </a:xfrm>
        </p:spPr>
        <p:txBody>
          <a:bodyPr/>
          <a:lstStyle/>
          <a:p>
            <a:r>
              <a:rPr lang="en-US" dirty="0"/>
              <a:t>Model – Represent data in your code, work with data(save, fetch)</a:t>
            </a:r>
          </a:p>
          <a:p>
            <a:r>
              <a:rPr lang="en-US" dirty="0"/>
              <a:t>View – What the users see, decoupled from application code</a:t>
            </a:r>
          </a:p>
          <a:p>
            <a:r>
              <a:rPr lang="en-US" dirty="0"/>
              <a:t>Controller – connecting Models and Views, “in-between” logic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77114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5863B-273E-3B2D-F934-53BDAB596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A2CDCD-D418-F4A4-8B13-374B0C916C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Controllers</a:t>
            </a:r>
          </a:p>
          <a:p>
            <a:r>
              <a:rPr lang="en-US" dirty="0"/>
              <a:t>Adding a Product Model</a:t>
            </a:r>
          </a:p>
          <a:p>
            <a:r>
              <a:rPr lang="en-US" dirty="0"/>
              <a:t>Storing data in Files Via the Model</a:t>
            </a:r>
          </a:p>
          <a:p>
            <a:r>
              <a:rPr lang="en-US" dirty="0"/>
              <a:t>Fetching data from files via the Model</a:t>
            </a:r>
          </a:p>
          <a:p>
            <a:r>
              <a:rPr lang="en-US" dirty="0"/>
              <a:t>Refactoring the file storage code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853899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BCC09-64F9-44E3-4D85-1867FF1BF9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AA83A7-918D-36D3-B65F-FF98AADE5B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Model</a:t>
            </a:r>
          </a:p>
          <a:p>
            <a:pPr lvl="1"/>
            <a:r>
              <a:rPr lang="en-US" dirty="0"/>
              <a:t>Responsible for representing your data</a:t>
            </a:r>
          </a:p>
          <a:p>
            <a:pPr lvl="1"/>
            <a:r>
              <a:rPr lang="en-US" dirty="0"/>
              <a:t>Responsible for managing your data (saving, fetching, …)</a:t>
            </a:r>
          </a:p>
          <a:p>
            <a:pPr lvl="1"/>
            <a:r>
              <a:rPr lang="en-US" dirty="0"/>
              <a:t>Doesn’t matter if you manage data in memory, files, databases</a:t>
            </a:r>
          </a:p>
          <a:p>
            <a:pPr lvl="1"/>
            <a:r>
              <a:rPr lang="en-US" dirty="0"/>
              <a:t>Contains data-related logic</a:t>
            </a:r>
          </a:p>
          <a:p>
            <a:r>
              <a:rPr lang="en-US" dirty="0"/>
              <a:t>Controller</a:t>
            </a:r>
          </a:p>
          <a:p>
            <a:pPr lvl="1"/>
            <a:r>
              <a:rPr lang="en-US" dirty="0"/>
              <a:t>Connects Model and View</a:t>
            </a:r>
          </a:p>
          <a:p>
            <a:pPr lvl="1"/>
            <a:r>
              <a:rPr lang="en-US" dirty="0"/>
              <a:t>Should only make sure that the two can communicate ( in both directions)</a:t>
            </a:r>
          </a:p>
          <a:p>
            <a:r>
              <a:rPr lang="en-US" dirty="0"/>
              <a:t>View</a:t>
            </a:r>
          </a:p>
          <a:p>
            <a:pPr lvl="1"/>
            <a:r>
              <a:rPr lang="en-US" dirty="0"/>
              <a:t>What the user sees</a:t>
            </a:r>
          </a:p>
          <a:p>
            <a:pPr lvl="1"/>
            <a:r>
              <a:rPr lang="en-US" dirty="0"/>
              <a:t>Shouldn’t contain too much logic (handlebars!)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04331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750284-0580-E891-873A-A420CD251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1604"/>
            <a:ext cx="10515600" cy="5905359"/>
          </a:xfrm>
        </p:spPr>
        <p:txBody>
          <a:bodyPr/>
          <a:lstStyle/>
          <a:p>
            <a:r>
              <a:rPr lang="en-US" dirty="0"/>
              <a:t>Creating the Shop Structure</a:t>
            </a:r>
          </a:p>
          <a:p>
            <a:r>
              <a:rPr lang="en-US" dirty="0"/>
              <a:t>Working on the Navigation</a:t>
            </a:r>
          </a:p>
          <a:p>
            <a:r>
              <a:rPr lang="en-US" dirty="0"/>
              <a:t>Registering the Routes</a:t>
            </a:r>
          </a:p>
          <a:p>
            <a:r>
              <a:rPr lang="en-US" dirty="0"/>
              <a:t>Storing Product Data</a:t>
            </a:r>
          </a:p>
          <a:p>
            <a:r>
              <a:rPr lang="en-US" dirty="0"/>
              <a:t>Displaying product data</a:t>
            </a:r>
          </a:p>
          <a:p>
            <a:r>
              <a:rPr lang="en-US" dirty="0"/>
              <a:t>Editing &amp; Deleting Products</a:t>
            </a:r>
          </a:p>
          <a:p>
            <a:r>
              <a:rPr lang="en-US" dirty="0"/>
              <a:t>Adding Another Item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30136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609184-4E88-BE3D-3868-0284DAD74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Routes &amp; Advanced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21D14C-9F1B-62DE-EA77-ED89753394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Passing route params</a:t>
            </a:r>
          </a:p>
          <a:p>
            <a:r>
              <a:rPr lang="en-US" dirty="0"/>
              <a:t>Using Query Params</a:t>
            </a:r>
          </a:p>
          <a:p>
            <a:r>
              <a:rPr lang="en-US" dirty="0"/>
              <a:t>Enhance our Models</a:t>
            </a:r>
          </a:p>
          <a:p>
            <a:r>
              <a:rPr lang="en-US" dirty="0"/>
              <a:t>Adding the Product ID to the Path</a:t>
            </a:r>
          </a:p>
          <a:p>
            <a:r>
              <a:rPr lang="en-US" dirty="0"/>
              <a:t>Loading Product Detail Data</a:t>
            </a:r>
          </a:p>
          <a:p>
            <a:r>
              <a:rPr lang="en-US" dirty="0"/>
              <a:t>Rendering the Product Detail View</a:t>
            </a:r>
          </a:p>
          <a:p>
            <a:r>
              <a:rPr lang="en-US"/>
              <a:t>Passing Data with POST Requests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14650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18C65D-AA8E-47D2-147B-600BEFCA96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16048"/>
            <a:ext cx="10515600" cy="5660915"/>
          </a:xfrm>
        </p:spPr>
        <p:txBody>
          <a:bodyPr/>
          <a:lstStyle/>
          <a:p>
            <a:r>
              <a:rPr lang="en-US" dirty="0"/>
              <a:t>Adding a Cart Model</a:t>
            </a:r>
          </a:p>
          <a:p>
            <a:r>
              <a:rPr lang="en-US" dirty="0"/>
              <a:t>Using Query Params</a:t>
            </a:r>
          </a:p>
          <a:p>
            <a:r>
              <a:rPr lang="en-US" dirty="0"/>
              <a:t>Pre-populating the Edit Product Page with Data</a:t>
            </a:r>
          </a:p>
          <a:p>
            <a:r>
              <a:rPr lang="en-US" dirty="0"/>
              <a:t>Linking to the Edit Page</a:t>
            </a:r>
          </a:p>
          <a:p>
            <a:r>
              <a:rPr lang="en-US" dirty="0"/>
              <a:t>Editing the Product Data</a:t>
            </a:r>
          </a:p>
          <a:p>
            <a:r>
              <a:rPr lang="en-US" dirty="0"/>
              <a:t>Adding the Product-Delete functionality</a:t>
            </a:r>
          </a:p>
          <a:p>
            <a:r>
              <a:rPr lang="en-US" dirty="0"/>
              <a:t>Deleting Cart Item</a:t>
            </a:r>
          </a:p>
          <a:p>
            <a:r>
              <a:rPr lang="en-US" dirty="0"/>
              <a:t>Displaying Cart Items </a:t>
            </a:r>
            <a:r>
              <a:rPr lang="en-US"/>
              <a:t>on the Cart Page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91711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93B40-6D39-7FBC-52A3-85AAFF99F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283804-D252-5F62-7ED7-023CD05FB6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Dynamic Routing</a:t>
            </a:r>
          </a:p>
          <a:p>
            <a:pPr lvl="1"/>
            <a:r>
              <a:rPr lang="en-US" dirty="0"/>
              <a:t>You can pass dynamic path segments by adding a “:” to the Express router path</a:t>
            </a:r>
          </a:p>
          <a:p>
            <a:pPr lvl="1"/>
            <a:r>
              <a:rPr lang="en-US" dirty="0"/>
              <a:t>The name you add after “:” is the name by which you can extract the data on </a:t>
            </a:r>
            <a:r>
              <a:rPr lang="en-US" dirty="0" err="1"/>
              <a:t>req.params</a:t>
            </a:r>
            <a:endParaRPr lang="en-US" dirty="0"/>
          </a:p>
          <a:p>
            <a:pPr lvl="1"/>
            <a:r>
              <a:rPr lang="en-US" dirty="0"/>
              <a:t>Optional (query) parameters can also be passed ( ? Param = value &amp; b = 2) and extracted (</a:t>
            </a:r>
            <a:r>
              <a:rPr lang="en-US" dirty="0" err="1"/>
              <a:t>req.query.myParam</a:t>
            </a:r>
            <a:r>
              <a:rPr lang="en-US" dirty="0"/>
              <a:t>)</a:t>
            </a:r>
          </a:p>
          <a:p>
            <a:r>
              <a:rPr lang="en-US" dirty="0"/>
              <a:t>More on Models</a:t>
            </a:r>
          </a:p>
          <a:p>
            <a:pPr lvl="1"/>
            <a:r>
              <a:rPr lang="en-US" dirty="0"/>
              <a:t>A cart model was added – it holds static methods only</a:t>
            </a:r>
          </a:p>
          <a:p>
            <a:pPr lvl="1"/>
            <a:r>
              <a:rPr lang="en-US" dirty="0"/>
              <a:t>You can interact between models ( e.g. delete cart item if a product is deleted)</a:t>
            </a:r>
          </a:p>
          <a:p>
            <a:pPr lvl="1"/>
            <a:r>
              <a:rPr lang="en-US" dirty="0"/>
              <a:t>Working with files for data storage is </a:t>
            </a:r>
            <a:r>
              <a:rPr lang="en-US" dirty="0" err="1"/>
              <a:t>suboptiomal</a:t>
            </a:r>
            <a:r>
              <a:rPr lang="en-US" dirty="0"/>
              <a:t> for bigger amounts of data</a:t>
            </a:r>
          </a:p>
        </p:txBody>
      </p:sp>
    </p:spTree>
    <p:extLst>
      <p:ext uri="{BB962C8B-B14F-4D97-AF65-F5344CB8AC3E}">
        <p14:creationId xmlns:p14="http://schemas.microsoft.com/office/powerpoint/2010/main" val="390334395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0EAB70-EE0C-7530-FBE0-7296B06C1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Storing Data in Databases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058085-6E06-C165-2882-074C72EB6D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Different kinds of databases ( SQL vs NoSQL)</a:t>
            </a:r>
          </a:p>
          <a:p>
            <a:r>
              <a:rPr lang="en-US" dirty="0"/>
              <a:t>Using SQL in a Node.js App</a:t>
            </a:r>
          </a:p>
        </p:txBody>
      </p:sp>
    </p:spTree>
    <p:extLst>
      <p:ext uri="{BB962C8B-B14F-4D97-AF65-F5344CB8AC3E}">
        <p14:creationId xmlns:p14="http://schemas.microsoft.com/office/powerpoint/2010/main" val="328021081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15E188-F2A9-9154-22EE-08834DDFA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vs NoSQL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51DEC2-891D-0E44-EC2B-C44F50A4E6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Store data and make it Easily Accessible</a:t>
            </a:r>
          </a:p>
          <a:p>
            <a:pPr lvl="1"/>
            <a:r>
              <a:rPr lang="en-US" dirty="0"/>
              <a:t>SQL databases (e.g. MySQL)</a:t>
            </a:r>
          </a:p>
          <a:p>
            <a:pPr lvl="1"/>
            <a:r>
              <a:rPr lang="en-US" dirty="0"/>
              <a:t>NoSQL Databases (e.g. MongoDB)</a:t>
            </a:r>
          </a:p>
        </p:txBody>
      </p:sp>
    </p:spTree>
    <p:extLst>
      <p:ext uri="{BB962C8B-B14F-4D97-AF65-F5344CB8AC3E}">
        <p14:creationId xmlns:p14="http://schemas.microsoft.com/office/powerpoint/2010/main" val="428360302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57A02-7D28-9F6A-67F7-F9DF52A3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05CC224-20F9-807A-E4F9-C8E0D5D2D1A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64323852"/>
              </p:ext>
            </p:extLst>
          </p:nvPr>
        </p:nvGraphicFramePr>
        <p:xfrm>
          <a:off x="1032162" y="1834862"/>
          <a:ext cx="6033656" cy="212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3293">
                  <a:extLst>
                    <a:ext uri="{9D8B030D-6E8A-4147-A177-3AD203B41FA5}">
                      <a16:colId xmlns:a16="http://schemas.microsoft.com/office/drawing/2014/main" val="633939766"/>
                    </a:ext>
                  </a:extLst>
                </a:gridCol>
                <a:gridCol w="2180890">
                  <a:extLst>
                    <a:ext uri="{9D8B030D-6E8A-4147-A177-3AD203B41FA5}">
                      <a16:colId xmlns:a16="http://schemas.microsoft.com/office/drawing/2014/main" val="2921028910"/>
                    </a:ext>
                  </a:extLst>
                </a:gridCol>
                <a:gridCol w="3109473">
                  <a:extLst>
                    <a:ext uri="{9D8B030D-6E8A-4147-A177-3AD203B41FA5}">
                      <a16:colId xmlns:a16="http://schemas.microsoft.com/office/drawing/2014/main" val="2648814571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r>
                        <a:rPr lang="en-US" b="1" dirty="0"/>
                        <a:t>Users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6067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Email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Name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11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hlinkClick r:id="rId2"/>
                        </a:rPr>
                        <a:t>ram@gmail.com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Ram Sharma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214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2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hlinkClick r:id="rId3"/>
                        </a:rPr>
                        <a:t>mohan@gmail.com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Mohan Verma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115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hlinkClick r:id="rId4"/>
                        </a:rPr>
                        <a:t>sohan@gmail.com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Sohan Mishra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668102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C8DAABE0-9180-9FE7-9BFB-8FBA83047D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64086973"/>
              </p:ext>
            </p:extLst>
          </p:nvPr>
        </p:nvGraphicFramePr>
        <p:xfrm>
          <a:off x="1032162" y="4185517"/>
          <a:ext cx="6033656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0508">
                  <a:extLst>
                    <a:ext uri="{9D8B030D-6E8A-4147-A177-3AD203B41FA5}">
                      <a16:colId xmlns:a16="http://schemas.microsoft.com/office/drawing/2014/main" val="633939766"/>
                    </a:ext>
                  </a:extLst>
                </a:gridCol>
                <a:gridCol w="1439194">
                  <a:extLst>
                    <a:ext uri="{9D8B030D-6E8A-4147-A177-3AD203B41FA5}">
                      <a16:colId xmlns:a16="http://schemas.microsoft.com/office/drawing/2014/main" val="2921028910"/>
                    </a:ext>
                  </a:extLst>
                </a:gridCol>
                <a:gridCol w="2051977">
                  <a:extLst>
                    <a:ext uri="{9D8B030D-6E8A-4147-A177-3AD203B41FA5}">
                      <a16:colId xmlns:a16="http://schemas.microsoft.com/office/drawing/2014/main" val="2648814571"/>
                    </a:ext>
                  </a:extLst>
                </a:gridCol>
                <a:gridCol w="2051977">
                  <a:extLst>
                    <a:ext uri="{9D8B030D-6E8A-4147-A177-3AD203B41FA5}">
                      <a16:colId xmlns:a16="http://schemas.microsoft.com/office/drawing/2014/main" val="303862644"/>
                    </a:ext>
                  </a:extLst>
                </a:gridCol>
              </a:tblGrid>
              <a:tr h="370840">
                <a:tc gridSpan="4">
                  <a:txBody>
                    <a:bodyPr/>
                    <a:lstStyle/>
                    <a:p>
                      <a:r>
                        <a:rPr lang="en-US" dirty="0"/>
                        <a:t>Products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6067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Title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11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214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115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668102"/>
                  </a:ext>
                </a:extLst>
              </a:tr>
            </a:tbl>
          </a:graphicData>
        </a:graphic>
      </p:graphicFrame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57A07CFC-6D74-67D7-CC97-27DCE8E57C5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92615754"/>
              </p:ext>
            </p:extLst>
          </p:nvPr>
        </p:nvGraphicFramePr>
        <p:xfrm>
          <a:off x="7585364" y="3138430"/>
          <a:ext cx="3768436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6545">
                  <a:extLst>
                    <a:ext uri="{9D8B030D-6E8A-4147-A177-3AD203B41FA5}">
                      <a16:colId xmlns:a16="http://schemas.microsoft.com/office/drawing/2014/main" val="633939766"/>
                    </a:ext>
                  </a:extLst>
                </a:gridCol>
                <a:gridCol w="1431636">
                  <a:extLst>
                    <a:ext uri="{9D8B030D-6E8A-4147-A177-3AD203B41FA5}">
                      <a16:colId xmlns:a16="http://schemas.microsoft.com/office/drawing/2014/main" val="2921028910"/>
                    </a:ext>
                  </a:extLst>
                </a:gridCol>
                <a:gridCol w="1690255">
                  <a:extLst>
                    <a:ext uri="{9D8B030D-6E8A-4147-A177-3AD203B41FA5}">
                      <a16:colId xmlns:a16="http://schemas.microsoft.com/office/drawing/2014/main" val="2648814571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r>
                        <a:rPr lang="en-US" dirty="0"/>
                        <a:t>Orders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6067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User_id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Product_id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11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214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115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6681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048264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217D3-7274-6D7D-30F3-7BA9680F6B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SQL Database Characteristics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8B68F1-840D-75FC-CE66-358881265D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Schema (id, name, age) – All Data ( in a Table has to fit)</a:t>
            </a:r>
          </a:p>
          <a:p>
            <a:r>
              <a:rPr lang="en-US" dirty="0"/>
              <a:t>Data Relations ( Tables are connected)</a:t>
            </a:r>
          </a:p>
          <a:p>
            <a:pPr lvl="1"/>
            <a:r>
              <a:rPr lang="en-US" dirty="0"/>
              <a:t>One-to-One</a:t>
            </a:r>
          </a:p>
          <a:p>
            <a:pPr lvl="1"/>
            <a:r>
              <a:rPr lang="en-US" dirty="0"/>
              <a:t>One-to-Many</a:t>
            </a:r>
          </a:p>
          <a:p>
            <a:pPr lvl="1"/>
            <a:r>
              <a:rPr lang="en-US" dirty="0"/>
              <a:t>Many-to-Many</a:t>
            </a:r>
          </a:p>
        </p:txBody>
      </p:sp>
    </p:spTree>
    <p:extLst>
      <p:ext uri="{BB962C8B-B14F-4D97-AF65-F5344CB8AC3E}">
        <p14:creationId xmlns:p14="http://schemas.microsoft.com/office/powerpoint/2010/main" val="201424483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291F4-7B93-35A6-DD81-27CF25422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Queries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D3289-22F2-6BC5-1C14-BE9C5F904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SELECT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*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FROM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users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WHERE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age &gt; 30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SQL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Keywords</a:t>
            </a:r>
          </a:p>
          <a:p>
            <a:pPr marL="0" indent="0">
              <a:buNone/>
            </a:pPr>
            <a:endParaRPr lang="en-US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</a:rPr>
              <a:t>Parameters/Data</a:t>
            </a:r>
          </a:p>
        </p:txBody>
      </p:sp>
    </p:spTree>
    <p:extLst>
      <p:ext uri="{BB962C8B-B14F-4D97-AF65-F5344CB8AC3E}">
        <p14:creationId xmlns:p14="http://schemas.microsoft.com/office/powerpoint/2010/main" val="287284373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C39F45-21C1-31AF-587F-4A9A43E38E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364BA6-889C-ADE3-A64D-97C7A72A86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Database : Shop</a:t>
            </a:r>
          </a:p>
          <a:p>
            <a:r>
              <a:rPr lang="en-US" dirty="0"/>
              <a:t>Collections : Users, Orders</a:t>
            </a:r>
          </a:p>
          <a:p>
            <a:r>
              <a:rPr lang="en-US" dirty="0"/>
              <a:t>Documents: {</a:t>
            </a:r>
            <a:r>
              <a:rPr lang="en-US" dirty="0" err="1"/>
              <a:t>name:’Ram</a:t>
            </a:r>
            <a:r>
              <a:rPr lang="en-US" dirty="0"/>
              <a:t> Sharmar’,age:30} {…}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694977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C8128E-809B-E593-29C7-25B3221BD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NoSQL Characteristics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769E68-B525-11F4-B0A7-EC563B4BB0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Data Schema – No Structure required!</a:t>
            </a:r>
          </a:p>
          <a:p>
            <a:r>
              <a:rPr lang="en-US" dirty="0"/>
              <a:t>No Data Relations – No/Few Connections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40755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CE373-EC35-AC0B-1E31-E4DC99BDF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5AFEC6-4412-DAF0-58C6-60CBAD6543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Horizontal Scaling</a:t>
            </a:r>
          </a:p>
          <a:p>
            <a:pPr lvl="1"/>
            <a:r>
              <a:rPr lang="en-US" dirty="0"/>
              <a:t>Add More Servers ( and merge Data into one Database)</a:t>
            </a:r>
          </a:p>
          <a:p>
            <a:pPr lvl="1"/>
            <a:endParaRPr lang="en-US" dirty="0"/>
          </a:p>
          <a:p>
            <a:r>
              <a:rPr lang="en-US" dirty="0"/>
              <a:t>Vertical Scaling</a:t>
            </a:r>
          </a:p>
          <a:p>
            <a:pPr lvl="1"/>
            <a:r>
              <a:rPr lang="en-US" dirty="0"/>
              <a:t>Improve Server Capacity/Hardware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734D245-C462-FA57-1453-30F8C2E065DD}"/>
              </a:ext>
            </a:extLst>
          </p:cNvPr>
          <p:cNvSpPr/>
          <p:nvPr/>
        </p:nvSpPr>
        <p:spPr>
          <a:xfrm>
            <a:off x="9023927" y="2022764"/>
            <a:ext cx="471055" cy="8312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6A4CDC-3B36-A3BA-9CE9-FCE47A1E5138}"/>
              </a:ext>
            </a:extLst>
          </p:cNvPr>
          <p:cNvSpPr/>
          <p:nvPr/>
        </p:nvSpPr>
        <p:spPr>
          <a:xfrm>
            <a:off x="9619672" y="2022764"/>
            <a:ext cx="471055" cy="8312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21FF50-C47B-03C2-7BAB-2DFD9EA2B272}"/>
              </a:ext>
            </a:extLst>
          </p:cNvPr>
          <p:cNvSpPr/>
          <p:nvPr/>
        </p:nvSpPr>
        <p:spPr>
          <a:xfrm>
            <a:off x="10251208" y="2022764"/>
            <a:ext cx="471055" cy="8312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9FF6FC-F140-BF89-1968-7158BAC02E71}"/>
              </a:ext>
            </a:extLst>
          </p:cNvPr>
          <p:cNvSpPr/>
          <p:nvPr/>
        </p:nvSpPr>
        <p:spPr>
          <a:xfrm>
            <a:off x="7961745" y="3703782"/>
            <a:ext cx="868219" cy="297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AA4222-F95B-4377-C295-12793C313CC8}"/>
              </a:ext>
            </a:extLst>
          </p:cNvPr>
          <p:cNvSpPr/>
          <p:nvPr/>
        </p:nvSpPr>
        <p:spPr>
          <a:xfrm>
            <a:off x="7961744" y="4136231"/>
            <a:ext cx="868219" cy="297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ECDB18F-D60A-60D2-44C3-CDB676B25512}"/>
              </a:ext>
            </a:extLst>
          </p:cNvPr>
          <p:cNvSpPr/>
          <p:nvPr/>
        </p:nvSpPr>
        <p:spPr>
          <a:xfrm>
            <a:off x="7961744" y="4575392"/>
            <a:ext cx="868219" cy="297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0797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97A0B2-374A-B574-4AA8-067B648D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vs NoSQL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DDC01F-45B0-C8C5-767E-6DDED73C7A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7508" y="1690688"/>
            <a:ext cx="4528127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Data uses Schemas</a:t>
            </a:r>
          </a:p>
          <a:p>
            <a:r>
              <a:rPr lang="en-US" dirty="0"/>
              <a:t>Relations!	</a:t>
            </a:r>
          </a:p>
          <a:p>
            <a:r>
              <a:rPr lang="en-US" dirty="0"/>
              <a:t>Data is distributed across multiple tables</a:t>
            </a:r>
          </a:p>
          <a:p>
            <a:r>
              <a:rPr lang="en-US" dirty="0"/>
              <a:t>Horizontal scaling is difficult/impossible; vertical scaling is possible</a:t>
            </a:r>
          </a:p>
          <a:p>
            <a:r>
              <a:rPr lang="en-US" dirty="0"/>
              <a:t>Limitations for lots of (thousands) read&amp; write queries per second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0528BA7-9B90-06C1-BB0A-91F00E440B2C}"/>
              </a:ext>
            </a:extLst>
          </p:cNvPr>
          <p:cNvSpPr txBox="1">
            <a:spLocks/>
          </p:cNvSpPr>
          <p:nvPr/>
        </p:nvSpPr>
        <p:spPr>
          <a:xfrm>
            <a:off x="6825673" y="1690688"/>
            <a:ext cx="4528127" cy="435133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Schema-less</a:t>
            </a:r>
          </a:p>
          <a:p>
            <a:r>
              <a:rPr lang="en-US" dirty="0"/>
              <a:t>No(or very few) Relations</a:t>
            </a:r>
          </a:p>
          <a:p>
            <a:r>
              <a:rPr lang="en-US" dirty="0"/>
              <a:t>Data is typically merged/nested in a few collections</a:t>
            </a:r>
          </a:p>
          <a:p>
            <a:r>
              <a:rPr lang="en-US" dirty="0"/>
              <a:t>Both horizontal and vertical scaling is possible</a:t>
            </a:r>
          </a:p>
          <a:p>
            <a:r>
              <a:rPr lang="en-US" dirty="0"/>
              <a:t>Great performance for mass read &amp; write requests</a:t>
            </a:r>
          </a:p>
        </p:txBody>
      </p:sp>
    </p:spTree>
    <p:extLst>
      <p:ext uri="{BB962C8B-B14F-4D97-AF65-F5344CB8AC3E}">
        <p14:creationId xmlns:p14="http://schemas.microsoft.com/office/powerpoint/2010/main" val="192419064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39EEF1-FDD9-1690-C4CE-7F6DDF47C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MySQL Download install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26BA55-97CF-683B-6E3C-3C4AE0E7BA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MySQL Community Downloads</a:t>
            </a:r>
          </a:p>
          <a:p>
            <a:pPr lvl="1"/>
            <a:r>
              <a:rPr lang="en-US" dirty="0"/>
              <a:t>MySQL Community Server</a:t>
            </a:r>
          </a:p>
          <a:p>
            <a:pPr lvl="1"/>
            <a:r>
              <a:rPr lang="en-US" dirty="0"/>
              <a:t>MySQL Workbench</a:t>
            </a:r>
          </a:p>
          <a:p>
            <a:r>
              <a:rPr lang="en-US" dirty="0"/>
              <a:t>Connecting our App to the SQL Database</a:t>
            </a:r>
          </a:p>
          <a:p>
            <a:r>
              <a:rPr lang="en-US" dirty="0"/>
              <a:t>Basic SQL &amp; creating a Table</a:t>
            </a:r>
          </a:p>
          <a:p>
            <a:r>
              <a:rPr lang="en-US" dirty="0"/>
              <a:t>Fetching Products</a:t>
            </a:r>
          </a:p>
          <a:p>
            <a:r>
              <a:rPr lang="en-US" dirty="0"/>
              <a:t>Inserting Data into Database</a:t>
            </a:r>
          </a:p>
          <a:p>
            <a:r>
              <a:rPr lang="en-US" dirty="0"/>
              <a:t>Fetching a single product with the </a:t>
            </a:r>
            <a:r>
              <a:rPr lang="en-US"/>
              <a:t>where condition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31575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A70847-203D-3882-F5F4-7C7C2861B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Sequelize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08ED4-3C93-DC4B-3AFB-6C39798946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Focus n Node.js, not on SQL</a:t>
            </a:r>
          </a:p>
          <a:p>
            <a:pPr marL="0" indent="0">
              <a:buNone/>
            </a:pPr>
            <a:r>
              <a:rPr lang="en-US" dirty="0"/>
              <a:t>An Object-Relational Mapping Library</a:t>
            </a:r>
          </a:p>
          <a:p>
            <a:pPr marL="0" indent="0">
              <a:buNone/>
            </a:pPr>
            <a:r>
              <a:rPr lang="en-US" dirty="0"/>
              <a:t>Syncing JS Definitions to the Database</a:t>
            </a:r>
          </a:p>
          <a:p>
            <a:pPr marL="0" indent="0">
              <a:buNone/>
            </a:pPr>
            <a:r>
              <a:rPr lang="en-US" dirty="0"/>
              <a:t>Inserting Data &amp; Creating a Product</a:t>
            </a:r>
          </a:p>
          <a:p>
            <a:pPr marL="0" indent="0">
              <a:buNone/>
            </a:pPr>
            <a:r>
              <a:rPr lang="en-US" dirty="0"/>
              <a:t>Retrieving Data &amp; Finding Products</a:t>
            </a:r>
          </a:p>
          <a:p>
            <a:pPr marL="0" indent="0">
              <a:buNone/>
            </a:pPr>
            <a:r>
              <a:rPr lang="en-US" dirty="0"/>
              <a:t>Getting a Single Product with the where Condition</a:t>
            </a:r>
          </a:p>
          <a:p>
            <a:pPr marL="0" indent="0">
              <a:buNone/>
            </a:pPr>
            <a:r>
              <a:rPr lang="en-US" dirty="0"/>
              <a:t>Fetching Admin products</a:t>
            </a:r>
          </a:p>
          <a:p>
            <a:pPr marL="0" indent="0">
              <a:buNone/>
            </a:pPr>
            <a:r>
              <a:rPr lang="en-US" dirty="0"/>
              <a:t>Updating Products</a:t>
            </a:r>
          </a:p>
          <a:p>
            <a:pPr marL="0" indent="0">
              <a:buNone/>
            </a:pPr>
            <a:r>
              <a:rPr lang="en-US" dirty="0"/>
              <a:t>Creating a User Model</a:t>
            </a:r>
          </a:p>
          <a:p>
            <a:pPr marL="0" indent="0">
              <a:buNone/>
            </a:pPr>
            <a:r>
              <a:rPr lang="en-US" dirty="0"/>
              <a:t>Adding a One-To-Many Relationship</a:t>
            </a:r>
          </a:p>
          <a:p>
            <a:pPr marL="0" indent="0">
              <a:buNone/>
            </a:pPr>
            <a:r>
              <a:rPr lang="en-US" dirty="0"/>
              <a:t>Creating &amp; Managing a Dummy User</a:t>
            </a:r>
          </a:p>
          <a:p>
            <a:pPr marL="0" indent="0">
              <a:buNone/>
            </a:pPr>
            <a:r>
              <a:rPr lang="en-US" dirty="0"/>
              <a:t>Using Magic Association Methods</a:t>
            </a:r>
          </a:p>
          <a:p>
            <a:pPr marL="0" indent="0">
              <a:buNone/>
            </a:pPr>
            <a:r>
              <a:rPr lang="en-US" dirty="0"/>
              <a:t>Fetching Related Products</a:t>
            </a:r>
          </a:p>
          <a:p>
            <a:pPr marL="0" indent="0">
              <a:buNone/>
            </a:pPr>
            <a:r>
              <a:rPr lang="en-US" dirty="0"/>
              <a:t>One-to-many &amp; many-to-many Relations</a:t>
            </a:r>
          </a:p>
          <a:p>
            <a:pPr marL="0" indent="0">
              <a:buNone/>
            </a:pPr>
            <a:r>
              <a:rPr lang="en-US" dirty="0"/>
              <a:t>Creating &amp; Fetching a Cart</a:t>
            </a:r>
          </a:p>
          <a:p>
            <a:pPr marL="0" indent="0">
              <a:buNone/>
            </a:pPr>
            <a:r>
              <a:rPr lang="en-US" dirty="0"/>
              <a:t>Adding New Products to the Cart</a:t>
            </a:r>
          </a:p>
          <a:p>
            <a:pPr marL="0" indent="0">
              <a:buNone/>
            </a:pPr>
            <a:r>
              <a:rPr lang="en-US" dirty="0"/>
              <a:t>Adding Existing Products &amp; Retrieving Cart Items</a:t>
            </a:r>
          </a:p>
          <a:p>
            <a:pPr marL="0" indent="0">
              <a:buNone/>
            </a:pPr>
            <a:r>
              <a:rPr lang="en-US" dirty="0"/>
              <a:t>Deleting Related Items &amp; Deleting Cart Products</a:t>
            </a:r>
          </a:p>
          <a:p>
            <a:pPr marL="0" indent="0">
              <a:buNone/>
            </a:pPr>
            <a:r>
              <a:rPr lang="en-US" dirty="0"/>
              <a:t>Adding an Order Model</a:t>
            </a:r>
          </a:p>
          <a:p>
            <a:pPr marL="0" indent="0">
              <a:buNone/>
            </a:pPr>
            <a:r>
              <a:rPr lang="en-US" dirty="0"/>
              <a:t>Storing </a:t>
            </a:r>
            <a:r>
              <a:rPr lang="en-US" dirty="0" err="1"/>
              <a:t>Cartitems</a:t>
            </a:r>
            <a:r>
              <a:rPr lang="en-US" dirty="0"/>
              <a:t> as </a:t>
            </a:r>
            <a:r>
              <a:rPr lang="en-US" dirty="0" err="1"/>
              <a:t>Orderitems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Resetting the Cart &amp; Fetching and Outputting Orders</a:t>
            </a:r>
          </a:p>
        </p:txBody>
      </p:sp>
    </p:spTree>
    <p:extLst>
      <p:ext uri="{BB962C8B-B14F-4D97-AF65-F5344CB8AC3E}">
        <p14:creationId xmlns:p14="http://schemas.microsoft.com/office/powerpoint/2010/main" val="328075408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84748F-8A0B-BD1A-DC81-F918D687D8F0}"/>
              </a:ext>
            </a:extLst>
          </p:cNvPr>
          <p:cNvSpPr txBox="1"/>
          <p:nvPr/>
        </p:nvSpPr>
        <p:spPr>
          <a:xfrm>
            <a:off x="4507992" y="484632"/>
            <a:ext cx="14681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Associations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A30B96C-9420-58E3-FBFB-0025C003FF2B}"/>
              </a:ext>
            </a:extLst>
          </p:cNvPr>
          <p:cNvSpPr/>
          <p:nvPr/>
        </p:nvSpPr>
        <p:spPr>
          <a:xfrm>
            <a:off x="795528" y="1152144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Product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37DFBF8-1AD4-37DF-FAB8-668A26C482A2}"/>
              </a:ext>
            </a:extLst>
          </p:cNvPr>
          <p:cNvSpPr/>
          <p:nvPr/>
        </p:nvSpPr>
        <p:spPr>
          <a:xfrm>
            <a:off x="9378696" y="1152144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A0B7A3-7083-BE85-AC1C-EAC8AA3C4775}"/>
              </a:ext>
            </a:extLst>
          </p:cNvPr>
          <p:cNvSpPr/>
          <p:nvPr/>
        </p:nvSpPr>
        <p:spPr>
          <a:xfrm>
            <a:off x="4967117" y="3782568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Cart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04F74C-AE52-8EDA-6BA7-5609D0C1106F}"/>
              </a:ext>
            </a:extLst>
          </p:cNvPr>
          <p:cNvSpPr/>
          <p:nvPr/>
        </p:nvSpPr>
        <p:spPr>
          <a:xfrm>
            <a:off x="4967117" y="5169408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Order</a:t>
            </a:r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5D84ABE3-4BAF-975F-527F-0FEB811E55BF}"/>
              </a:ext>
            </a:extLst>
          </p:cNvPr>
          <p:cNvCxnSpPr>
            <a:stCxn id="5" idx="2"/>
            <a:endCxn id="7" idx="1"/>
          </p:cNvCxnSpPr>
          <p:nvPr/>
        </p:nvCxnSpPr>
        <p:spPr>
          <a:xfrm rot="16200000" flipH="1">
            <a:off x="2217620" y="1453695"/>
            <a:ext cx="2209800" cy="328919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8F4B6D73-3699-0BF1-A8EF-355C6EFD8659}"/>
              </a:ext>
            </a:extLst>
          </p:cNvPr>
          <p:cNvCxnSpPr>
            <a:stCxn id="5" idx="2"/>
            <a:endCxn id="8" idx="1"/>
          </p:cNvCxnSpPr>
          <p:nvPr/>
        </p:nvCxnSpPr>
        <p:spPr>
          <a:xfrm rot="16200000" flipH="1">
            <a:off x="1524200" y="2147115"/>
            <a:ext cx="3596640" cy="328919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>
            <a:extLst>
              <a:ext uri="{FF2B5EF4-FFF2-40B4-BE49-F238E27FC236}">
                <a16:creationId xmlns:a16="http://schemas.microsoft.com/office/drawing/2014/main" id="{D7C1EB52-49BF-BF46-015C-F87E132A02FB}"/>
              </a:ext>
            </a:extLst>
          </p:cNvPr>
          <p:cNvCxnSpPr>
            <a:stCxn id="6" idx="1"/>
            <a:endCxn id="5" idx="3"/>
          </p:cNvCxnSpPr>
          <p:nvPr/>
        </p:nvCxnSpPr>
        <p:spPr>
          <a:xfrm rot="10800000">
            <a:off x="2560320" y="1572768"/>
            <a:ext cx="6818376" cy="127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3D22392F-F64A-CCDB-4F23-CA38E3393D30}"/>
              </a:ext>
            </a:extLst>
          </p:cNvPr>
          <p:cNvCxnSpPr>
            <a:stCxn id="6" idx="2"/>
            <a:endCxn id="7" idx="3"/>
          </p:cNvCxnSpPr>
          <p:nvPr/>
        </p:nvCxnSpPr>
        <p:spPr>
          <a:xfrm rot="5400000">
            <a:off x="7391601" y="1333701"/>
            <a:ext cx="2209800" cy="352918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A3404DF1-7BE9-7E2A-D024-1A3CE9193C81}"/>
              </a:ext>
            </a:extLst>
          </p:cNvPr>
          <p:cNvCxnSpPr>
            <a:stCxn id="6" idx="2"/>
            <a:endCxn id="8" idx="3"/>
          </p:cNvCxnSpPr>
          <p:nvPr/>
        </p:nvCxnSpPr>
        <p:spPr>
          <a:xfrm rot="5400000">
            <a:off x="6698181" y="2027121"/>
            <a:ext cx="3596640" cy="352918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54F40DD-0096-F619-BBC3-34F7B0992CDB}"/>
              </a:ext>
            </a:extLst>
          </p:cNvPr>
          <p:cNvSpPr txBox="1"/>
          <p:nvPr/>
        </p:nvSpPr>
        <p:spPr>
          <a:xfrm>
            <a:off x="5233015" y="1177790"/>
            <a:ext cx="11661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Has Many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00B36AD-3395-A1DD-CDF6-5489598DCAD8}"/>
              </a:ext>
            </a:extLst>
          </p:cNvPr>
          <p:cNvSpPr txBox="1"/>
          <p:nvPr/>
        </p:nvSpPr>
        <p:spPr>
          <a:xfrm>
            <a:off x="2560320" y="3833860"/>
            <a:ext cx="1812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Belongs to Many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9E8EA71-8F82-7CFB-6780-EB1958D42A1F}"/>
              </a:ext>
            </a:extLst>
          </p:cNvPr>
          <p:cNvSpPr txBox="1"/>
          <p:nvPr/>
        </p:nvSpPr>
        <p:spPr>
          <a:xfrm>
            <a:off x="2560320" y="5246346"/>
            <a:ext cx="1812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Belongs to Many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5F54E4-053E-4027-F6BE-B8F432D3DCA1}"/>
              </a:ext>
            </a:extLst>
          </p:cNvPr>
          <p:cNvSpPr txBox="1"/>
          <p:nvPr/>
        </p:nvSpPr>
        <p:spPr>
          <a:xfrm>
            <a:off x="7566084" y="3833860"/>
            <a:ext cx="104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Has One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A752619-905E-F726-1F1F-2CEE701D8A2C}"/>
              </a:ext>
            </a:extLst>
          </p:cNvPr>
          <p:cNvSpPr txBox="1"/>
          <p:nvPr/>
        </p:nvSpPr>
        <p:spPr>
          <a:xfrm>
            <a:off x="7566084" y="5246346"/>
            <a:ext cx="11661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Has Many</a:t>
            </a:r>
          </a:p>
        </p:txBody>
      </p:sp>
    </p:spTree>
    <p:extLst>
      <p:ext uri="{BB962C8B-B14F-4D97-AF65-F5344CB8AC3E}">
        <p14:creationId xmlns:p14="http://schemas.microsoft.com/office/powerpoint/2010/main" val="421372722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5CDBE0-BCB9-AF8E-9399-AE83F26C08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58DCBC-EE50-AE6D-3727-509CCBD885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SQL</a:t>
            </a:r>
          </a:p>
          <a:p>
            <a:pPr lvl="1"/>
            <a:r>
              <a:rPr lang="en-US" dirty="0"/>
              <a:t>SQL uses strict data schemas and relations</a:t>
            </a:r>
          </a:p>
          <a:p>
            <a:pPr lvl="1"/>
            <a:r>
              <a:rPr lang="en-US" dirty="0"/>
              <a:t>You can connect your Node.js app via packages like mysql2</a:t>
            </a:r>
          </a:p>
          <a:p>
            <a:pPr lvl="1"/>
            <a:r>
              <a:rPr lang="en-US" dirty="0"/>
              <a:t>Writing SQL queries in not directly related to Node.js and something you have to learn in addition to Node.js</a:t>
            </a:r>
          </a:p>
          <a:p>
            <a:r>
              <a:rPr lang="en-US" dirty="0"/>
              <a:t>Sequelize</a:t>
            </a:r>
          </a:p>
          <a:p>
            <a:pPr lvl="1"/>
            <a:r>
              <a:rPr lang="en-US" dirty="0"/>
              <a:t>Instead of writing SQL queries manually, you can use packages(ORMs) like Sequelize to focus on the Node.js code and work with native JS objects</a:t>
            </a:r>
          </a:p>
          <a:p>
            <a:pPr lvl="1"/>
            <a:r>
              <a:rPr lang="en-US" dirty="0"/>
              <a:t>Sequelize allows you define models and interact with the database through them</a:t>
            </a:r>
          </a:p>
          <a:p>
            <a:pPr lvl="1"/>
            <a:r>
              <a:rPr lang="en-US" dirty="0"/>
              <a:t>You can also easily set up relations(“Associations”) and interact with your related models through them</a:t>
            </a:r>
          </a:p>
        </p:txBody>
      </p:sp>
    </p:spTree>
    <p:extLst>
      <p:ext uri="{BB962C8B-B14F-4D97-AF65-F5344CB8AC3E}">
        <p14:creationId xmlns:p14="http://schemas.microsoft.com/office/powerpoint/2010/main" val="242199038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91769-C5C1-AA84-7917-5313D3E16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NoSQL Databases / MongoDB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4211BC-4E55-3418-7642-B3D44086A8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Storing data in a different kind of database</a:t>
            </a:r>
          </a:p>
          <a:p>
            <a:endParaRPr lang="en-US" dirty="0"/>
          </a:p>
          <a:p>
            <a:r>
              <a:rPr lang="en-US" dirty="0"/>
              <a:t>What is MongoDB?</a:t>
            </a:r>
          </a:p>
          <a:p>
            <a:r>
              <a:rPr lang="en-US" dirty="0"/>
              <a:t>Using the MongoDB Driver in Node.js Apps</a:t>
            </a:r>
          </a:p>
          <a:p>
            <a:endParaRPr lang="en-US" dirty="0"/>
          </a:p>
          <a:p>
            <a:r>
              <a:rPr lang="en-US" dirty="0"/>
              <a:t>Because it can store lots and lots of data </a:t>
            </a:r>
          </a:p>
        </p:txBody>
      </p:sp>
    </p:spTree>
    <p:extLst>
      <p:ext uri="{BB962C8B-B14F-4D97-AF65-F5344CB8AC3E}">
        <p14:creationId xmlns:p14="http://schemas.microsoft.com/office/powerpoint/2010/main" val="274191305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EA4701-064F-7473-9919-F1E64195B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46EEB0-8274-D5E9-91E9-7BFE91FA94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Database </a:t>
            </a:r>
          </a:p>
          <a:p>
            <a:pPr lvl="1"/>
            <a:r>
              <a:rPr lang="en-US" dirty="0"/>
              <a:t>Shop</a:t>
            </a:r>
          </a:p>
          <a:p>
            <a:r>
              <a:rPr lang="en-US" dirty="0"/>
              <a:t>Collections</a:t>
            </a:r>
          </a:p>
          <a:p>
            <a:pPr lvl="1"/>
            <a:r>
              <a:rPr lang="en-US" dirty="0"/>
              <a:t>Orders</a:t>
            </a:r>
          </a:p>
          <a:p>
            <a:pPr lvl="1"/>
            <a:r>
              <a:rPr lang="en-US" dirty="0"/>
              <a:t>Users</a:t>
            </a:r>
          </a:p>
          <a:p>
            <a:r>
              <a:rPr lang="en-US" dirty="0"/>
              <a:t>Documents</a:t>
            </a:r>
          </a:p>
          <a:p>
            <a:pPr lvl="1"/>
            <a:r>
              <a:rPr lang="en-US" dirty="0"/>
              <a:t>{name:’Max’,age:29}</a:t>
            </a:r>
          </a:p>
          <a:p>
            <a:pPr lvl="1"/>
            <a:r>
              <a:rPr lang="en-US" dirty="0"/>
              <a:t>{</a:t>
            </a:r>
            <a:r>
              <a:rPr lang="en-US" dirty="0" err="1"/>
              <a:t>name:’Ram</a:t>
            </a:r>
            <a:r>
              <a:rPr lang="en-US" dirty="0"/>
              <a:t>’}</a:t>
            </a:r>
          </a:p>
        </p:txBody>
      </p:sp>
    </p:spTree>
    <p:extLst>
      <p:ext uri="{BB962C8B-B14F-4D97-AF65-F5344CB8AC3E}">
        <p14:creationId xmlns:p14="http://schemas.microsoft.com/office/powerpoint/2010/main" val="410614649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84578D-D91C-E3A9-4A6B-FB662D3AA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JSON(BSON) Data Format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ECD482-E8E0-C922-EAE5-BED33988E5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 fontScale="92500" lnSpcReduction="20000"/>
          </a:bodyPr>
          <a:lstStyle/>
          <a:p>
            <a:r>
              <a:rPr lang="en-US" dirty="0"/>
              <a:t>Installing the MongoDB Driver</a:t>
            </a:r>
          </a:p>
          <a:p>
            <a:r>
              <a:rPr lang="en-US" dirty="0"/>
              <a:t>Creating the Database Connection</a:t>
            </a:r>
          </a:p>
          <a:p>
            <a:r>
              <a:rPr lang="en-US" dirty="0"/>
              <a:t>Using the Database connection</a:t>
            </a:r>
          </a:p>
          <a:p>
            <a:r>
              <a:rPr lang="en-US" dirty="0"/>
              <a:t>Creating Products</a:t>
            </a:r>
          </a:p>
          <a:p>
            <a:r>
              <a:rPr lang="en-US" dirty="0"/>
              <a:t>Understanding the MongoDB Compass</a:t>
            </a:r>
          </a:p>
          <a:p>
            <a:r>
              <a:rPr lang="en-US" dirty="0"/>
              <a:t>Fetching all Products</a:t>
            </a:r>
          </a:p>
          <a:p>
            <a:r>
              <a:rPr lang="en-US" dirty="0"/>
              <a:t>Making the Edit &amp; delete Buttons work again</a:t>
            </a:r>
          </a:p>
          <a:p>
            <a:r>
              <a:rPr lang="en-US" dirty="0"/>
              <a:t>Working on the product model</a:t>
            </a:r>
          </a:p>
          <a:p>
            <a:r>
              <a:rPr lang="en-US" dirty="0"/>
              <a:t>Deleting Product</a:t>
            </a:r>
          </a:p>
          <a:p>
            <a:r>
              <a:rPr lang="en-US" dirty="0"/>
              <a:t>Creating New Users</a:t>
            </a:r>
          </a:p>
          <a:p>
            <a:r>
              <a:rPr lang="en-US" dirty="0"/>
              <a:t>Storing the user in our Database</a:t>
            </a:r>
          </a:p>
          <a:p>
            <a:r>
              <a:rPr lang="en-US" dirty="0"/>
              <a:t>Working on cart items &amp; orders</a:t>
            </a:r>
          </a:p>
          <a:p>
            <a:r>
              <a:rPr lang="en-US" dirty="0"/>
              <a:t>Storing Multiple Products in the Cart</a:t>
            </a:r>
          </a:p>
          <a:p>
            <a:r>
              <a:rPr lang="en-US" dirty="0"/>
              <a:t>Displaying the Cart items</a:t>
            </a:r>
          </a:p>
          <a:p>
            <a:r>
              <a:rPr lang="en-US" dirty="0"/>
              <a:t>Fixing a Bug</a:t>
            </a:r>
          </a:p>
          <a:p>
            <a:r>
              <a:rPr lang="en-US" dirty="0"/>
              <a:t>Deleting a Cart items</a:t>
            </a:r>
          </a:p>
          <a:p>
            <a:r>
              <a:rPr lang="en-US" dirty="0"/>
              <a:t>Adding an Order</a:t>
            </a:r>
          </a:p>
          <a:p>
            <a:r>
              <a:rPr lang="en-US" dirty="0"/>
              <a:t>Adding Relational Order Data</a:t>
            </a:r>
          </a:p>
          <a:p>
            <a:r>
              <a:rPr lang="en-US" dirty="0"/>
              <a:t>Getting Orders</a:t>
            </a:r>
          </a:p>
        </p:txBody>
      </p:sp>
    </p:spTree>
    <p:extLst>
      <p:ext uri="{BB962C8B-B14F-4D97-AF65-F5344CB8AC3E}">
        <p14:creationId xmlns:p14="http://schemas.microsoft.com/office/powerpoint/2010/main" val="331766792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347618-9647-737B-E800-C3297EB4A6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38912"/>
            <a:ext cx="10515600" cy="5738051"/>
          </a:xfrm>
        </p:spPr>
        <p:txBody>
          <a:bodyPr/>
          <a:lstStyle/>
          <a:p>
            <a:r>
              <a:rPr lang="en-US" dirty="0"/>
              <a:t>NoSQL/MongoDB</a:t>
            </a:r>
          </a:p>
          <a:p>
            <a:pPr lvl="1"/>
            <a:r>
              <a:rPr lang="en-US" dirty="0"/>
              <a:t>Alternative to SQL databases</a:t>
            </a:r>
          </a:p>
          <a:p>
            <a:pPr lvl="1"/>
            <a:r>
              <a:rPr lang="en-US" dirty="0"/>
              <a:t>No strict schemas, fewer relations</a:t>
            </a:r>
          </a:p>
          <a:p>
            <a:pPr lvl="1"/>
            <a:r>
              <a:rPr lang="en-US" dirty="0"/>
              <a:t>You can of course use schemas and reference-based relations but you got more flexibility</a:t>
            </a:r>
          </a:p>
          <a:p>
            <a:pPr lvl="1"/>
            <a:r>
              <a:rPr lang="en-US" dirty="0"/>
              <a:t>Often, relations are also created by embedding other documents/data</a:t>
            </a:r>
          </a:p>
          <a:p>
            <a:r>
              <a:rPr lang="en-US" dirty="0"/>
              <a:t>Working with MongoDB</a:t>
            </a:r>
          </a:p>
          <a:p>
            <a:pPr lvl="1"/>
            <a:r>
              <a:rPr lang="en-US" dirty="0"/>
              <a:t>Use the official MongoDB driver</a:t>
            </a:r>
          </a:p>
          <a:p>
            <a:pPr lvl="1"/>
            <a:r>
              <a:rPr lang="en-US" dirty="0"/>
              <a:t>Commands like </a:t>
            </a:r>
            <a:r>
              <a:rPr lang="en-US" dirty="0" err="1"/>
              <a:t>insertOne</a:t>
            </a:r>
            <a:r>
              <a:rPr lang="en-US" dirty="0"/>
              <a:t>(), find(), </a:t>
            </a:r>
            <a:r>
              <a:rPr lang="en-US" dirty="0" err="1"/>
              <a:t>updateOne</a:t>
            </a:r>
            <a:r>
              <a:rPr lang="en-US" dirty="0"/>
              <a:t>() and </a:t>
            </a:r>
            <a:r>
              <a:rPr lang="en-US" dirty="0" err="1"/>
              <a:t>deleteOne</a:t>
            </a:r>
            <a:r>
              <a:rPr lang="en-US" dirty="0"/>
              <a:t>() make CRUD-Operations very simple</a:t>
            </a:r>
          </a:p>
          <a:p>
            <a:pPr lvl="1"/>
            <a:r>
              <a:rPr lang="en-US" dirty="0"/>
              <a:t>Check the official docs to learn about all available operations + configurations/operators</a:t>
            </a:r>
          </a:p>
          <a:p>
            <a:pPr lvl="1"/>
            <a:r>
              <a:rPr lang="en-US" dirty="0"/>
              <a:t>All operations are promise-based, hence you can easily chain them for more </a:t>
            </a:r>
            <a:r>
              <a:rPr lang="en-US"/>
              <a:t>complex flows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561659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8B4C7-0288-BC1E-60A1-1AB150939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Mongoose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412237-7E8C-EF68-36C5-3F30D83457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 fontScale="92500" lnSpcReduction="10000"/>
          </a:bodyPr>
          <a:lstStyle/>
          <a:p>
            <a:r>
              <a:rPr lang="en-US" dirty="0"/>
              <a:t>A Object-Document Mapping Library</a:t>
            </a:r>
          </a:p>
          <a:p>
            <a:r>
              <a:rPr lang="en-US" dirty="0"/>
              <a:t>Connecting to the MongoDB Server with Mongoose</a:t>
            </a:r>
          </a:p>
          <a:p>
            <a:r>
              <a:rPr lang="en-US" dirty="0"/>
              <a:t>Creating the Product Schema</a:t>
            </a:r>
          </a:p>
          <a:p>
            <a:r>
              <a:rPr lang="en-US" dirty="0"/>
              <a:t>Saving data through mongoose</a:t>
            </a:r>
          </a:p>
          <a:p>
            <a:r>
              <a:rPr lang="en-US" dirty="0"/>
              <a:t>Fetching All Product</a:t>
            </a:r>
          </a:p>
          <a:p>
            <a:r>
              <a:rPr lang="en-US" dirty="0"/>
              <a:t>Fetching a Single Product</a:t>
            </a:r>
          </a:p>
          <a:p>
            <a:r>
              <a:rPr lang="en-US" dirty="0"/>
              <a:t>Updating Products</a:t>
            </a:r>
          </a:p>
          <a:p>
            <a:r>
              <a:rPr lang="en-US" dirty="0"/>
              <a:t>Deleting Products</a:t>
            </a:r>
          </a:p>
          <a:p>
            <a:r>
              <a:rPr lang="en-US" dirty="0"/>
              <a:t>Adding and Using a User Model</a:t>
            </a:r>
          </a:p>
          <a:p>
            <a:r>
              <a:rPr lang="en-US" dirty="0"/>
              <a:t>Using Relations in Mongoose</a:t>
            </a:r>
          </a:p>
          <a:p>
            <a:r>
              <a:rPr lang="en-US" dirty="0"/>
              <a:t>Fetching Relation</a:t>
            </a:r>
          </a:p>
          <a:p>
            <a:r>
              <a:rPr lang="en-US" dirty="0"/>
              <a:t>Working on the Shopping Cart</a:t>
            </a:r>
          </a:p>
          <a:p>
            <a:r>
              <a:rPr lang="en-US" dirty="0"/>
              <a:t>Loading the Cart</a:t>
            </a:r>
          </a:p>
          <a:p>
            <a:r>
              <a:rPr lang="en-US" dirty="0"/>
              <a:t>Deleting Cart Items</a:t>
            </a:r>
          </a:p>
          <a:p>
            <a:r>
              <a:rPr lang="en-US" dirty="0"/>
              <a:t>Creating &amp; Getting Orders</a:t>
            </a:r>
          </a:p>
          <a:p>
            <a:r>
              <a:rPr lang="en-US" dirty="0"/>
              <a:t>Storing All order Related Data</a:t>
            </a:r>
          </a:p>
          <a:p>
            <a:r>
              <a:rPr lang="en-US" dirty="0"/>
              <a:t>Clearing the Cart After Storing an Order</a:t>
            </a:r>
          </a:p>
        </p:txBody>
      </p:sp>
    </p:spTree>
    <p:extLst>
      <p:ext uri="{BB962C8B-B14F-4D97-AF65-F5344CB8AC3E}">
        <p14:creationId xmlns:p14="http://schemas.microsoft.com/office/powerpoint/2010/main" val="388583771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74AC2B-4471-4240-67B7-CB39A5292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Session &amp; Cookies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52B5FB-C848-5DF6-59F9-1059037583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are Cookies?</a:t>
            </a:r>
          </a:p>
          <a:p>
            <a:r>
              <a:rPr lang="en-US" dirty="0"/>
              <a:t>What are Sessions?</a:t>
            </a:r>
          </a:p>
          <a:p>
            <a:r>
              <a:rPr lang="en-US" dirty="0"/>
              <a:t>Using Session &amp; Cookies?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922264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4E3E25-4C5B-3C05-800F-25AC51FF89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Cookie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E2D8F22-3D28-2DF0-6531-67F0A1ED59F4}"/>
              </a:ext>
            </a:extLst>
          </p:cNvPr>
          <p:cNvSpPr/>
          <p:nvPr/>
        </p:nvSpPr>
        <p:spPr>
          <a:xfrm>
            <a:off x="4321629" y="587829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0EB21F2-5781-4C72-F4E6-8B4CC2C24332}"/>
              </a:ext>
            </a:extLst>
          </p:cNvPr>
          <p:cNvSpPr/>
          <p:nvPr/>
        </p:nvSpPr>
        <p:spPr>
          <a:xfrm>
            <a:off x="4321627" y="2118802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FrontEnd</a:t>
            </a:r>
            <a:r>
              <a:rPr lang="en-US" dirty="0"/>
              <a:t> (Views)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12B8DDE-5664-1C35-2B07-AA629C105147}"/>
              </a:ext>
            </a:extLst>
          </p:cNvPr>
          <p:cNvSpPr/>
          <p:nvPr/>
        </p:nvSpPr>
        <p:spPr>
          <a:xfrm>
            <a:off x="4321628" y="3983832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Server (Node App)</a:t>
            </a:r>
          </a:p>
        </p:txBody>
      </p: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57F5E0A9-F9E4-0391-ED80-668D3F35542E}"/>
              </a:ext>
            </a:extLst>
          </p:cNvPr>
          <p:cNvCxnSpPr>
            <a:stCxn id="4" idx="2"/>
            <a:endCxn id="5" idx="0"/>
          </p:cNvCxnSpPr>
          <p:nvPr/>
        </p:nvCxnSpPr>
        <p:spPr>
          <a:xfrm rot="5400000">
            <a:off x="5063813" y="1712543"/>
            <a:ext cx="812516" cy="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FC79F0BA-A461-9077-349D-5EF33483108E}"/>
              </a:ext>
            </a:extLst>
          </p:cNvPr>
          <p:cNvCxnSpPr>
            <a:stCxn id="5" idx="2"/>
            <a:endCxn id="6" idx="0"/>
          </p:cNvCxnSpPr>
          <p:nvPr/>
        </p:nvCxnSpPr>
        <p:spPr>
          <a:xfrm rot="16200000" flipH="1">
            <a:off x="4896784" y="3410544"/>
            <a:ext cx="1146573" cy="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0B3B3F8F-1DC7-7F09-DCDC-93E972CE97D5}"/>
              </a:ext>
            </a:extLst>
          </p:cNvPr>
          <p:cNvSpPr txBox="1"/>
          <p:nvPr/>
        </p:nvSpPr>
        <p:spPr>
          <a:xfrm>
            <a:off x="3766457" y="3429000"/>
            <a:ext cx="1012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Request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17F510B-C385-636E-C6C0-5D8662672145}"/>
              </a:ext>
            </a:extLst>
          </p:cNvPr>
          <p:cNvSpPr txBox="1"/>
          <p:nvPr/>
        </p:nvSpPr>
        <p:spPr>
          <a:xfrm>
            <a:off x="5834742" y="3429000"/>
            <a:ext cx="1904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Includes Cookies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8B0F118-B727-12F3-B7E8-DFA3E4D8060C}"/>
              </a:ext>
            </a:extLst>
          </p:cNvPr>
          <p:cNvSpPr/>
          <p:nvPr/>
        </p:nvSpPr>
        <p:spPr>
          <a:xfrm>
            <a:off x="8077199" y="2189390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Cookie</a:t>
            </a:r>
          </a:p>
        </p:txBody>
      </p: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1DE11782-A359-2D5A-103E-BA61AC9997A4}"/>
              </a:ext>
            </a:extLst>
          </p:cNvPr>
          <p:cNvCxnSpPr>
            <a:stCxn id="5" idx="3"/>
            <a:endCxn id="14" idx="1"/>
          </p:cNvCxnSpPr>
          <p:nvPr/>
        </p:nvCxnSpPr>
        <p:spPr>
          <a:xfrm>
            <a:off x="6618512" y="2478031"/>
            <a:ext cx="1458687" cy="7058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45B555A0-2745-B513-08FD-CCDEF49FF496}"/>
              </a:ext>
            </a:extLst>
          </p:cNvPr>
          <p:cNvCxnSpPr>
            <a:stCxn id="6" idx="3"/>
            <a:endCxn id="14" idx="2"/>
          </p:cNvCxnSpPr>
          <p:nvPr/>
        </p:nvCxnSpPr>
        <p:spPr>
          <a:xfrm flipV="1">
            <a:off x="6618513" y="2907847"/>
            <a:ext cx="2607129" cy="143521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EB334225-E1E6-0A62-4E79-1975397BECDC}"/>
              </a:ext>
            </a:extLst>
          </p:cNvPr>
          <p:cNvSpPr txBox="1"/>
          <p:nvPr/>
        </p:nvSpPr>
        <p:spPr>
          <a:xfrm>
            <a:off x="7478482" y="4332957"/>
            <a:ext cx="1959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Response Header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4E03EBB-6D09-3173-EF98-AC92000AEA47}"/>
              </a:ext>
            </a:extLst>
          </p:cNvPr>
          <p:cNvSpPr txBox="1"/>
          <p:nvPr/>
        </p:nvSpPr>
        <p:spPr>
          <a:xfrm>
            <a:off x="8088083" y="1433054"/>
            <a:ext cx="29282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Cookies are stored on the client-side</a:t>
            </a:r>
          </a:p>
        </p:txBody>
      </p:sp>
    </p:spTree>
    <p:extLst>
      <p:ext uri="{BB962C8B-B14F-4D97-AF65-F5344CB8AC3E}">
        <p14:creationId xmlns:p14="http://schemas.microsoft.com/office/powerpoint/2010/main" val="419418566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E4E20-6891-DC39-BD77-5422A3D0A1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2C4F1D-B57E-5088-3954-51790BD708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the Request Driven Login Solution</a:t>
            </a:r>
          </a:p>
          <a:p>
            <a:r>
              <a:rPr lang="en-US" dirty="0"/>
              <a:t>Setting a Cookie</a:t>
            </a:r>
          </a:p>
          <a:p>
            <a:r>
              <a:rPr lang="en-US" dirty="0"/>
              <a:t>Manipulating Cookies</a:t>
            </a:r>
          </a:p>
          <a:p>
            <a:r>
              <a:rPr lang="en-US" dirty="0"/>
              <a:t>Configuring Cookies</a:t>
            </a:r>
          </a:p>
        </p:txBody>
      </p:sp>
    </p:spTree>
    <p:extLst>
      <p:ext uri="{BB962C8B-B14F-4D97-AF65-F5344CB8AC3E}">
        <p14:creationId xmlns:p14="http://schemas.microsoft.com/office/powerpoint/2010/main" val="219918025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53857-B8E1-838C-545F-79B5063C9D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Session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693FDBC-122F-90B3-84FC-C70E316D012B}"/>
              </a:ext>
            </a:extLst>
          </p:cNvPr>
          <p:cNvSpPr/>
          <p:nvPr/>
        </p:nvSpPr>
        <p:spPr>
          <a:xfrm>
            <a:off x="3609248" y="1523494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User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81D1B07-E0DA-720C-253B-350FEE9217FC}"/>
              </a:ext>
            </a:extLst>
          </p:cNvPr>
          <p:cNvSpPr/>
          <p:nvPr/>
        </p:nvSpPr>
        <p:spPr>
          <a:xfrm>
            <a:off x="3609246" y="3054467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FrontEnd</a:t>
            </a:r>
            <a:r>
              <a:rPr lang="en-US" b="1" dirty="0"/>
              <a:t> (Views)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8497810-F5D5-9591-8CCE-F12C09527B6F}"/>
              </a:ext>
            </a:extLst>
          </p:cNvPr>
          <p:cNvSpPr/>
          <p:nvPr/>
        </p:nvSpPr>
        <p:spPr>
          <a:xfrm>
            <a:off x="3609247" y="4919497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Server (Node App)</a:t>
            </a:r>
          </a:p>
        </p:txBody>
      </p:sp>
      <p:cxnSp>
        <p:nvCxnSpPr>
          <p:cNvPr id="7" name="Elbow Connector 6">
            <a:extLst>
              <a:ext uri="{FF2B5EF4-FFF2-40B4-BE49-F238E27FC236}">
                <a16:creationId xmlns:a16="http://schemas.microsoft.com/office/drawing/2014/main" id="{77CA0F5F-12F1-86E1-5D28-909F20943637}"/>
              </a:ext>
            </a:extLst>
          </p:cNvPr>
          <p:cNvCxnSpPr>
            <a:stCxn id="4" idx="2"/>
            <a:endCxn id="5" idx="0"/>
          </p:cNvCxnSpPr>
          <p:nvPr/>
        </p:nvCxnSpPr>
        <p:spPr>
          <a:xfrm rot="5400000">
            <a:off x="4351432" y="2648208"/>
            <a:ext cx="812516" cy="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18741003-FA61-262C-7E71-3F2C6759B819}"/>
              </a:ext>
            </a:extLst>
          </p:cNvPr>
          <p:cNvCxnSpPr>
            <a:stCxn id="5" idx="2"/>
            <a:endCxn id="6" idx="0"/>
          </p:cNvCxnSpPr>
          <p:nvPr/>
        </p:nvCxnSpPr>
        <p:spPr>
          <a:xfrm rot="16200000" flipH="1">
            <a:off x="4184403" y="4346209"/>
            <a:ext cx="1146573" cy="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7FA7DFB-8FF7-745C-4B67-19C929162854}"/>
              </a:ext>
            </a:extLst>
          </p:cNvPr>
          <p:cNvSpPr txBox="1"/>
          <p:nvPr/>
        </p:nvSpPr>
        <p:spPr>
          <a:xfrm>
            <a:off x="3054076" y="4364665"/>
            <a:ext cx="10547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Request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0504FB-EE53-17EF-BD60-1F6B9CD500BF}"/>
              </a:ext>
            </a:extLst>
          </p:cNvPr>
          <p:cNvSpPr txBox="1"/>
          <p:nvPr/>
        </p:nvSpPr>
        <p:spPr>
          <a:xfrm>
            <a:off x="5451754" y="4289668"/>
            <a:ext cx="22968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Sessions are stored on the server-side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91B4AF5-2E29-BBBD-B25C-0BD85F914055}"/>
              </a:ext>
            </a:extLst>
          </p:cNvPr>
          <p:cNvSpPr/>
          <p:nvPr/>
        </p:nvSpPr>
        <p:spPr>
          <a:xfrm>
            <a:off x="7364818" y="3125055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Cookie</a:t>
            </a:r>
          </a:p>
        </p:txBody>
      </p: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194A36F4-05CA-2DCC-15AF-9C4C94551F35}"/>
              </a:ext>
            </a:extLst>
          </p:cNvPr>
          <p:cNvCxnSpPr>
            <a:stCxn id="5" idx="3"/>
            <a:endCxn id="11" idx="1"/>
          </p:cNvCxnSpPr>
          <p:nvPr/>
        </p:nvCxnSpPr>
        <p:spPr>
          <a:xfrm>
            <a:off x="5906131" y="3413696"/>
            <a:ext cx="1458687" cy="7058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Elbow Connector 12">
            <a:extLst>
              <a:ext uri="{FF2B5EF4-FFF2-40B4-BE49-F238E27FC236}">
                <a16:creationId xmlns:a16="http://schemas.microsoft.com/office/drawing/2014/main" id="{D2EB1F83-9306-A486-F837-E06EEE86DDF3}"/>
              </a:ext>
            </a:extLst>
          </p:cNvPr>
          <p:cNvCxnSpPr>
            <a:stCxn id="6" idx="3"/>
            <a:endCxn id="11" idx="2"/>
          </p:cNvCxnSpPr>
          <p:nvPr/>
        </p:nvCxnSpPr>
        <p:spPr>
          <a:xfrm flipV="1">
            <a:off x="5906132" y="3843512"/>
            <a:ext cx="2607129" cy="143521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53D1BF9-C608-7D7B-B3D5-1D1E58A2033F}"/>
              </a:ext>
            </a:extLst>
          </p:cNvPr>
          <p:cNvSpPr txBox="1"/>
          <p:nvPr/>
        </p:nvSpPr>
        <p:spPr>
          <a:xfrm>
            <a:off x="6766101" y="5268622"/>
            <a:ext cx="20425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Response Header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2672AB3-5C54-AC74-1313-ED510CC7E6FE}"/>
              </a:ext>
            </a:extLst>
          </p:cNvPr>
          <p:cNvSpPr txBox="1"/>
          <p:nvPr/>
        </p:nvSpPr>
        <p:spPr>
          <a:xfrm>
            <a:off x="7375702" y="2368719"/>
            <a:ext cx="29282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Cookies are stored on the client-side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DD904A3-FBD5-7452-86D5-B91789F41F36}"/>
              </a:ext>
            </a:extLst>
          </p:cNvPr>
          <p:cNvSpPr/>
          <p:nvPr/>
        </p:nvSpPr>
        <p:spPr>
          <a:xfrm>
            <a:off x="7521395" y="4677017"/>
            <a:ext cx="2636874" cy="64858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Session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0EC9A4C-99A2-F314-0E54-2B77E3A5D0A1}"/>
              </a:ext>
            </a:extLst>
          </p:cNvPr>
          <p:cNvSpPr/>
          <p:nvPr/>
        </p:nvSpPr>
        <p:spPr>
          <a:xfrm>
            <a:off x="3609246" y="6262577"/>
            <a:ext cx="2132335" cy="4890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Database</a:t>
            </a:r>
          </a:p>
        </p:txBody>
      </p: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3B5B5B36-A25D-8267-684F-E5FE822822FC}"/>
              </a:ext>
            </a:extLst>
          </p:cNvPr>
          <p:cNvCxnSpPr>
            <a:stCxn id="6" idx="2"/>
            <a:endCxn id="17" idx="0"/>
          </p:cNvCxnSpPr>
          <p:nvPr/>
        </p:nvCxnSpPr>
        <p:spPr>
          <a:xfrm rot="5400000">
            <a:off x="4404241" y="5909127"/>
            <a:ext cx="624623" cy="8227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E7B2037E-3806-B655-9400-85BC6AEAF62E}"/>
              </a:ext>
            </a:extLst>
          </p:cNvPr>
          <p:cNvCxnSpPr>
            <a:stCxn id="16" idx="2"/>
            <a:endCxn id="17" idx="3"/>
          </p:cNvCxnSpPr>
          <p:nvPr/>
        </p:nvCxnSpPr>
        <p:spPr>
          <a:xfrm rot="5400000">
            <a:off x="6699946" y="4367239"/>
            <a:ext cx="1181523" cy="3098251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145014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418299-4863-5EA1-F0EC-B306ED6C7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4534DC-4177-35FC-D95B-DA3EE557BE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Initializing the Session Middleware</a:t>
            </a:r>
          </a:p>
          <a:p>
            <a:r>
              <a:rPr lang="en-US" dirty="0"/>
              <a:t>Using MongoDB to store Sessions</a:t>
            </a:r>
          </a:p>
          <a:p>
            <a:r>
              <a:rPr lang="en-US" dirty="0"/>
              <a:t>Deleting a Cookie</a:t>
            </a:r>
          </a:p>
        </p:txBody>
      </p:sp>
    </p:spTree>
    <p:extLst>
      <p:ext uri="{BB962C8B-B14F-4D97-AF65-F5344CB8AC3E}">
        <p14:creationId xmlns:p14="http://schemas.microsoft.com/office/powerpoint/2010/main" val="176067528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FEA8DC-794E-5304-7022-B34B7B5563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037" y="255181"/>
            <a:ext cx="10949763" cy="5921782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Cookies</a:t>
            </a:r>
          </a:p>
          <a:p>
            <a:r>
              <a:rPr lang="en-US" dirty="0"/>
              <a:t>Great for storing data on the client (browser)</a:t>
            </a:r>
          </a:p>
          <a:p>
            <a:r>
              <a:rPr lang="en-US" dirty="0"/>
              <a:t>Do NOT store sensitive data here! It can be </a:t>
            </a:r>
            <a:r>
              <a:rPr lang="en-US" dirty="0" err="1"/>
              <a:t>viewed+manipulated</a:t>
            </a:r>
            <a:endParaRPr lang="en-US" dirty="0"/>
          </a:p>
          <a:p>
            <a:r>
              <a:rPr lang="en-US" dirty="0"/>
              <a:t>Cookies can be configured to expire when the browser is closed or when a certain date is reached</a:t>
            </a:r>
          </a:p>
          <a:p>
            <a:r>
              <a:rPr lang="en-US" dirty="0"/>
              <a:t>Works well together with Sessions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Sessions</a:t>
            </a:r>
          </a:p>
          <a:p>
            <a:r>
              <a:rPr lang="en-US" dirty="0"/>
              <a:t>Stored on the server, NOT on the client</a:t>
            </a:r>
          </a:p>
          <a:p>
            <a:r>
              <a:rPr lang="en-US" dirty="0"/>
              <a:t>Great for storing sensitive data that should survive across requests</a:t>
            </a:r>
          </a:p>
          <a:p>
            <a:r>
              <a:rPr lang="en-US" dirty="0"/>
              <a:t>You can store ANYTHING in sessions</a:t>
            </a:r>
          </a:p>
          <a:p>
            <a:r>
              <a:rPr lang="en-US" dirty="0"/>
              <a:t>Often used for storing user data/ authentication status</a:t>
            </a:r>
          </a:p>
          <a:p>
            <a:r>
              <a:rPr lang="en-US" dirty="0"/>
              <a:t>Identified via Cookie </a:t>
            </a:r>
          </a:p>
          <a:p>
            <a:r>
              <a:rPr lang="en-US" dirty="0"/>
              <a:t>You can use different storages for saving your sessions on the server</a:t>
            </a:r>
          </a:p>
        </p:txBody>
      </p:sp>
    </p:spTree>
    <p:extLst>
      <p:ext uri="{BB962C8B-B14F-4D97-AF65-F5344CB8AC3E}">
        <p14:creationId xmlns:p14="http://schemas.microsoft.com/office/powerpoint/2010/main" val="177221854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0407D1-A557-35FF-7698-00F907C2AC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Authentication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D829C2A-AC4C-1BD7-2263-4BC2AC1A9A0D}"/>
              </a:ext>
            </a:extLst>
          </p:cNvPr>
          <p:cNvSpPr/>
          <p:nvPr/>
        </p:nvSpPr>
        <p:spPr>
          <a:xfrm>
            <a:off x="4061637" y="1403498"/>
            <a:ext cx="2456121" cy="988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B131EFF-4404-325E-821D-2209C756E62A}"/>
              </a:ext>
            </a:extLst>
          </p:cNvPr>
          <p:cNvSpPr/>
          <p:nvPr/>
        </p:nvSpPr>
        <p:spPr>
          <a:xfrm>
            <a:off x="1205023" y="2934586"/>
            <a:ext cx="2456121" cy="988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View all products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6D964C2-02A4-6482-B3F3-17DDDB0D841C}"/>
              </a:ext>
            </a:extLst>
          </p:cNvPr>
          <p:cNvSpPr/>
          <p:nvPr/>
        </p:nvSpPr>
        <p:spPr>
          <a:xfrm>
            <a:off x="4867939" y="2955851"/>
            <a:ext cx="2456121" cy="988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Create &amp; Manage Products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56C3D19-540C-7319-8700-769D9DDEFB66}"/>
              </a:ext>
            </a:extLst>
          </p:cNvPr>
          <p:cNvSpPr/>
          <p:nvPr/>
        </p:nvSpPr>
        <p:spPr>
          <a:xfrm>
            <a:off x="8530855" y="2955851"/>
            <a:ext cx="2456121" cy="988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Place Orders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4C39337-4E36-53C2-DA25-1132011AF8A3}"/>
              </a:ext>
            </a:extLst>
          </p:cNvPr>
          <p:cNvSpPr/>
          <p:nvPr/>
        </p:nvSpPr>
        <p:spPr>
          <a:xfrm>
            <a:off x="3863162" y="4508204"/>
            <a:ext cx="2456121" cy="988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840539E-BA0A-99E3-A013-37F6243D1CDD}"/>
              </a:ext>
            </a:extLst>
          </p:cNvPr>
          <p:cNvSpPr/>
          <p:nvPr/>
        </p:nvSpPr>
        <p:spPr>
          <a:xfrm>
            <a:off x="3781646" y="5773367"/>
            <a:ext cx="2456121" cy="988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Database</a:t>
            </a:r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77E5BC40-2C06-B5B9-EAED-F8F43B3ADEDE}"/>
              </a:ext>
            </a:extLst>
          </p:cNvPr>
          <p:cNvCxnSpPr>
            <a:stCxn id="3" idx="2"/>
            <a:endCxn id="4" idx="0"/>
          </p:cNvCxnSpPr>
          <p:nvPr/>
        </p:nvCxnSpPr>
        <p:spPr>
          <a:xfrm rot="5400000">
            <a:off x="3590261" y="1235149"/>
            <a:ext cx="542260" cy="285661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E5FBA3B2-E674-FE36-FF98-2F9A0BE4675D}"/>
              </a:ext>
            </a:extLst>
          </p:cNvPr>
          <p:cNvCxnSpPr>
            <a:stCxn id="3" idx="2"/>
            <a:endCxn id="5" idx="0"/>
          </p:cNvCxnSpPr>
          <p:nvPr/>
        </p:nvCxnSpPr>
        <p:spPr>
          <a:xfrm rot="16200000" flipH="1">
            <a:off x="5411087" y="2270937"/>
            <a:ext cx="563525" cy="80630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>
            <a:extLst>
              <a:ext uri="{FF2B5EF4-FFF2-40B4-BE49-F238E27FC236}">
                <a16:creationId xmlns:a16="http://schemas.microsoft.com/office/drawing/2014/main" id="{BB49207E-9F09-FC90-35E1-78257B9DDF53}"/>
              </a:ext>
            </a:extLst>
          </p:cNvPr>
          <p:cNvCxnSpPr>
            <a:stCxn id="3" idx="2"/>
            <a:endCxn id="6" idx="0"/>
          </p:cNvCxnSpPr>
          <p:nvPr/>
        </p:nvCxnSpPr>
        <p:spPr>
          <a:xfrm rot="16200000" flipH="1">
            <a:off x="7242545" y="439479"/>
            <a:ext cx="563525" cy="446921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A6DC3B6E-38D2-F923-600A-33F22C48FDA9}"/>
              </a:ext>
            </a:extLst>
          </p:cNvPr>
          <p:cNvSpPr/>
          <p:nvPr/>
        </p:nvSpPr>
        <p:spPr>
          <a:xfrm>
            <a:off x="4582633" y="2551814"/>
            <a:ext cx="6847367" cy="1818167"/>
          </a:xfrm>
          <a:prstGeom prst="rect">
            <a:avLst/>
          </a:prstGeom>
          <a:noFill/>
          <a:ln w="571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5D0D7B-FFFA-A89E-F51D-49FFB4BFC7FD}"/>
              </a:ext>
            </a:extLst>
          </p:cNvPr>
          <p:cNvSpPr txBox="1"/>
          <p:nvPr/>
        </p:nvSpPr>
        <p:spPr>
          <a:xfrm>
            <a:off x="1350335" y="4125433"/>
            <a:ext cx="17510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Open to anyone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7EBCA3E-C9E5-F02E-8EE5-6D9734A0A934}"/>
              </a:ext>
            </a:extLst>
          </p:cNvPr>
          <p:cNvSpPr txBox="1"/>
          <p:nvPr/>
        </p:nvSpPr>
        <p:spPr>
          <a:xfrm>
            <a:off x="7021033" y="3972664"/>
            <a:ext cx="33974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Only available to logged-in users</a:t>
            </a:r>
          </a:p>
        </p:txBody>
      </p:sp>
    </p:spTree>
    <p:extLst>
      <p:ext uri="{BB962C8B-B14F-4D97-AF65-F5344CB8AC3E}">
        <p14:creationId xmlns:p14="http://schemas.microsoft.com/office/powerpoint/2010/main" val="350118341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296396-AFF1-B870-465F-6268D6EC0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EFBD8F-2C5E-5D39-A133-C396E9C6DA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Implementing an Authentication Flow</a:t>
            </a:r>
          </a:p>
          <a:p>
            <a:r>
              <a:rPr lang="en-US" dirty="0"/>
              <a:t>Working on Route Protection</a:t>
            </a:r>
          </a:p>
          <a:p>
            <a:r>
              <a:rPr lang="en-US" dirty="0"/>
              <a:t>Using Middleware to Protect routes</a:t>
            </a:r>
          </a:p>
          <a:p>
            <a:r>
              <a:rPr lang="en-US" dirty="0"/>
              <a:t>CSRF Attacks – Cross-Site Request Forgery</a:t>
            </a:r>
          </a:p>
          <a:p>
            <a:r>
              <a:rPr lang="en-US" dirty="0" err="1"/>
              <a:t>Airtel.com</a:t>
            </a:r>
            <a:r>
              <a:rPr lang="en-US" dirty="0"/>
              <a:t> </a:t>
            </a:r>
            <a:r>
              <a:rPr lang="en-US" dirty="0" err="1"/>
              <a:t>Aiitel.com</a:t>
            </a:r>
            <a:r>
              <a:rPr lang="en-US" dirty="0"/>
              <a:t> (send money to C)</a:t>
            </a:r>
          </a:p>
          <a:p>
            <a:r>
              <a:rPr lang="en-US" dirty="0"/>
              <a:t>Fixing Order Button</a:t>
            </a:r>
          </a:p>
          <a:p>
            <a:r>
              <a:rPr lang="en-US" dirty="0"/>
              <a:t>Providing user Feedback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160925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17B49-C1A4-2445-2122-51CE02CBD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F51465-F8BD-9353-5C02-ABA927E946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Authentication</a:t>
            </a:r>
          </a:p>
          <a:p>
            <a:pPr lvl="1"/>
            <a:r>
              <a:rPr lang="en-US" dirty="0"/>
              <a:t>Means that not every visitor f the page can view and interact with everything</a:t>
            </a:r>
          </a:p>
          <a:p>
            <a:pPr lvl="1"/>
            <a:r>
              <a:rPr lang="en-US" dirty="0"/>
              <a:t>Has to happen on the server-side and builds up on sessions</a:t>
            </a:r>
          </a:p>
          <a:p>
            <a:pPr lvl="1"/>
            <a:r>
              <a:rPr lang="en-US" dirty="0"/>
              <a:t>You can protect routes by checking the (session-controlled) login status right before you access a controller action</a:t>
            </a:r>
          </a:p>
          <a:p>
            <a:r>
              <a:rPr lang="en-US" dirty="0"/>
              <a:t>Security &amp; UX</a:t>
            </a:r>
          </a:p>
          <a:p>
            <a:pPr lvl="1"/>
            <a:r>
              <a:rPr lang="en-US" dirty="0"/>
              <a:t>Password should be stored in a hashed form</a:t>
            </a:r>
          </a:p>
          <a:p>
            <a:pPr lvl="1"/>
            <a:r>
              <a:rPr lang="en-US" dirty="0"/>
              <a:t>CSRF attacks are a real issue and you should therefore include CSRF protection in ANY application you build</a:t>
            </a:r>
          </a:p>
          <a:p>
            <a:pPr lvl="1"/>
            <a:r>
              <a:rPr lang="en-US" dirty="0"/>
              <a:t>For a better user experience, you can flash data/messages into the </a:t>
            </a:r>
            <a:r>
              <a:rPr lang="en-US"/>
              <a:t>session which you </a:t>
            </a:r>
            <a:r>
              <a:rPr lang="en-US" dirty="0"/>
              <a:t>then can display in your views.</a:t>
            </a:r>
          </a:p>
        </p:txBody>
      </p:sp>
    </p:spTree>
    <p:extLst>
      <p:ext uri="{BB962C8B-B14F-4D97-AF65-F5344CB8AC3E}">
        <p14:creationId xmlns:p14="http://schemas.microsoft.com/office/powerpoint/2010/main" val="36804822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69284-9788-5E7F-8AA9-38A99680C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Advanced Authentication &amp; Authorization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9D4787-9C09-4EF3-1377-17FCAAF51C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Resetting Password</a:t>
            </a:r>
          </a:p>
          <a:p>
            <a:r>
              <a:rPr lang="en-US" dirty="0"/>
              <a:t>Implementing the token Logic</a:t>
            </a:r>
          </a:p>
          <a:p>
            <a:r>
              <a:rPr lang="en-US" dirty="0"/>
              <a:t>Creating the Token</a:t>
            </a:r>
          </a:p>
          <a:p>
            <a:r>
              <a:rPr lang="en-US" dirty="0"/>
              <a:t>Adding Logic to Update the Password</a:t>
            </a:r>
          </a:p>
          <a:p>
            <a:r>
              <a:rPr lang="en-US" dirty="0"/>
              <a:t>Adding Authorization</a:t>
            </a:r>
          </a:p>
        </p:txBody>
      </p:sp>
    </p:spTree>
    <p:extLst>
      <p:ext uri="{BB962C8B-B14F-4D97-AF65-F5344CB8AC3E}">
        <p14:creationId xmlns:p14="http://schemas.microsoft.com/office/powerpoint/2010/main" val="375693538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F21906-0BA2-E095-CBD4-40136A9BD8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88DE17-B46C-F1F6-C828-073976A953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Password Resetting</a:t>
            </a:r>
          </a:p>
          <a:p>
            <a:pPr lvl="1"/>
            <a:r>
              <a:rPr lang="en-US" dirty="0"/>
              <a:t>Has to be implemented in a way that prevents users from resetting random user accounts</a:t>
            </a:r>
          </a:p>
          <a:p>
            <a:pPr lvl="1"/>
            <a:r>
              <a:rPr lang="en-US" dirty="0"/>
              <a:t>Reset tokens have to be random unguessable and unique</a:t>
            </a:r>
          </a:p>
          <a:p>
            <a:r>
              <a:rPr lang="en-US" dirty="0"/>
              <a:t>Authorization</a:t>
            </a:r>
          </a:p>
          <a:p>
            <a:pPr lvl="1"/>
            <a:r>
              <a:rPr lang="en-US" dirty="0"/>
              <a:t>An important part of pretty much every app</a:t>
            </a:r>
          </a:p>
          <a:p>
            <a:pPr lvl="1"/>
            <a:r>
              <a:rPr lang="en-US" dirty="0"/>
              <a:t>Not every authenticated user should be able to do everything</a:t>
            </a:r>
          </a:p>
          <a:p>
            <a:pPr lvl="1"/>
            <a:r>
              <a:rPr lang="en-US" dirty="0"/>
              <a:t>You want to lock down access be restricting the permissions of your users</a:t>
            </a:r>
          </a:p>
        </p:txBody>
      </p:sp>
    </p:spTree>
    <p:extLst>
      <p:ext uri="{BB962C8B-B14F-4D97-AF65-F5344CB8AC3E}">
        <p14:creationId xmlns:p14="http://schemas.microsoft.com/office/powerpoint/2010/main" val="290624370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BFF4F9-2FCF-EE67-21B4-64DF3F51F9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Forms, User Input &amp;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ED81AC-CAA2-DE63-18F6-049A9E34A3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Setup &amp; Basic Validation</a:t>
            </a:r>
          </a:p>
          <a:p>
            <a:r>
              <a:rPr lang="en-US" dirty="0"/>
              <a:t>Using Validation Error Messages</a:t>
            </a:r>
          </a:p>
          <a:p>
            <a:r>
              <a:rPr lang="en-US" dirty="0"/>
              <a:t>Built-In &amp; </a:t>
            </a:r>
            <a:r>
              <a:rPr lang="en-US"/>
              <a:t>Custom Validators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32985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27178</TotalTime>
  <Words>2702</Words>
  <Application>Microsoft Macintosh PowerPoint</Application>
  <PresentationFormat>Widescreen</PresentationFormat>
  <Paragraphs>537</Paragraphs>
  <Slides>62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62</vt:i4>
      </vt:variant>
    </vt:vector>
  </HeadingPairs>
  <TitlesOfParts>
    <vt:vector size="66" baseType="lpstr">
      <vt:lpstr>Aptos</vt:lpstr>
      <vt:lpstr>Aptos Display</vt:lpstr>
      <vt:lpstr>Arial</vt:lpstr>
      <vt:lpstr>Office Theme</vt:lpstr>
      <vt:lpstr>What is Node.js?</vt:lpstr>
      <vt:lpstr>Node.js History</vt:lpstr>
      <vt:lpstr>Node.js Use</vt:lpstr>
      <vt:lpstr>Intro</vt:lpstr>
      <vt:lpstr>Course Outline</vt:lpstr>
      <vt:lpstr>How the web works</vt:lpstr>
      <vt:lpstr>HTTP,HTTPS</vt:lpstr>
      <vt:lpstr>Core Modules</vt:lpstr>
      <vt:lpstr>Creating a Node Server</vt:lpstr>
      <vt:lpstr>Node.js Program Lifecycle</vt:lpstr>
      <vt:lpstr>PowerPoint Presentation</vt:lpstr>
      <vt:lpstr>Routing request</vt:lpstr>
      <vt:lpstr>Parsing request bodies</vt:lpstr>
      <vt:lpstr>Single Thread, Event Loop &amp; Blocking Code</vt:lpstr>
      <vt:lpstr>The Event Loop</vt:lpstr>
      <vt:lpstr>PowerPoint Presentation</vt:lpstr>
      <vt:lpstr>Module Summary</vt:lpstr>
      <vt:lpstr>Debugging &amp; Easier Development</vt:lpstr>
      <vt:lpstr>Error</vt:lpstr>
      <vt:lpstr>PowerPoint Presentation</vt:lpstr>
      <vt:lpstr>Module summary</vt:lpstr>
      <vt:lpstr>Dynamic Content &amp; Templates</vt:lpstr>
      <vt:lpstr>Templating Engines</vt:lpstr>
      <vt:lpstr>Available Templating Engine</vt:lpstr>
      <vt:lpstr>PowerPoint Presentation</vt:lpstr>
      <vt:lpstr>MVC (Structuring your Code)</vt:lpstr>
      <vt:lpstr>PowerPoint Presentation</vt:lpstr>
      <vt:lpstr>Module Summary</vt:lpstr>
      <vt:lpstr>PowerPoint Presentation</vt:lpstr>
      <vt:lpstr>Dynamic Routes &amp; Advanced Models</vt:lpstr>
      <vt:lpstr>PowerPoint Presentation</vt:lpstr>
      <vt:lpstr>Module Summary</vt:lpstr>
      <vt:lpstr>Storing Data in Databases</vt:lpstr>
      <vt:lpstr>SQL vs NoSQL</vt:lpstr>
      <vt:lpstr>SQL</vt:lpstr>
      <vt:lpstr>Core SQL Database Characteristics</vt:lpstr>
      <vt:lpstr>SQL Queries</vt:lpstr>
      <vt:lpstr>NoSQL</vt:lpstr>
      <vt:lpstr>NoSQL Characteristics</vt:lpstr>
      <vt:lpstr>PowerPoint Presentation</vt:lpstr>
      <vt:lpstr>SQL vs NoSQL</vt:lpstr>
      <vt:lpstr>MySQL Download install</vt:lpstr>
      <vt:lpstr>Sequelize</vt:lpstr>
      <vt:lpstr>PowerPoint Presentation</vt:lpstr>
      <vt:lpstr>Module Summary</vt:lpstr>
      <vt:lpstr>NoSQL Databases / MongoDB</vt:lpstr>
      <vt:lpstr>PowerPoint Presentation</vt:lpstr>
      <vt:lpstr>JSON(BSON) Data Format</vt:lpstr>
      <vt:lpstr>PowerPoint Presentation</vt:lpstr>
      <vt:lpstr>Mongoose</vt:lpstr>
      <vt:lpstr>Session &amp; Cookies</vt:lpstr>
      <vt:lpstr>Cookie</vt:lpstr>
      <vt:lpstr>PowerPoint Presentation</vt:lpstr>
      <vt:lpstr>Session</vt:lpstr>
      <vt:lpstr>Session</vt:lpstr>
      <vt:lpstr>PowerPoint Presentation</vt:lpstr>
      <vt:lpstr>User Authentication</vt:lpstr>
      <vt:lpstr>PowerPoint Presentation</vt:lpstr>
      <vt:lpstr>PowerPoint Presentation</vt:lpstr>
      <vt:lpstr>Advanced Authentication &amp; Authorization</vt:lpstr>
      <vt:lpstr>PowerPoint Presentation</vt:lpstr>
      <vt:lpstr>Forms, User Input &amp; Validation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Aeeron Academy</dc:creator>
  <cp:lastModifiedBy>Aeeron Academy</cp:lastModifiedBy>
  <cp:revision>85</cp:revision>
  <dcterms:created xsi:type="dcterms:W3CDTF">2025-11-04T10:55:41Z</dcterms:created>
  <dcterms:modified xsi:type="dcterms:W3CDTF">2026-01-29T03:30:51Z</dcterms:modified>
</cp:coreProperties>
</file>