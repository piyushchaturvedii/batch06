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433"/>
    <p:restoredTop sz="94667"/>
  </p:normalViewPr>
  <p:slideViewPr>
    <p:cSldViewPr snapToGrid="0">
      <p:cViewPr varScale="1">
        <p:scale>
          <a:sx n="123" d="100"/>
          <a:sy n="123" d="100"/>
        </p:scale>
        <p:origin x="192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Magic Association Methods</a:t>
            </a:r>
          </a:p>
          <a:p>
            <a:pPr marL="0" indent="0">
              <a:buNone/>
            </a:pPr>
            <a:r>
              <a:rPr lang="en-US" dirty="0"/>
              <a:t>Fetching Related Products</a:t>
            </a:r>
          </a:p>
          <a:p>
            <a:pPr marL="0" indent="0">
              <a:buNone/>
            </a:pPr>
            <a:r>
              <a:rPr lang="en-US" dirty="0"/>
              <a:t>One-to-many &amp; many-to-many Relations</a:t>
            </a:r>
          </a:p>
          <a:p>
            <a:pPr marL="0" indent="0">
              <a:buNone/>
            </a:pPr>
            <a:r>
              <a:rPr lang="en-US" dirty="0"/>
              <a:t>Creating &amp; Fetching a Cart</a:t>
            </a:r>
          </a:p>
          <a:p>
            <a:pPr marL="0" indent="0">
              <a:buNone/>
            </a:pPr>
            <a:r>
              <a:rPr lang="en-US" dirty="0"/>
              <a:t>Adding New Products to the Cart</a:t>
            </a:r>
          </a:p>
          <a:p>
            <a:pPr marL="0" indent="0">
              <a:buNone/>
            </a:pPr>
            <a:r>
              <a:rPr lang="en-US" dirty="0"/>
              <a:t>Adding Existing Products &amp; Retrieving Cart Items</a:t>
            </a:r>
          </a:p>
          <a:p>
            <a:pPr marL="0" indent="0">
              <a:buNone/>
            </a:pPr>
            <a:r>
              <a:rPr lang="en-US" dirty="0"/>
              <a:t>Deleting Related Items &amp; Deleting Cart Products</a:t>
            </a:r>
          </a:p>
          <a:p>
            <a:pPr marL="0" indent="0">
              <a:buNone/>
            </a:pPr>
            <a:r>
              <a:rPr lang="en-US" dirty="0"/>
              <a:t>Adding an Order Model</a:t>
            </a:r>
          </a:p>
          <a:p>
            <a:pPr marL="0" indent="0">
              <a:buNone/>
            </a:pPr>
            <a:r>
              <a:rPr lang="en-US" dirty="0"/>
              <a:t>Storing </a:t>
            </a:r>
            <a:r>
              <a:rPr lang="en-US" dirty="0" err="1"/>
              <a:t>Cartitems</a:t>
            </a:r>
            <a:r>
              <a:rPr lang="en-US" dirty="0"/>
              <a:t> as </a:t>
            </a:r>
            <a:r>
              <a:rPr lang="en-US" dirty="0" err="1"/>
              <a:t>Orderitems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Resetting the Cart &amp; Fetching and Outputting Orders</a:t>
            </a:r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5CDBE0-BCB9-AF8E-9399-AE83F26C0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8DCBC-EE50-AE6D-3727-509CCBD885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SQL</a:t>
            </a:r>
          </a:p>
          <a:p>
            <a:pPr lvl="1"/>
            <a:r>
              <a:rPr lang="en-US" dirty="0"/>
              <a:t>SQL uses strict data schemas and relations</a:t>
            </a:r>
          </a:p>
          <a:p>
            <a:pPr lvl="1"/>
            <a:r>
              <a:rPr lang="en-US" dirty="0"/>
              <a:t>You can connect your Node.js app via packages like mysql2</a:t>
            </a:r>
          </a:p>
          <a:p>
            <a:pPr lvl="1"/>
            <a:r>
              <a:rPr lang="en-US" dirty="0"/>
              <a:t>Writing SQL queries in not directly related to Node.js and something you have to learn in addition to Node.js</a:t>
            </a:r>
          </a:p>
          <a:p>
            <a:r>
              <a:rPr lang="en-US" dirty="0"/>
              <a:t>Sequelize</a:t>
            </a:r>
          </a:p>
          <a:p>
            <a:pPr lvl="1"/>
            <a:r>
              <a:rPr lang="en-US" dirty="0"/>
              <a:t>Instead of writing SQL queries manually, you can use packages(ORMs) like Sequelize to focus on the Node.js code and work with native JS objects</a:t>
            </a:r>
          </a:p>
          <a:p>
            <a:pPr lvl="1"/>
            <a:r>
              <a:rPr lang="en-US" dirty="0"/>
              <a:t>Sequelize allows you define models and interact with the database through them</a:t>
            </a:r>
          </a:p>
          <a:p>
            <a:pPr lvl="1"/>
            <a:r>
              <a:rPr lang="en-US" dirty="0"/>
              <a:t>You can also easily set up relations(“Associations”) and interact with your related models through them</a:t>
            </a:r>
          </a:p>
        </p:txBody>
      </p:sp>
    </p:spTree>
    <p:extLst>
      <p:ext uri="{BB962C8B-B14F-4D97-AF65-F5344CB8AC3E}">
        <p14:creationId xmlns:p14="http://schemas.microsoft.com/office/powerpoint/2010/main" val="242199038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91769-C5C1-AA84-7917-5313D3E16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Databases / MongoDB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211BC-4E55-3418-7642-B3D44086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Storing data in a different kind of database</a:t>
            </a:r>
          </a:p>
          <a:p>
            <a:endParaRPr lang="en-US" dirty="0"/>
          </a:p>
          <a:p>
            <a:r>
              <a:rPr lang="en-US" dirty="0"/>
              <a:t>What is MongoDB?</a:t>
            </a:r>
          </a:p>
          <a:p>
            <a:r>
              <a:rPr lang="en-US" dirty="0"/>
              <a:t>Using the MongoDB Driver in Node.js Apps</a:t>
            </a:r>
          </a:p>
          <a:p>
            <a:endParaRPr lang="en-US" dirty="0"/>
          </a:p>
          <a:p>
            <a:r>
              <a:rPr lang="en-US" dirty="0"/>
              <a:t>Because it can store lots and lots of data </a:t>
            </a:r>
          </a:p>
        </p:txBody>
      </p:sp>
    </p:spTree>
    <p:extLst>
      <p:ext uri="{BB962C8B-B14F-4D97-AF65-F5344CB8AC3E}">
        <p14:creationId xmlns:p14="http://schemas.microsoft.com/office/powerpoint/2010/main" val="2741913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A4701-064F-7473-9919-F1E64195B2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EEB0-8274-D5E9-91E9-7BFE91FA9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</a:t>
            </a:r>
          </a:p>
          <a:p>
            <a:pPr lvl="1"/>
            <a:r>
              <a:rPr lang="en-US" dirty="0"/>
              <a:t>Shop</a:t>
            </a:r>
          </a:p>
          <a:p>
            <a:r>
              <a:rPr lang="en-US" dirty="0"/>
              <a:t>Collections</a:t>
            </a:r>
          </a:p>
          <a:p>
            <a:pPr lvl="1"/>
            <a:r>
              <a:rPr lang="en-US" dirty="0"/>
              <a:t>Orders</a:t>
            </a:r>
          </a:p>
          <a:p>
            <a:pPr lvl="1"/>
            <a:r>
              <a:rPr lang="en-US" dirty="0"/>
              <a:t>Users</a:t>
            </a:r>
          </a:p>
          <a:p>
            <a:r>
              <a:rPr lang="en-US" dirty="0"/>
              <a:t>Documents</a:t>
            </a:r>
          </a:p>
          <a:p>
            <a:pPr lvl="1"/>
            <a:r>
              <a:rPr lang="en-US" dirty="0"/>
              <a:t>{name:’Max’,age:29}</a:t>
            </a:r>
          </a:p>
          <a:p>
            <a:pPr lvl="1"/>
            <a:r>
              <a:rPr lang="en-US" dirty="0"/>
              <a:t>{</a:t>
            </a:r>
            <a:r>
              <a:rPr lang="en-US" dirty="0" err="1"/>
              <a:t>name:’Ram</a:t>
            </a:r>
            <a:r>
              <a:rPr lang="en-US" dirty="0"/>
              <a:t>’}</a:t>
            </a:r>
          </a:p>
        </p:txBody>
      </p:sp>
    </p:spTree>
    <p:extLst>
      <p:ext uri="{BB962C8B-B14F-4D97-AF65-F5344CB8AC3E}">
        <p14:creationId xmlns:p14="http://schemas.microsoft.com/office/powerpoint/2010/main" val="41061464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84578D-D91C-E3A9-4A6B-FB662D3A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JSON(BSON) Data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ECD482-E8E0-C922-EAE5-BED33988E5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20000"/>
          </a:bodyPr>
          <a:lstStyle/>
          <a:p>
            <a:r>
              <a:rPr lang="en-US" dirty="0"/>
              <a:t>Installing the MongoDB Driver</a:t>
            </a:r>
          </a:p>
          <a:p>
            <a:r>
              <a:rPr lang="en-US" dirty="0"/>
              <a:t>Creating the Database Connection</a:t>
            </a:r>
          </a:p>
          <a:p>
            <a:r>
              <a:rPr lang="en-US" dirty="0"/>
              <a:t>Using the Database connection</a:t>
            </a:r>
          </a:p>
          <a:p>
            <a:r>
              <a:rPr lang="en-US" dirty="0"/>
              <a:t>Creating Products</a:t>
            </a:r>
          </a:p>
          <a:p>
            <a:r>
              <a:rPr lang="en-US" dirty="0"/>
              <a:t>Understanding the MongoDB Compass</a:t>
            </a:r>
          </a:p>
          <a:p>
            <a:r>
              <a:rPr lang="en-US" dirty="0"/>
              <a:t>Fetching all Products</a:t>
            </a:r>
          </a:p>
          <a:p>
            <a:r>
              <a:rPr lang="en-US" dirty="0"/>
              <a:t>Making the Edit &amp; delete Buttons work again</a:t>
            </a:r>
          </a:p>
          <a:p>
            <a:r>
              <a:rPr lang="en-US" dirty="0"/>
              <a:t>Working on the product model</a:t>
            </a:r>
          </a:p>
          <a:p>
            <a:r>
              <a:rPr lang="en-US" dirty="0"/>
              <a:t>Deleting Product</a:t>
            </a:r>
          </a:p>
          <a:p>
            <a:r>
              <a:rPr lang="en-US" dirty="0"/>
              <a:t>Creating New Users</a:t>
            </a:r>
          </a:p>
          <a:p>
            <a:r>
              <a:rPr lang="en-US" dirty="0"/>
              <a:t>Storing the user in our Database</a:t>
            </a:r>
          </a:p>
          <a:p>
            <a:r>
              <a:rPr lang="en-US" dirty="0"/>
              <a:t>Working on cart items &amp; orders</a:t>
            </a:r>
          </a:p>
          <a:p>
            <a:r>
              <a:rPr lang="en-US" dirty="0"/>
              <a:t>Storing Multiple Products in the Cart</a:t>
            </a:r>
          </a:p>
          <a:p>
            <a:r>
              <a:rPr lang="en-US" dirty="0"/>
              <a:t>Displaying the Cart items</a:t>
            </a:r>
          </a:p>
          <a:p>
            <a:r>
              <a:rPr lang="en-US" dirty="0"/>
              <a:t>Fixing a Bug</a:t>
            </a:r>
          </a:p>
          <a:p>
            <a:r>
              <a:rPr lang="en-US" dirty="0"/>
              <a:t>Deleting a Cart items</a:t>
            </a:r>
          </a:p>
          <a:p>
            <a:r>
              <a:rPr lang="en-US" dirty="0"/>
              <a:t>Adding an Order</a:t>
            </a:r>
          </a:p>
          <a:p>
            <a:r>
              <a:rPr lang="en-US" dirty="0"/>
              <a:t>Adding Relational Order Data</a:t>
            </a:r>
          </a:p>
          <a:p>
            <a:r>
              <a:rPr lang="en-US" dirty="0"/>
              <a:t>Getting Orders</a:t>
            </a:r>
          </a:p>
        </p:txBody>
      </p:sp>
    </p:spTree>
    <p:extLst>
      <p:ext uri="{BB962C8B-B14F-4D97-AF65-F5344CB8AC3E}">
        <p14:creationId xmlns:p14="http://schemas.microsoft.com/office/powerpoint/2010/main" val="33176679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347618-9647-737B-E800-C3297EB4A6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38912"/>
            <a:ext cx="10515600" cy="5738051"/>
          </a:xfrm>
        </p:spPr>
        <p:txBody>
          <a:bodyPr/>
          <a:lstStyle/>
          <a:p>
            <a:r>
              <a:rPr lang="en-US" dirty="0"/>
              <a:t>NoSQL/MongoDB</a:t>
            </a:r>
          </a:p>
          <a:p>
            <a:pPr lvl="1"/>
            <a:r>
              <a:rPr lang="en-US" dirty="0"/>
              <a:t>Alternative to SQL databases</a:t>
            </a:r>
          </a:p>
          <a:p>
            <a:pPr lvl="1"/>
            <a:r>
              <a:rPr lang="en-US" dirty="0"/>
              <a:t>No strict schemas, fewer relations</a:t>
            </a:r>
          </a:p>
          <a:p>
            <a:pPr lvl="1"/>
            <a:r>
              <a:rPr lang="en-US" dirty="0"/>
              <a:t>You can of course use schemas and reference-based relations but you got more flexibility</a:t>
            </a:r>
          </a:p>
          <a:p>
            <a:pPr lvl="1"/>
            <a:r>
              <a:rPr lang="en-US" dirty="0"/>
              <a:t>Often, relations are also created by embedding other documents/data</a:t>
            </a:r>
          </a:p>
          <a:p>
            <a:r>
              <a:rPr lang="en-US" dirty="0"/>
              <a:t>Working with MongoDB</a:t>
            </a:r>
          </a:p>
          <a:p>
            <a:pPr lvl="1"/>
            <a:r>
              <a:rPr lang="en-US" dirty="0"/>
              <a:t>Use the official MongoDB driver</a:t>
            </a:r>
          </a:p>
          <a:p>
            <a:pPr lvl="1"/>
            <a:r>
              <a:rPr lang="en-US" dirty="0"/>
              <a:t>Commands like </a:t>
            </a:r>
            <a:r>
              <a:rPr lang="en-US" dirty="0" err="1"/>
              <a:t>insertOne</a:t>
            </a:r>
            <a:r>
              <a:rPr lang="en-US" dirty="0"/>
              <a:t>(), find(), </a:t>
            </a:r>
            <a:r>
              <a:rPr lang="en-US" dirty="0" err="1"/>
              <a:t>updateOne</a:t>
            </a:r>
            <a:r>
              <a:rPr lang="en-US" dirty="0"/>
              <a:t>() and </a:t>
            </a:r>
            <a:r>
              <a:rPr lang="en-US" dirty="0" err="1"/>
              <a:t>deleteOne</a:t>
            </a:r>
            <a:r>
              <a:rPr lang="en-US" dirty="0"/>
              <a:t>() make CRUD-Operations very simple</a:t>
            </a:r>
          </a:p>
          <a:p>
            <a:pPr lvl="1"/>
            <a:r>
              <a:rPr lang="en-US" dirty="0"/>
              <a:t>Check the official docs to learn about all available operations + configurations/operators</a:t>
            </a:r>
          </a:p>
          <a:p>
            <a:pPr lvl="1"/>
            <a:r>
              <a:rPr lang="en-US" dirty="0"/>
              <a:t>All operations are promise-based, hence you can easily chain them for more </a:t>
            </a:r>
            <a:r>
              <a:rPr lang="en-US"/>
              <a:t>complex flows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561659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8B4C7-0288-BC1E-60A1-1AB150939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Mongoose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12237-7E8C-EF68-36C5-3F30D8345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92500" lnSpcReduction="10000"/>
          </a:bodyPr>
          <a:lstStyle/>
          <a:p>
            <a:r>
              <a:rPr lang="en-US" dirty="0"/>
              <a:t>A Object-Document Mapping Library</a:t>
            </a:r>
          </a:p>
          <a:p>
            <a:r>
              <a:rPr lang="en-US" dirty="0"/>
              <a:t>Connecting to the MongoDB Server with Mongoose</a:t>
            </a:r>
          </a:p>
          <a:p>
            <a:r>
              <a:rPr lang="en-US" dirty="0"/>
              <a:t>Creating the Product Schema</a:t>
            </a:r>
          </a:p>
          <a:p>
            <a:r>
              <a:rPr lang="en-US" dirty="0"/>
              <a:t>Saving data through mongoose</a:t>
            </a:r>
          </a:p>
          <a:p>
            <a:r>
              <a:rPr lang="en-US" dirty="0"/>
              <a:t>Fetching All Product</a:t>
            </a:r>
          </a:p>
          <a:p>
            <a:r>
              <a:rPr lang="en-US" dirty="0"/>
              <a:t>Fetching a Single Product</a:t>
            </a:r>
          </a:p>
          <a:p>
            <a:r>
              <a:rPr lang="en-US" dirty="0"/>
              <a:t>Updating Products</a:t>
            </a:r>
          </a:p>
          <a:p>
            <a:r>
              <a:rPr lang="en-US" dirty="0"/>
              <a:t>Deleting Products</a:t>
            </a:r>
          </a:p>
          <a:p>
            <a:r>
              <a:rPr lang="en-US" dirty="0"/>
              <a:t>Adding and Using a User Model</a:t>
            </a:r>
          </a:p>
          <a:p>
            <a:r>
              <a:rPr lang="en-US" dirty="0"/>
              <a:t>Using Relations in Mongoose</a:t>
            </a:r>
          </a:p>
          <a:p>
            <a:r>
              <a:rPr lang="en-US" dirty="0"/>
              <a:t>Fetching Relation</a:t>
            </a:r>
          </a:p>
          <a:p>
            <a:r>
              <a:rPr lang="en-US" dirty="0"/>
              <a:t>Working on the Shopping Cart</a:t>
            </a:r>
          </a:p>
          <a:p>
            <a:r>
              <a:rPr lang="en-US" dirty="0"/>
              <a:t>Loading the Cart</a:t>
            </a:r>
          </a:p>
          <a:p>
            <a:r>
              <a:rPr lang="en-US" dirty="0"/>
              <a:t>Deleting Cart Items</a:t>
            </a:r>
          </a:p>
          <a:p>
            <a:r>
              <a:rPr lang="en-US" dirty="0"/>
              <a:t>Creating &amp; Getting Orders</a:t>
            </a:r>
          </a:p>
          <a:p>
            <a:r>
              <a:rPr lang="en-US" dirty="0"/>
              <a:t>Storing All order Related Data</a:t>
            </a:r>
          </a:p>
          <a:p>
            <a:r>
              <a:rPr lang="en-US" dirty="0"/>
              <a:t>Clearing the Cart After Storing an Order</a:t>
            </a:r>
          </a:p>
        </p:txBody>
      </p:sp>
    </p:spTree>
    <p:extLst>
      <p:ext uri="{BB962C8B-B14F-4D97-AF65-F5344CB8AC3E}">
        <p14:creationId xmlns:p14="http://schemas.microsoft.com/office/powerpoint/2010/main" val="38858377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4AC2B-4471-4240-67B7-CB39A5292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&amp; Cookies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52B5FB-C848-5DF6-59F9-1059037583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are Cookies?</a:t>
            </a:r>
          </a:p>
          <a:p>
            <a:r>
              <a:rPr lang="en-US" dirty="0"/>
              <a:t>What are Sessions?</a:t>
            </a:r>
          </a:p>
          <a:p>
            <a:r>
              <a:rPr lang="en-US" dirty="0"/>
              <a:t>Using Session &amp; Cookies?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2226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4E3E25-4C5B-3C05-800F-25AC51FF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Cookie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2D8F22-3D28-2DF0-6531-67F0A1ED59F4}"/>
              </a:ext>
            </a:extLst>
          </p:cNvPr>
          <p:cNvSpPr/>
          <p:nvPr/>
        </p:nvSpPr>
        <p:spPr>
          <a:xfrm>
            <a:off x="4321629" y="587829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EB21F2-5781-4C72-F4E6-8B4CC2C24332}"/>
              </a:ext>
            </a:extLst>
          </p:cNvPr>
          <p:cNvSpPr/>
          <p:nvPr/>
        </p:nvSpPr>
        <p:spPr>
          <a:xfrm>
            <a:off x="4321627" y="211880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FrontEnd</a:t>
            </a:r>
            <a:r>
              <a:rPr lang="en-US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2B8DDE-5664-1C35-2B07-AA629C105147}"/>
              </a:ext>
            </a:extLst>
          </p:cNvPr>
          <p:cNvSpPr/>
          <p:nvPr/>
        </p:nvSpPr>
        <p:spPr>
          <a:xfrm>
            <a:off x="4321628" y="3983832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 (Node App)</a:t>
            </a:r>
          </a:p>
        </p:txBody>
      </p: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57F5E0A9-F9E4-0391-ED80-668D3F35542E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5063813" y="1712543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FC79F0BA-A461-9077-349D-5EF33483108E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896784" y="3410544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3B3F8F-1DC7-7F09-DCDC-93E972CE97D5}"/>
              </a:ext>
            </a:extLst>
          </p:cNvPr>
          <p:cNvSpPr txBox="1"/>
          <p:nvPr/>
        </p:nvSpPr>
        <p:spPr>
          <a:xfrm>
            <a:off x="3766457" y="3429000"/>
            <a:ext cx="1012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Request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7F510B-C385-636E-C6C0-5D8662672145}"/>
              </a:ext>
            </a:extLst>
          </p:cNvPr>
          <p:cNvSpPr txBox="1"/>
          <p:nvPr/>
        </p:nvSpPr>
        <p:spPr>
          <a:xfrm>
            <a:off x="5834742" y="3429000"/>
            <a:ext cx="1904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Includes Cookies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8B0F118-B727-12F3-B7E8-DFA3E4D8060C}"/>
              </a:ext>
            </a:extLst>
          </p:cNvPr>
          <p:cNvSpPr/>
          <p:nvPr/>
        </p:nvSpPr>
        <p:spPr>
          <a:xfrm>
            <a:off x="8077199" y="2189390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Cookie</a:t>
            </a:r>
          </a:p>
        </p:txBody>
      </p: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1DE11782-A359-2D5A-103E-BA61AC9997A4}"/>
              </a:ext>
            </a:extLst>
          </p:cNvPr>
          <p:cNvCxnSpPr>
            <a:stCxn id="5" idx="3"/>
            <a:endCxn id="14" idx="1"/>
          </p:cNvCxnSpPr>
          <p:nvPr/>
        </p:nvCxnSpPr>
        <p:spPr>
          <a:xfrm>
            <a:off x="6618512" y="2478031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45B555A0-2745-B513-08FD-CCDEF49FF496}"/>
              </a:ext>
            </a:extLst>
          </p:cNvPr>
          <p:cNvCxnSpPr>
            <a:stCxn id="6" idx="3"/>
            <a:endCxn id="14" idx="2"/>
          </p:cNvCxnSpPr>
          <p:nvPr/>
        </p:nvCxnSpPr>
        <p:spPr>
          <a:xfrm flipV="1">
            <a:off x="6618513" y="2907847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EB334225-E1E6-0A62-4E79-1975397BECDC}"/>
              </a:ext>
            </a:extLst>
          </p:cNvPr>
          <p:cNvSpPr txBox="1"/>
          <p:nvPr/>
        </p:nvSpPr>
        <p:spPr>
          <a:xfrm>
            <a:off x="7478482" y="4332957"/>
            <a:ext cx="1959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Response Header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E03EBB-6D09-3173-EF98-AC92000AEA47}"/>
              </a:ext>
            </a:extLst>
          </p:cNvPr>
          <p:cNvSpPr txBox="1"/>
          <p:nvPr/>
        </p:nvSpPr>
        <p:spPr>
          <a:xfrm>
            <a:off x="8088083" y="1433054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Cookies are stored on the client-side</a:t>
            </a:r>
          </a:p>
        </p:txBody>
      </p:sp>
    </p:spTree>
    <p:extLst>
      <p:ext uri="{BB962C8B-B14F-4D97-AF65-F5344CB8AC3E}">
        <p14:creationId xmlns:p14="http://schemas.microsoft.com/office/powerpoint/2010/main" val="419418566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E4E20-6891-DC39-BD77-5422A3D0A1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C4F1D-B57E-5088-3954-51790BD708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the Request Driven Login Solution</a:t>
            </a:r>
          </a:p>
          <a:p>
            <a:r>
              <a:rPr lang="en-US" dirty="0"/>
              <a:t>Setting a Cookie</a:t>
            </a:r>
          </a:p>
          <a:p>
            <a:r>
              <a:rPr lang="en-US" dirty="0"/>
              <a:t>Manipulating Cookies</a:t>
            </a:r>
          </a:p>
          <a:p>
            <a:r>
              <a:rPr lang="en-US" dirty="0"/>
              <a:t>Configuring Cookies</a:t>
            </a:r>
          </a:p>
        </p:txBody>
      </p:sp>
    </p:spTree>
    <p:extLst>
      <p:ext uri="{BB962C8B-B14F-4D97-AF65-F5344CB8AC3E}">
        <p14:creationId xmlns:p14="http://schemas.microsoft.com/office/powerpoint/2010/main" val="21991802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53857-B8E1-838C-545F-79B5063C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93FDBC-122F-90B3-84FC-C70E316D012B}"/>
              </a:ext>
            </a:extLst>
          </p:cNvPr>
          <p:cNvSpPr/>
          <p:nvPr/>
        </p:nvSpPr>
        <p:spPr>
          <a:xfrm>
            <a:off x="3609248" y="1523494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User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1D1B07-E0DA-720C-253B-350FEE9217FC}"/>
              </a:ext>
            </a:extLst>
          </p:cNvPr>
          <p:cNvSpPr/>
          <p:nvPr/>
        </p:nvSpPr>
        <p:spPr>
          <a:xfrm>
            <a:off x="3609246" y="305446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FrontEnd</a:t>
            </a:r>
            <a:r>
              <a:rPr lang="en-US" b="1" dirty="0"/>
              <a:t> (Views)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497810-F5D5-9591-8CCE-F12C09527B6F}"/>
              </a:ext>
            </a:extLst>
          </p:cNvPr>
          <p:cNvSpPr/>
          <p:nvPr/>
        </p:nvSpPr>
        <p:spPr>
          <a:xfrm>
            <a:off x="3609247" y="4919497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Server (Node App)</a:t>
            </a:r>
          </a:p>
        </p:txBody>
      </p:sp>
      <p:cxnSp>
        <p:nvCxnSpPr>
          <p:cNvPr id="7" name="Elbow Connector 6">
            <a:extLst>
              <a:ext uri="{FF2B5EF4-FFF2-40B4-BE49-F238E27FC236}">
                <a16:creationId xmlns:a16="http://schemas.microsoft.com/office/drawing/2014/main" id="{77CA0F5F-12F1-86E1-5D28-909F20943637}"/>
              </a:ext>
            </a:extLst>
          </p:cNvPr>
          <p:cNvCxnSpPr>
            <a:stCxn id="4" idx="2"/>
            <a:endCxn id="5" idx="0"/>
          </p:cNvCxnSpPr>
          <p:nvPr/>
        </p:nvCxnSpPr>
        <p:spPr>
          <a:xfrm rot="5400000">
            <a:off x="4351432" y="2648208"/>
            <a:ext cx="812516" cy="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Elbow Connector 7">
            <a:extLst>
              <a:ext uri="{FF2B5EF4-FFF2-40B4-BE49-F238E27FC236}">
                <a16:creationId xmlns:a16="http://schemas.microsoft.com/office/drawing/2014/main" id="{18741003-FA61-262C-7E71-3F2C6759B819}"/>
              </a:ext>
            </a:extLst>
          </p:cNvPr>
          <p:cNvCxnSpPr>
            <a:stCxn id="5" idx="2"/>
            <a:endCxn id="6" idx="0"/>
          </p:cNvCxnSpPr>
          <p:nvPr/>
        </p:nvCxnSpPr>
        <p:spPr>
          <a:xfrm rot="16200000" flipH="1">
            <a:off x="4184403" y="4346209"/>
            <a:ext cx="1146573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F7FA7DFB-8FF7-745C-4B67-19C929162854}"/>
              </a:ext>
            </a:extLst>
          </p:cNvPr>
          <p:cNvSpPr txBox="1"/>
          <p:nvPr/>
        </p:nvSpPr>
        <p:spPr>
          <a:xfrm>
            <a:off x="3054076" y="4364665"/>
            <a:ext cx="10547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Request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0504FB-EE53-17EF-BD60-1F6B9CD500BF}"/>
              </a:ext>
            </a:extLst>
          </p:cNvPr>
          <p:cNvSpPr txBox="1"/>
          <p:nvPr/>
        </p:nvSpPr>
        <p:spPr>
          <a:xfrm>
            <a:off x="5451754" y="4289668"/>
            <a:ext cx="22968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Sessions are stored on the server-side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91B4AF5-2E29-BBBD-B25C-0BD85F914055}"/>
              </a:ext>
            </a:extLst>
          </p:cNvPr>
          <p:cNvSpPr/>
          <p:nvPr/>
        </p:nvSpPr>
        <p:spPr>
          <a:xfrm>
            <a:off x="7364818" y="3125055"/>
            <a:ext cx="2296885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Cookie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194A36F4-05CA-2DCC-15AF-9C4C94551F35}"/>
              </a:ext>
            </a:extLst>
          </p:cNvPr>
          <p:cNvCxnSpPr>
            <a:stCxn id="5" idx="3"/>
            <a:endCxn id="11" idx="1"/>
          </p:cNvCxnSpPr>
          <p:nvPr/>
        </p:nvCxnSpPr>
        <p:spPr>
          <a:xfrm>
            <a:off x="5906131" y="3413696"/>
            <a:ext cx="1458687" cy="705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Elbow Connector 12">
            <a:extLst>
              <a:ext uri="{FF2B5EF4-FFF2-40B4-BE49-F238E27FC236}">
                <a16:creationId xmlns:a16="http://schemas.microsoft.com/office/drawing/2014/main" id="{D2EB1F83-9306-A486-F837-E06EEE86DDF3}"/>
              </a:ext>
            </a:extLst>
          </p:cNvPr>
          <p:cNvCxnSpPr>
            <a:stCxn id="6" idx="3"/>
            <a:endCxn id="11" idx="2"/>
          </p:cNvCxnSpPr>
          <p:nvPr/>
        </p:nvCxnSpPr>
        <p:spPr>
          <a:xfrm flipV="1">
            <a:off x="5906132" y="3843512"/>
            <a:ext cx="2607129" cy="143521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53D1BF9-C608-7D7B-B3D5-1D1E58A2033F}"/>
              </a:ext>
            </a:extLst>
          </p:cNvPr>
          <p:cNvSpPr txBox="1"/>
          <p:nvPr/>
        </p:nvSpPr>
        <p:spPr>
          <a:xfrm>
            <a:off x="6766101" y="5268622"/>
            <a:ext cx="20425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Response Header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2672AB3-5C54-AC74-1313-ED510CC7E6FE}"/>
              </a:ext>
            </a:extLst>
          </p:cNvPr>
          <p:cNvSpPr txBox="1"/>
          <p:nvPr/>
        </p:nvSpPr>
        <p:spPr>
          <a:xfrm>
            <a:off x="7375702" y="2368719"/>
            <a:ext cx="29282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Cookies are stored on the client-side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D904A3-FBD5-7452-86D5-B91789F41F36}"/>
              </a:ext>
            </a:extLst>
          </p:cNvPr>
          <p:cNvSpPr/>
          <p:nvPr/>
        </p:nvSpPr>
        <p:spPr>
          <a:xfrm>
            <a:off x="7521395" y="4677017"/>
            <a:ext cx="2636874" cy="64858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Session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0EC9A4C-99A2-F314-0E54-2B77E3A5D0A1}"/>
              </a:ext>
            </a:extLst>
          </p:cNvPr>
          <p:cNvSpPr/>
          <p:nvPr/>
        </p:nvSpPr>
        <p:spPr>
          <a:xfrm>
            <a:off x="3609246" y="6262577"/>
            <a:ext cx="2132335" cy="48909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9" name="Elbow Connector 18">
            <a:extLst>
              <a:ext uri="{FF2B5EF4-FFF2-40B4-BE49-F238E27FC236}">
                <a16:creationId xmlns:a16="http://schemas.microsoft.com/office/drawing/2014/main" id="{3B5B5B36-A25D-8267-684F-E5FE822822FC}"/>
              </a:ext>
            </a:extLst>
          </p:cNvPr>
          <p:cNvCxnSpPr>
            <a:stCxn id="6" idx="2"/>
            <a:endCxn id="17" idx="0"/>
          </p:cNvCxnSpPr>
          <p:nvPr/>
        </p:nvCxnSpPr>
        <p:spPr>
          <a:xfrm rot="5400000">
            <a:off x="4404241" y="5909127"/>
            <a:ext cx="624623" cy="8227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E7B2037E-3806-B655-9400-85BC6AEAF62E}"/>
              </a:ext>
            </a:extLst>
          </p:cNvPr>
          <p:cNvCxnSpPr>
            <a:stCxn id="16" idx="2"/>
            <a:endCxn id="17" idx="3"/>
          </p:cNvCxnSpPr>
          <p:nvPr/>
        </p:nvCxnSpPr>
        <p:spPr>
          <a:xfrm rot="5400000">
            <a:off x="6699946" y="4367239"/>
            <a:ext cx="1181523" cy="309825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9145014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418299-4863-5EA1-F0EC-B306ED6C7B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534DC-4177-35FC-D95B-DA3EE557BE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Initializing the Session Middleware</a:t>
            </a:r>
          </a:p>
          <a:p>
            <a:r>
              <a:rPr lang="en-US" dirty="0"/>
              <a:t>Using MongoDB to store Sessions</a:t>
            </a:r>
          </a:p>
          <a:p>
            <a:r>
              <a:rPr lang="en-US" dirty="0"/>
              <a:t>Deleting a Cookie</a:t>
            </a:r>
          </a:p>
        </p:txBody>
      </p:sp>
    </p:spTree>
    <p:extLst>
      <p:ext uri="{BB962C8B-B14F-4D97-AF65-F5344CB8AC3E}">
        <p14:creationId xmlns:p14="http://schemas.microsoft.com/office/powerpoint/2010/main" val="176067528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EA8DC-794E-5304-7022-B34B7B556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4037" y="255181"/>
            <a:ext cx="10949763" cy="5921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Cookies</a:t>
            </a:r>
          </a:p>
          <a:p>
            <a:r>
              <a:rPr lang="en-US" dirty="0"/>
              <a:t>Great for storing data on the client (browser)</a:t>
            </a:r>
          </a:p>
          <a:p>
            <a:r>
              <a:rPr lang="en-US" dirty="0"/>
              <a:t>Do NOT store sensitive data here! It can be </a:t>
            </a:r>
            <a:r>
              <a:rPr lang="en-US" dirty="0" err="1"/>
              <a:t>viewed+manipulated</a:t>
            </a:r>
            <a:endParaRPr lang="en-US" dirty="0"/>
          </a:p>
          <a:p>
            <a:r>
              <a:rPr lang="en-US" dirty="0"/>
              <a:t>Cookies can be configured to expire when the browser is closed or when a certain date is reached</a:t>
            </a:r>
          </a:p>
          <a:p>
            <a:r>
              <a:rPr lang="en-US" dirty="0"/>
              <a:t>Works well together with Sessions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Sessions</a:t>
            </a:r>
          </a:p>
          <a:p>
            <a:r>
              <a:rPr lang="en-US" dirty="0"/>
              <a:t>Stored on the server, NOT on the client</a:t>
            </a:r>
          </a:p>
          <a:p>
            <a:r>
              <a:rPr lang="en-US" dirty="0"/>
              <a:t>Great for storing sensitive data that should survive across requests</a:t>
            </a:r>
          </a:p>
          <a:p>
            <a:r>
              <a:rPr lang="en-US" dirty="0"/>
              <a:t>You can store ANYTHING in sessions</a:t>
            </a:r>
          </a:p>
          <a:p>
            <a:r>
              <a:rPr lang="en-US" dirty="0"/>
              <a:t>Often used for storing user data/ authentication status</a:t>
            </a:r>
          </a:p>
          <a:p>
            <a:r>
              <a:rPr lang="en-US" dirty="0"/>
              <a:t>Identified via Cookie </a:t>
            </a:r>
          </a:p>
          <a:p>
            <a:r>
              <a:rPr lang="en-US" dirty="0"/>
              <a:t>You can use different storages for saving your sessions on the server</a:t>
            </a:r>
          </a:p>
        </p:txBody>
      </p:sp>
    </p:spTree>
    <p:extLst>
      <p:ext uri="{BB962C8B-B14F-4D97-AF65-F5344CB8AC3E}">
        <p14:creationId xmlns:p14="http://schemas.microsoft.com/office/powerpoint/2010/main" val="177221854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0407D1-A557-35FF-7698-00F907C2AC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Authentication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829C2A-AC4C-1BD7-2263-4BC2AC1A9A0D}"/>
              </a:ext>
            </a:extLst>
          </p:cNvPr>
          <p:cNvSpPr/>
          <p:nvPr/>
        </p:nvSpPr>
        <p:spPr>
          <a:xfrm>
            <a:off x="4061637" y="1403498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131EFF-4404-325E-821D-2209C756E62A}"/>
              </a:ext>
            </a:extLst>
          </p:cNvPr>
          <p:cNvSpPr/>
          <p:nvPr/>
        </p:nvSpPr>
        <p:spPr>
          <a:xfrm>
            <a:off x="1205023" y="2934586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View all products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D964C2-02A4-6482-B3F3-17DDDB0D841C}"/>
              </a:ext>
            </a:extLst>
          </p:cNvPr>
          <p:cNvSpPr/>
          <p:nvPr/>
        </p:nvSpPr>
        <p:spPr>
          <a:xfrm>
            <a:off x="4867939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Create &amp; Manage Products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6C3D19-540C-7319-8700-769D9DDEFB66}"/>
              </a:ext>
            </a:extLst>
          </p:cNvPr>
          <p:cNvSpPr/>
          <p:nvPr/>
        </p:nvSpPr>
        <p:spPr>
          <a:xfrm>
            <a:off x="8530855" y="2955851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Place Orders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4C39337-4E36-53C2-DA25-1132011AF8A3}"/>
              </a:ext>
            </a:extLst>
          </p:cNvPr>
          <p:cNvSpPr/>
          <p:nvPr/>
        </p:nvSpPr>
        <p:spPr>
          <a:xfrm>
            <a:off x="3863162" y="4508204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40539E-BA0A-99E3-A013-37F6243D1CDD}"/>
              </a:ext>
            </a:extLst>
          </p:cNvPr>
          <p:cNvSpPr/>
          <p:nvPr/>
        </p:nvSpPr>
        <p:spPr>
          <a:xfrm>
            <a:off x="3781646" y="5773367"/>
            <a:ext cx="2456121" cy="9888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77E5BC40-2C06-B5B9-EAED-F8F43B3ADEDE}"/>
              </a:ext>
            </a:extLst>
          </p:cNvPr>
          <p:cNvCxnSpPr>
            <a:stCxn id="3" idx="2"/>
            <a:endCxn id="4" idx="0"/>
          </p:cNvCxnSpPr>
          <p:nvPr/>
        </p:nvCxnSpPr>
        <p:spPr>
          <a:xfrm rot="5400000">
            <a:off x="3590261" y="1235149"/>
            <a:ext cx="542260" cy="285661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E5FBA3B2-E674-FE36-FF98-2F9A0BE4675D}"/>
              </a:ext>
            </a:extLst>
          </p:cNvPr>
          <p:cNvCxnSpPr>
            <a:stCxn id="3" idx="2"/>
            <a:endCxn id="5" idx="0"/>
          </p:cNvCxnSpPr>
          <p:nvPr/>
        </p:nvCxnSpPr>
        <p:spPr>
          <a:xfrm rot="16200000" flipH="1">
            <a:off x="5411087" y="2270937"/>
            <a:ext cx="563525" cy="80630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BB49207E-9F09-FC90-35E1-78257B9DDF53}"/>
              </a:ext>
            </a:extLst>
          </p:cNvPr>
          <p:cNvCxnSpPr>
            <a:stCxn id="3" idx="2"/>
            <a:endCxn id="6" idx="0"/>
          </p:cNvCxnSpPr>
          <p:nvPr/>
        </p:nvCxnSpPr>
        <p:spPr>
          <a:xfrm rot="16200000" flipH="1">
            <a:off x="7242545" y="439479"/>
            <a:ext cx="563525" cy="446921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A6DC3B6E-38D2-F923-600A-33F22C48FDA9}"/>
              </a:ext>
            </a:extLst>
          </p:cNvPr>
          <p:cNvSpPr/>
          <p:nvPr/>
        </p:nvSpPr>
        <p:spPr>
          <a:xfrm>
            <a:off x="4582633" y="2551814"/>
            <a:ext cx="6847367" cy="1818167"/>
          </a:xfrm>
          <a:prstGeom prst="rect">
            <a:avLst/>
          </a:prstGeom>
          <a:noFill/>
          <a:ln w="571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5D0D7B-FFFA-A89E-F51D-49FFB4BFC7FD}"/>
              </a:ext>
            </a:extLst>
          </p:cNvPr>
          <p:cNvSpPr txBox="1"/>
          <p:nvPr/>
        </p:nvSpPr>
        <p:spPr>
          <a:xfrm>
            <a:off x="1350335" y="4125433"/>
            <a:ext cx="17510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Open to anyone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EBCA3E-C9E5-F02E-8EE5-6D9734A0A934}"/>
              </a:ext>
            </a:extLst>
          </p:cNvPr>
          <p:cNvSpPr txBox="1"/>
          <p:nvPr/>
        </p:nvSpPr>
        <p:spPr>
          <a:xfrm>
            <a:off x="7021033" y="3972664"/>
            <a:ext cx="3397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Only available to logged-in users</a:t>
            </a:r>
          </a:p>
        </p:txBody>
      </p:sp>
    </p:spTree>
    <p:extLst>
      <p:ext uri="{BB962C8B-B14F-4D97-AF65-F5344CB8AC3E}">
        <p14:creationId xmlns:p14="http://schemas.microsoft.com/office/powerpoint/2010/main" val="350118341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96396-AFF1-B870-465F-6268D6EC0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EFBD8F-2C5E-5D39-A133-C396E9C6DA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Implementing an Authentication Flow</a:t>
            </a:r>
          </a:p>
          <a:p>
            <a:r>
              <a:rPr lang="en-US" dirty="0"/>
              <a:t>Working on Route Protection</a:t>
            </a:r>
          </a:p>
          <a:p>
            <a:r>
              <a:rPr lang="en-US" dirty="0"/>
              <a:t>Using Middleware to Protect routes</a:t>
            </a:r>
          </a:p>
          <a:p>
            <a:r>
              <a:rPr lang="en-US" dirty="0"/>
              <a:t>CSRF Attacks – Cross-Site Request Forgery</a:t>
            </a:r>
          </a:p>
          <a:p>
            <a:r>
              <a:rPr lang="en-US" dirty="0" err="1"/>
              <a:t>Airtel.com</a:t>
            </a:r>
            <a:r>
              <a:rPr lang="en-US" dirty="0"/>
              <a:t> </a:t>
            </a:r>
            <a:r>
              <a:rPr lang="en-US" dirty="0" err="1"/>
              <a:t>Aiitel.com</a:t>
            </a:r>
            <a:r>
              <a:rPr lang="en-US" dirty="0"/>
              <a:t> (send money to C)</a:t>
            </a:r>
          </a:p>
          <a:p>
            <a:r>
              <a:rPr lang="en-US" dirty="0"/>
              <a:t>Fixing Order Button</a:t>
            </a:r>
          </a:p>
          <a:p>
            <a:r>
              <a:rPr lang="en-US" dirty="0"/>
              <a:t>Providing user Feedback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160925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017B49-C1A4-2445-2122-51CE02CBD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51465-F8BD-9353-5C02-ABA927E94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Authentication</a:t>
            </a:r>
          </a:p>
          <a:p>
            <a:pPr lvl="1"/>
            <a:r>
              <a:rPr lang="en-US" dirty="0"/>
              <a:t>Means that not every visitor f the page can view and interact with everything</a:t>
            </a:r>
          </a:p>
          <a:p>
            <a:pPr lvl="1"/>
            <a:r>
              <a:rPr lang="en-US" dirty="0"/>
              <a:t>Has to happen on the server-side and builds up on sessions</a:t>
            </a:r>
          </a:p>
          <a:p>
            <a:pPr lvl="1"/>
            <a:r>
              <a:rPr lang="en-US" dirty="0"/>
              <a:t>You can protect routes by checking the (session-controlled) login status right before you access a controller action</a:t>
            </a:r>
          </a:p>
          <a:p>
            <a:r>
              <a:rPr lang="en-US" dirty="0"/>
              <a:t>Security &amp; UX</a:t>
            </a:r>
          </a:p>
          <a:p>
            <a:pPr lvl="1"/>
            <a:r>
              <a:rPr lang="en-US" dirty="0"/>
              <a:t>Password should be stored in a hashed form</a:t>
            </a:r>
          </a:p>
          <a:p>
            <a:pPr lvl="1"/>
            <a:r>
              <a:rPr lang="en-US" dirty="0"/>
              <a:t>CSRF attacks are a real issue and you should therefore include CSRF protection in ANY application you build</a:t>
            </a:r>
          </a:p>
          <a:p>
            <a:pPr lvl="1"/>
            <a:r>
              <a:rPr lang="en-US" dirty="0"/>
              <a:t>For a better user experience, you can flash data/messages into the </a:t>
            </a:r>
            <a:r>
              <a:rPr lang="en-US"/>
              <a:t>session which you </a:t>
            </a:r>
            <a:r>
              <a:rPr lang="en-US" dirty="0"/>
              <a:t>then can display in your views.</a:t>
            </a:r>
          </a:p>
        </p:txBody>
      </p:sp>
    </p:spTree>
    <p:extLst>
      <p:ext uri="{BB962C8B-B14F-4D97-AF65-F5344CB8AC3E}">
        <p14:creationId xmlns:p14="http://schemas.microsoft.com/office/powerpoint/2010/main" val="36804822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69284-9788-5E7F-8AA9-38A99680C5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Advanced Authentication &amp; Authorization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9D4787-9C09-4EF3-1377-17FCAAF51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Resetting Password</a:t>
            </a:r>
          </a:p>
          <a:p>
            <a:r>
              <a:rPr lang="en-US" dirty="0"/>
              <a:t>Implementing the token Logic</a:t>
            </a:r>
          </a:p>
          <a:p>
            <a:r>
              <a:rPr lang="en-US" dirty="0"/>
              <a:t>Creating the Token</a:t>
            </a:r>
          </a:p>
          <a:p>
            <a:r>
              <a:rPr lang="en-US" dirty="0"/>
              <a:t>Adding Logic to Update the Password</a:t>
            </a:r>
          </a:p>
          <a:p>
            <a:r>
              <a:rPr lang="en-US" dirty="0"/>
              <a:t>Adding Authorization</a:t>
            </a:r>
          </a:p>
        </p:txBody>
      </p:sp>
    </p:spTree>
    <p:extLst>
      <p:ext uri="{BB962C8B-B14F-4D97-AF65-F5344CB8AC3E}">
        <p14:creationId xmlns:p14="http://schemas.microsoft.com/office/powerpoint/2010/main" val="375693538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F21906-0BA2-E095-CBD4-40136A9BD8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8DE17-B46C-F1F6-C828-073976A95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Password Resetting</a:t>
            </a:r>
          </a:p>
          <a:p>
            <a:pPr lvl="1"/>
            <a:r>
              <a:rPr lang="en-US" dirty="0"/>
              <a:t>Has to be implemented in a way that prevents users from resetting random user accounts</a:t>
            </a:r>
          </a:p>
          <a:p>
            <a:pPr lvl="1"/>
            <a:r>
              <a:rPr lang="en-US" dirty="0"/>
              <a:t>Reset tokens have to be random unguessable and unique</a:t>
            </a:r>
          </a:p>
          <a:p>
            <a:r>
              <a:rPr lang="en-US" dirty="0"/>
              <a:t>Authorization</a:t>
            </a:r>
          </a:p>
          <a:p>
            <a:pPr lvl="1"/>
            <a:r>
              <a:rPr lang="en-US" dirty="0"/>
              <a:t>An important part of pretty much every app</a:t>
            </a:r>
          </a:p>
          <a:p>
            <a:pPr lvl="1"/>
            <a:r>
              <a:rPr lang="en-US" dirty="0"/>
              <a:t>Not every authenticated user should be able to do everything</a:t>
            </a:r>
          </a:p>
          <a:p>
            <a:pPr lvl="1"/>
            <a:r>
              <a:rPr lang="en-US" dirty="0"/>
              <a:t>You want to lock down access be restricting the permissions of your users</a:t>
            </a:r>
          </a:p>
        </p:txBody>
      </p:sp>
    </p:spTree>
    <p:extLst>
      <p:ext uri="{BB962C8B-B14F-4D97-AF65-F5344CB8AC3E}">
        <p14:creationId xmlns:p14="http://schemas.microsoft.com/office/powerpoint/2010/main" val="290624370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BFF4F9-2FCF-EE67-21B4-64DF3F51F9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Forms, User Input &amp; Validation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D81AC-CAA2-DE63-18F6-049A9E34A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Setup &amp; Basic Validation</a:t>
            </a:r>
          </a:p>
          <a:p>
            <a:r>
              <a:rPr lang="en-US" dirty="0"/>
              <a:t>Using Validation Error Messages</a:t>
            </a:r>
          </a:p>
          <a:p>
            <a:r>
              <a:rPr lang="en-US" dirty="0"/>
              <a:t>Built-In &amp; Custom Validators</a:t>
            </a:r>
          </a:p>
          <a:p>
            <a:r>
              <a:rPr lang="en-US" dirty="0"/>
              <a:t>More Validators</a:t>
            </a:r>
          </a:p>
          <a:p>
            <a:r>
              <a:rPr lang="en-US" dirty="0"/>
              <a:t>Checking for field equality</a:t>
            </a:r>
          </a:p>
          <a:p>
            <a:r>
              <a:rPr lang="en-US" dirty="0"/>
              <a:t>Adding async Validation</a:t>
            </a:r>
          </a:p>
          <a:p>
            <a:r>
              <a:rPr lang="en-US" dirty="0"/>
              <a:t>Keeping User Input</a:t>
            </a:r>
          </a:p>
          <a:p>
            <a:r>
              <a:rPr lang="en-US" dirty="0"/>
              <a:t>Adding Conditional CSS classes</a:t>
            </a:r>
          </a:p>
          <a:p>
            <a:r>
              <a:rPr lang="en-IN" dirty="0"/>
              <a:t>Sanitizers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32985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27313</TotalTime>
  <Words>2719</Words>
  <Application>Microsoft Macintosh PowerPoint</Application>
  <PresentationFormat>Widescreen</PresentationFormat>
  <Paragraphs>543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6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Intro</vt:lpstr>
      <vt:lpstr>Course Outline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  <vt:lpstr>Module Summary</vt:lpstr>
      <vt:lpstr>NoSQL Databases / MongoDB</vt:lpstr>
      <vt:lpstr>PowerPoint Presentation</vt:lpstr>
      <vt:lpstr>JSON(BSON) Data Format</vt:lpstr>
      <vt:lpstr>PowerPoint Presentation</vt:lpstr>
      <vt:lpstr>Mongoose</vt:lpstr>
      <vt:lpstr>Session &amp; Cookies</vt:lpstr>
      <vt:lpstr>Cookie</vt:lpstr>
      <vt:lpstr>PowerPoint Presentation</vt:lpstr>
      <vt:lpstr>Session</vt:lpstr>
      <vt:lpstr>Session</vt:lpstr>
      <vt:lpstr>PowerPoint Presentation</vt:lpstr>
      <vt:lpstr>User Authentication</vt:lpstr>
      <vt:lpstr>PowerPoint Presentation</vt:lpstr>
      <vt:lpstr>PowerPoint Presentation</vt:lpstr>
      <vt:lpstr>Advanced Authentication &amp; Authorization</vt:lpstr>
      <vt:lpstr>PowerPoint Presentation</vt:lpstr>
      <vt:lpstr>Forms, User Input &amp; Validation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88</cp:revision>
  <dcterms:created xsi:type="dcterms:W3CDTF">2025-11-04T10:55:41Z</dcterms:created>
  <dcterms:modified xsi:type="dcterms:W3CDTF">2026-01-30T12:56:04Z</dcterms:modified>
</cp:coreProperties>
</file>