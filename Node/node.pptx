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3"/>
    <p:restoredTop sz="94667"/>
  </p:normalViewPr>
  <p:slideViewPr>
    <p:cSldViewPr snapToGrid="0">
      <p:cViewPr varScale="1">
        <p:scale>
          <a:sx n="123" d="100"/>
          <a:sy n="123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DB51-6D75-C5F7-D6B6-006BBF4E3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B29DC-307C-5C3F-60D5-1C91C8874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37A5B-4A6B-07ED-D1FE-2F726326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F330-573D-5332-7BF5-124D95BA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FDEDA-94F9-0FE0-B698-222EF7F1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4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ED47-5C07-22E0-DCC6-C86F8C50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96D5-CF25-0AEF-2478-5DD094B1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12E6C-4CB6-8074-BE04-82253F10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9FF9C-BB59-B5FC-4DBA-FA5D1319A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BE49-3FC5-F872-FBC8-E09CF9A6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1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B423-63FF-ACA6-B06A-5671F995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8F72A-A31F-0415-B271-84B357050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38BD8-92E7-9CB3-F4AA-F0D4CCED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49CA8-AD78-FCD5-C074-ED1278D4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28AB8-F396-A944-B1C4-D9A9768A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4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E9EE-3E85-20BF-E99D-7E5A5AA0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4EC2A-18DE-1791-4B46-945336B8C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894E0-1A90-E514-FDCE-E8A417A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831FF-02D8-445A-9D56-7D54FACE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42527-97B8-E9E7-DFF2-1826EE3F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79502-76D8-4134-D77B-C36F7E20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3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5023-3D20-5336-1598-AAEA582D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BCA03-E81D-5FDD-D3CA-ED65B4C3B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849C6-7A40-97A2-EC0A-7870F1C58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1C54B-7D6A-7063-60CB-18B969488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0B219-7582-6CAE-38B6-62E9F21CE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B537A-5B92-9340-A5F7-BED076F4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06E9D-0841-409A-B771-95982687A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CBCE8-584F-60D3-0C4E-8F21F7FC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7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F43A-60B1-718E-739D-BAA566B8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F8909-2199-167D-F1BF-D7898A77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B9B7E-8664-B26A-A037-F0A6A1A8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5F09F-3451-26C3-A58F-798C679D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9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34CE8-4E6A-B41C-A3F1-27233C2D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38C1A3-95C3-B803-0452-E3607E69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E1E8D-1E05-F486-7ACF-15A6F01B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940C-5A69-20CE-25E9-850C2C62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940B-5120-7A9F-0EC8-AE8305D63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77003-87CB-441F-1FC1-5C3B9E6E7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1E9D2-2763-71B0-4C09-908F883E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4C269-D37A-4A29-672F-B37AB728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002C2-4A46-7002-B4DA-4F1D1DF8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8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D0E3-47B2-BF48-8491-EA783E1A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6161ED-21F5-AAB7-0ECD-ACB534185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56EBB-75DF-8BE9-D0CC-22B699D32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15579-7EC6-88D2-DA07-5C343A585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F33D4-5332-1F55-AF9D-09F82950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B9D46-AF90-21BB-4AF0-F72CA7F0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6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BDAF-98E2-7BE8-70A7-6DF0EBAC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A12EB-5CB7-7B8C-E6FF-A0F9A490C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AC768-F58B-8A6A-E410-CFA302BF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89D0E-E824-D51E-0B32-45B09766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53844-6998-9EDD-13E5-B894C592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0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2629B-11C3-D47E-1D6B-F2367B0D9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9D98C-D6A8-3DEC-1C4D-E421B8395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2C2A7-2C4E-3EA1-0FE5-23124714B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0ECF4-036C-1C3C-1CC9-3B31F6FD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59A5-53DA-D969-B817-38992D5A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1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C6E8F-92A5-76FF-EDFC-ED3B7AF1A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4BB33-83DC-2392-1C39-A5D4F1059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544E4-7104-52CA-A3C5-2D8D6D02F1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C578A-F481-8B4F-AC68-5322D79242C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F24C0-0578-1843-125D-374665A5F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83B94-674B-8A34-C4CC-370CEF7AD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9C54F-2BBB-5941-8F8A-C9EEC4E5E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5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mohan@gmail.com" TargetMode="External"/><Relationship Id="rId2" Type="http://schemas.openxmlformats.org/officeDocument/2006/relationships/hyperlink" Target="mailto:ram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ohan@gmail.com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E4C9-58D6-3C0F-8B97-959AB5C46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Node.js?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24880-E4F4-226D-CBFC-11BCF2430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Node.js is a JavaScript runtime environment</a:t>
            </a:r>
          </a:p>
          <a:p>
            <a:r>
              <a:rPr lang="en-US" dirty="0"/>
              <a:t>Framework for writing server-side JavaScript applications</a:t>
            </a:r>
          </a:p>
          <a:p>
            <a:r>
              <a:rPr lang="en-US" dirty="0"/>
              <a:t>Node js use JS as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408705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8DF1-7535-5AD6-A5FB-A02E79C5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159FF-4F28-0909-C40B-29540C57F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May,2009</a:t>
            </a:r>
          </a:p>
          <a:p>
            <a:r>
              <a:rPr lang="en-US" dirty="0"/>
              <a:t>Open source and used with NPM </a:t>
            </a:r>
          </a:p>
        </p:txBody>
      </p:sp>
    </p:spTree>
    <p:extLst>
      <p:ext uri="{BB962C8B-B14F-4D97-AF65-F5344CB8AC3E}">
        <p14:creationId xmlns:p14="http://schemas.microsoft.com/office/powerpoint/2010/main" val="345302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E75E-0F2B-86D3-440C-F279E7DD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8AE4E-F3C7-A89D-6C0F-5544ADF41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Mostly used for Making API</a:t>
            </a:r>
          </a:p>
          <a:p>
            <a:r>
              <a:rPr lang="en-US" dirty="0"/>
              <a:t>Also use for website and web app</a:t>
            </a:r>
          </a:p>
          <a:p>
            <a:r>
              <a:rPr lang="en-US" dirty="0"/>
              <a:t>SSR(Server Side Scripting)</a:t>
            </a:r>
          </a:p>
          <a:p>
            <a:r>
              <a:rPr lang="en-US" dirty="0"/>
              <a:t>Make module and import file</a:t>
            </a:r>
          </a:p>
          <a:p>
            <a:r>
              <a:rPr lang="en-US" dirty="0"/>
              <a:t>Make first </a:t>
            </a:r>
            <a:r>
              <a:rPr lang="en-US" dirty="0" err="1"/>
              <a:t>api</a:t>
            </a:r>
            <a:r>
              <a:rPr lang="en-US" dirty="0"/>
              <a:t> with </a:t>
            </a:r>
            <a:r>
              <a:rPr lang="en-US"/>
              <a:t>http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18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B4F8-20C3-716A-084A-C01BD913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4490D-5503-F973-BD86-8195BDB58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web work?</a:t>
            </a:r>
          </a:p>
          <a:p>
            <a:r>
              <a:rPr lang="en-US" dirty="0"/>
              <a:t>Creating a Node.js Server</a:t>
            </a:r>
          </a:p>
          <a:p>
            <a:r>
              <a:rPr lang="en-US" dirty="0"/>
              <a:t>Using Node Core Modules</a:t>
            </a:r>
          </a:p>
          <a:p>
            <a:r>
              <a:rPr lang="en-US" dirty="0"/>
              <a:t>Working with Requests &amp; Responses (Basics)</a:t>
            </a:r>
          </a:p>
          <a:p>
            <a:r>
              <a:rPr lang="en-US" dirty="0"/>
              <a:t>Asynchronous Code &amp; The Event Loop</a:t>
            </a:r>
          </a:p>
        </p:txBody>
      </p:sp>
    </p:spTree>
    <p:extLst>
      <p:ext uri="{BB962C8B-B14F-4D97-AF65-F5344CB8AC3E}">
        <p14:creationId xmlns:p14="http://schemas.microsoft.com/office/powerpoint/2010/main" val="4259136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4CAD-753F-55C0-78DA-92A5360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195"/>
          </a:xfrm>
        </p:spPr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1BA0-6B3D-6A22-9058-0FD5B020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320"/>
            <a:ext cx="10515600" cy="5111643"/>
          </a:xfrm>
        </p:spPr>
        <p:txBody>
          <a:bodyPr numCol="2">
            <a:normAutofit fontScale="70000" lnSpcReduction="20000"/>
          </a:bodyPr>
          <a:lstStyle/>
          <a:p>
            <a:r>
              <a:rPr lang="en-US" dirty="0"/>
              <a:t>Getting Started</a:t>
            </a:r>
          </a:p>
          <a:p>
            <a:r>
              <a:rPr lang="en-US" dirty="0"/>
              <a:t>JS Refresher</a:t>
            </a:r>
          </a:p>
          <a:p>
            <a:r>
              <a:rPr lang="en-US" dirty="0"/>
              <a:t>Node.js Basics</a:t>
            </a:r>
          </a:p>
          <a:p>
            <a:r>
              <a:rPr lang="en-US" dirty="0"/>
              <a:t>Efficient development</a:t>
            </a:r>
          </a:p>
          <a:p>
            <a:r>
              <a:rPr lang="en-US" dirty="0"/>
              <a:t>Using Express.js</a:t>
            </a:r>
          </a:p>
          <a:p>
            <a:r>
              <a:rPr lang="en-US" dirty="0"/>
              <a:t>Templating Engines</a:t>
            </a:r>
          </a:p>
          <a:p>
            <a:r>
              <a:rPr lang="en-US" dirty="0"/>
              <a:t>Model-View-Controller</a:t>
            </a:r>
          </a:p>
          <a:p>
            <a:r>
              <a:rPr lang="en-US" dirty="0"/>
              <a:t>Advanced Routes &amp; Models</a:t>
            </a:r>
          </a:p>
          <a:p>
            <a:r>
              <a:rPr lang="en-US" dirty="0"/>
              <a:t>Node + SQL (MySQL)</a:t>
            </a:r>
          </a:p>
          <a:p>
            <a:r>
              <a:rPr lang="en-US" dirty="0"/>
              <a:t>Using Sequelize</a:t>
            </a:r>
          </a:p>
          <a:p>
            <a:r>
              <a:rPr lang="en-US" dirty="0"/>
              <a:t>Node + NoSQL (MongoDB)</a:t>
            </a:r>
          </a:p>
          <a:p>
            <a:r>
              <a:rPr lang="en-US" dirty="0"/>
              <a:t>Using Mongoose</a:t>
            </a:r>
          </a:p>
          <a:p>
            <a:r>
              <a:rPr lang="en-US" dirty="0"/>
              <a:t>Sessions &amp; Cookies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Sending E-Mails</a:t>
            </a:r>
          </a:p>
          <a:p>
            <a:r>
              <a:rPr lang="en-US" dirty="0"/>
              <a:t>Authentication Deep Dive</a:t>
            </a:r>
          </a:p>
          <a:p>
            <a:r>
              <a:rPr lang="en-US" dirty="0"/>
              <a:t>User Input Validation</a:t>
            </a:r>
          </a:p>
          <a:p>
            <a:r>
              <a:rPr lang="en-US" dirty="0"/>
              <a:t>Error Handling</a:t>
            </a:r>
          </a:p>
          <a:p>
            <a:r>
              <a:rPr lang="en-US" dirty="0"/>
              <a:t>File Uploads &amp; Downloads</a:t>
            </a:r>
          </a:p>
          <a:p>
            <a:r>
              <a:rPr lang="en-US" dirty="0"/>
              <a:t>Pagination</a:t>
            </a:r>
          </a:p>
          <a:p>
            <a:r>
              <a:rPr lang="en-US" dirty="0"/>
              <a:t>Async Requests</a:t>
            </a:r>
          </a:p>
          <a:p>
            <a:r>
              <a:rPr lang="en-US" dirty="0"/>
              <a:t>Handling Payments</a:t>
            </a:r>
          </a:p>
          <a:p>
            <a:r>
              <a:rPr lang="en-US" dirty="0"/>
              <a:t>REST API Basics</a:t>
            </a:r>
          </a:p>
          <a:p>
            <a:r>
              <a:rPr lang="en-US" dirty="0"/>
              <a:t>Advanced REST API Features</a:t>
            </a:r>
          </a:p>
          <a:p>
            <a:r>
              <a:rPr lang="en-US" dirty="0"/>
              <a:t>Using async-await</a:t>
            </a:r>
          </a:p>
          <a:p>
            <a:r>
              <a:rPr lang="en-US" dirty="0"/>
              <a:t>Websockets &amp; Socket.io</a:t>
            </a:r>
          </a:p>
          <a:p>
            <a:r>
              <a:rPr lang="en-US" dirty="0" err="1"/>
              <a:t>GraphQL</a:t>
            </a:r>
            <a:endParaRPr lang="en-US" dirty="0"/>
          </a:p>
          <a:p>
            <a:r>
              <a:rPr lang="en-US" dirty="0"/>
              <a:t>Deployment</a:t>
            </a:r>
          </a:p>
          <a:p>
            <a:r>
              <a:rPr lang="en-US" dirty="0"/>
              <a:t>Beyond Web Servers</a:t>
            </a:r>
          </a:p>
        </p:txBody>
      </p:sp>
    </p:spTree>
    <p:extLst>
      <p:ext uri="{BB962C8B-B14F-4D97-AF65-F5344CB8AC3E}">
        <p14:creationId xmlns:p14="http://schemas.microsoft.com/office/powerpoint/2010/main" val="191853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B1D9-20D5-8FB8-641C-B11561F8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674833" cy="584786"/>
          </a:xfrm>
        </p:spPr>
        <p:txBody>
          <a:bodyPr>
            <a:normAutofit fontScale="90000"/>
          </a:bodyPr>
          <a:lstStyle/>
          <a:p>
            <a:r>
              <a:rPr lang="en-US" dirty="0"/>
              <a:t>How the web 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10844C-4279-6C7D-D70B-A9D17453ED62}"/>
              </a:ext>
            </a:extLst>
          </p:cNvPr>
          <p:cNvSpPr/>
          <p:nvPr/>
        </p:nvSpPr>
        <p:spPr>
          <a:xfrm>
            <a:off x="4900474" y="949912"/>
            <a:ext cx="2805343" cy="745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User/Client</a:t>
            </a:r>
          </a:p>
          <a:p>
            <a:pPr algn="ctr"/>
            <a:r>
              <a:rPr lang="en-US" dirty="0"/>
              <a:t>(Browser)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CB7241-273D-A8CC-540A-3C55B03F673E}"/>
              </a:ext>
            </a:extLst>
          </p:cNvPr>
          <p:cNvSpPr/>
          <p:nvPr/>
        </p:nvSpPr>
        <p:spPr>
          <a:xfrm>
            <a:off x="4371513" y="2093990"/>
            <a:ext cx="4181383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http://my-</a:t>
            </a:r>
            <a:r>
              <a:rPr lang="en-US" dirty="0" err="1"/>
              <a:t>page.com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008D8-6A3B-4D1E-6251-E0DF9038FF7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303146" y="1695635"/>
            <a:ext cx="159059" cy="398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0099D72-66D9-5AE9-68B0-59C32C0EC6C7}"/>
              </a:ext>
            </a:extLst>
          </p:cNvPr>
          <p:cNvSpPr/>
          <p:nvPr/>
        </p:nvSpPr>
        <p:spPr>
          <a:xfrm>
            <a:off x="4371512" y="2900717"/>
            <a:ext cx="4181383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Lookup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8EE05F-D43B-392A-8298-FFFD2610E658}"/>
              </a:ext>
            </a:extLst>
          </p:cNvPr>
          <p:cNvSpPr/>
          <p:nvPr/>
        </p:nvSpPr>
        <p:spPr>
          <a:xfrm>
            <a:off x="378041" y="2894059"/>
            <a:ext cx="2267506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828F16-3A2F-43ED-7865-96E7BBF80752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 flipV="1">
            <a:off x="2645547" y="3151512"/>
            <a:ext cx="1725965" cy="6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7E018B7F-1C72-12AA-DF2F-DF9609D4BE36}"/>
              </a:ext>
            </a:extLst>
          </p:cNvPr>
          <p:cNvCxnSpPr>
            <a:stCxn id="4" idx="1"/>
            <a:endCxn id="9" idx="0"/>
          </p:cNvCxnSpPr>
          <p:nvPr/>
        </p:nvCxnSpPr>
        <p:spPr>
          <a:xfrm rot="10800000" flipV="1">
            <a:off x="1511794" y="1322773"/>
            <a:ext cx="3388680" cy="15712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1A567-0373-0C4D-E92C-53F5D0E17A00}"/>
              </a:ext>
            </a:extLst>
          </p:cNvPr>
          <p:cNvSpPr/>
          <p:nvPr/>
        </p:nvSpPr>
        <p:spPr>
          <a:xfrm>
            <a:off x="4770451" y="4129534"/>
            <a:ext cx="3383503" cy="673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  <a:p>
            <a:pPr algn="ctr"/>
            <a:r>
              <a:rPr lang="en-US" dirty="0"/>
              <a:t>(at 10.221.221.332.12)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FAAE864-E3DA-44CE-5792-28D88E6514F6}"/>
              </a:ext>
            </a:extLst>
          </p:cNvPr>
          <p:cNvCxnSpPr>
            <a:stCxn id="9" idx="2"/>
            <a:endCxn id="16" idx="1"/>
          </p:cNvCxnSpPr>
          <p:nvPr/>
        </p:nvCxnSpPr>
        <p:spPr>
          <a:xfrm rot="16200000" flipH="1">
            <a:off x="2612516" y="2308241"/>
            <a:ext cx="1057213" cy="32586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1860B4B-91D4-949C-7B24-0E79BE38DA9F}"/>
              </a:ext>
            </a:extLst>
          </p:cNvPr>
          <p:cNvCxnSpPr>
            <a:stCxn id="16" idx="3"/>
            <a:endCxn id="4" idx="3"/>
          </p:cNvCxnSpPr>
          <p:nvPr/>
        </p:nvCxnSpPr>
        <p:spPr>
          <a:xfrm flipH="1" flipV="1">
            <a:off x="7705817" y="1322774"/>
            <a:ext cx="448137" cy="3143403"/>
          </a:xfrm>
          <a:prstGeom prst="bentConnector3">
            <a:avLst>
              <a:gd name="adj1" fmla="val -3184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324E217-AE59-1933-D7E7-BE703608ECC8}"/>
              </a:ext>
            </a:extLst>
          </p:cNvPr>
          <p:cNvSpPr/>
          <p:nvPr/>
        </p:nvSpPr>
        <p:spPr>
          <a:xfrm>
            <a:off x="9232777" y="2608895"/>
            <a:ext cx="2179834" cy="800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(e.g. Html page)</a:t>
            </a:r>
          </a:p>
        </p:txBody>
      </p:sp>
      <p:sp>
        <p:nvSpPr>
          <p:cNvPr id="23" name="Sort 22">
            <a:extLst>
              <a:ext uri="{FF2B5EF4-FFF2-40B4-BE49-F238E27FC236}">
                <a16:creationId xmlns:a16="http://schemas.microsoft.com/office/drawing/2014/main" id="{E0BC7A77-8DFB-77CC-E08C-F4C0A688BE68}"/>
              </a:ext>
            </a:extLst>
          </p:cNvPr>
          <p:cNvSpPr/>
          <p:nvPr/>
        </p:nvSpPr>
        <p:spPr>
          <a:xfrm>
            <a:off x="5973930" y="4802819"/>
            <a:ext cx="666567" cy="843379"/>
          </a:xfrm>
          <a:prstGeom prst="flowChartSo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FE6662-4ABC-3BBE-3E5A-97F02CD5A08D}"/>
              </a:ext>
            </a:extLst>
          </p:cNvPr>
          <p:cNvSpPr/>
          <p:nvPr/>
        </p:nvSpPr>
        <p:spPr>
          <a:xfrm>
            <a:off x="4690923" y="5646198"/>
            <a:ext cx="3383503" cy="673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&lt;Your Code&gt;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B1FE68-A7FB-2E4B-2301-0759A8339BD5}"/>
              </a:ext>
            </a:extLst>
          </p:cNvPr>
          <p:cNvSpPr/>
          <p:nvPr/>
        </p:nvSpPr>
        <p:spPr>
          <a:xfrm>
            <a:off x="573164" y="5646198"/>
            <a:ext cx="3383503" cy="673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Node.js, PHP, ASP.NET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85C7BA-6358-31EB-DB96-B3854376B939}"/>
              </a:ext>
            </a:extLst>
          </p:cNvPr>
          <p:cNvSpPr/>
          <p:nvPr/>
        </p:nvSpPr>
        <p:spPr>
          <a:xfrm>
            <a:off x="8657760" y="5646198"/>
            <a:ext cx="3383503" cy="673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126053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98C4-CB5E-F600-BB36-CA7C2DE0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HTTP,HTTPS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701D4-6717-878A-E311-982543E3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 Text Transfer Protocol – A Protocol for transferring data which is understood by Browser and Server</a:t>
            </a:r>
          </a:p>
          <a:p>
            <a:r>
              <a:rPr lang="en-US" dirty="0"/>
              <a:t>Hyper Text Transfer Protocol Secure – HTTP + Data Encryption (during Transmission)</a:t>
            </a:r>
          </a:p>
        </p:txBody>
      </p:sp>
    </p:spTree>
    <p:extLst>
      <p:ext uri="{BB962C8B-B14F-4D97-AF65-F5344CB8AC3E}">
        <p14:creationId xmlns:p14="http://schemas.microsoft.com/office/powerpoint/2010/main" val="365415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846D-93E5-D855-133F-4CD796B9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5FB9A-D2D9-38FB-0235-1F274948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– Launch a server, send requests</a:t>
            </a:r>
          </a:p>
          <a:p>
            <a:r>
              <a:rPr lang="en-US" dirty="0"/>
              <a:t>https – launch a SSL server</a:t>
            </a:r>
          </a:p>
          <a:p>
            <a:r>
              <a:rPr lang="en-US" dirty="0"/>
              <a:t>Fs</a:t>
            </a:r>
          </a:p>
          <a:p>
            <a:r>
              <a:rPr lang="en-US" dirty="0"/>
              <a:t>Path</a:t>
            </a:r>
          </a:p>
          <a:p>
            <a:r>
              <a:rPr lang="en-US" dirty="0" err="1"/>
              <a:t>Os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38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DCA4-F947-9900-4D01-CBF214AC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Node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96D43-2932-9CFC-9663-84C903CF9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45" t="23638" r="3131" b="30673"/>
          <a:stretch>
            <a:fillRect/>
          </a:stretch>
        </p:blipFill>
        <p:spPr>
          <a:xfrm>
            <a:off x="1207363" y="1420426"/>
            <a:ext cx="9206144" cy="4469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FF67DC-4035-09BB-9841-9D8F3857981C}"/>
              </a:ext>
            </a:extLst>
          </p:cNvPr>
          <p:cNvSpPr txBox="1"/>
          <p:nvPr/>
        </p:nvSpPr>
        <p:spPr>
          <a:xfrm>
            <a:off x="1544715" y="3116062"/>
            <a:ext cx="19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</a:t>
            </a:r>
            <a:r>
              <a:rPr lang="en-US" dirty="0" err="1"/>
              <a:t>app.js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BF4FF-77FB-F5C9-E288-B0D6B0BE2C34}"/>
              </a:ext>
            </a:extLst>
          </p:cNvPr>
          <p:cNvSpPr txBox="1"/>
          <p:nvPr/>
        </p:nvSpPr>
        <p:spPr>
          <a:xfrm>
            <a:off x="7511988" y="2561323"/>
            <a:ext cx="19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F7B61-59A5-3DAE-BC15-EDF46F8B69B8}"/>
              </a:ext>
            </a:extLst>
          </p:cNvPr>
          <p:cNvSpPr txBox="1"/>
          <p:nvPr/>
        </p:nvSpPr>
        <p:spPr>
          <a:xfrm>
            <a:off x="7511988" y="3605393"/>
            <a:ext cx="2493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Parse Code, Register Variables &amp;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741D4-6962-0C68-CBCD-D6957D75BD4B}"/>
              </a:ext>
            </a:extLst>
          </p:cNvPr>
          <p:cNvSpPr txBox="1"/>
          <p:nvPr/>
        </p:nvSpPr>
        <p:spPr>
          <a:xfrm>
            <a:off x="4725879" y="5437574"/>
            <a:ext cx="249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Event Loop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ED174-964A-B8A4-E28D-954EE8EC0242}"/>
              </a:ext>
            </a:extLst>
          </p:cNvPr>
          <p:cNvSpPr txBox="1"/>
          <p:nvPr/>
        </p:nvSpPr>
        <p:spPr>
          <a:xfrm>
            <a:off x="2277862" y="4675528"/>
            <a:ext cx="249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Application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D258F-72EC-8861-2E49-28664506816A}"/>
              </a:ext>
            </a:extLst>
          </p:cNvPr>
          <p:cNvSpPr txBox="1"/>
          <p:nvPr/>
        </p:nvSpPr>
        <p:spPr>
          <a:xfrm>
            <a:off x="10005134" y="4966100"/>
            <a:ext cx="2084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Keeps on running as long as there are event listeners registered</a:t>
            </a:r>
          </a:p>
        </p:txBody>
      </p:sp>
    </p:spTree>
    <p:extLst>
      <p:ext uri="{BB962C8B-B14F-4D97-AF65-F5344CB8AC3E}">
        <p14:creationId xmlns:p14="http://schemas.microsoft.com/office/powerpoint/2010/main" val="212958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DFC4-3EF2-F768-75A7-E5D366CB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Program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E1CD-56F7-37DB-F261-DD48FA85B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 </a:t>
            </a:r>
            <a:r>
              <a:rPr lang="en-US" dirty="0" err="1"/>
              <a:t>app.js</a:t>
            </a:r>
            <a:r>
              <a:rPr lang="en-US" dirty="0"/>
              <a:t> -&gt; Start Script -&gt; Parse code, register variables &amp; functions-&gt;Event Loop-&gt;</a:t>
            </a:r>
            <a:r>
              <a:rPr lang="en-US" dirty="0" err="1"/>
              <a:t>process.exit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37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F9A9-76EE-6EDB-E699-6A5F4E1D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1ABD-10CE-20EC-F3EF-07CD005BD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Request</a:t>
            </a:r>
          </a:p>
        </p:txBody>
      </p:sp>
    </p:spTree>
    <p:extLst>
      <p:ext uri="{BB962C8B-B14F-4D97-AF65-F5344CB8AC3E}">
        <p14:creationId xmlns:p14="http://schemas.microsoft.com/office/powerpoint/2010/main" val="216757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FCE3-F02E-76A7-C55B-1A852F3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6803-6B7F-21B6-1558-B3A02FD8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Parsing request bodies</a:t>
            </a:r>
          </a:p>
          <a:p>
            <a:r>
              <a:rPr lang="en-US" dirty="0"/>
              <a:t>Blocking and no—blocking code</a:t>
            </a:r>
          </a:p>
        </p:txBody>
      </p:sp>
    </p:spTree>
    <p:extLst>
      <p:ext uri="{BB962C8B-B14F-4D97-AF65-F5344CB8AC3E}">
        <p14:creationId xmlns:p14="http://schemas.microsoft.com/office/powerpoint/2010/main" val="383307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8713-D01D-7EE5-891C-FDDF4C32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AD9F1D4-32BD-83D0-731D-28E1A4E04F9D}"/>
              </a:ext>
            </a:extLst>
          </p:cNvPr>
          <p:cNvSpPr/>
          <p:nvPr/>
        </p:nvSpPr>
        <p:spPr>
          <a:xfrm>
            <a:off x="5912528" y="1438183"/>
            <a:ext cx="3577701" cy="174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88DDF-A8F7-F945-3CE5-E758D30F7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86383" cy="975403"/>
          </a:xfrm>
        </p:spPr>
        <p:txBody>
          <a:bodyPr/>
          <a:lstStyle/>
          <a:p>
            <a:r>
              <a:rPr lang="en-US" dirty="0"/>
              <a:t>Parsing request bodies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A3C94-C3A5-9F49-16D4-B7CA75368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5241" y="450156"/>
            <a:ext cx="3050219" cy="4026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Streams &amp;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AE223-05ED-A55E-1FF8-AF1DC7A1BEB2}"/>
              </a:ext>
            </a:extLst>
          </p:cNvPr>
          <p:cNvSpPr/>
          <p:nvPr/>
        </p:nvSpPr>
        <p:spPr>
          <a:xfrm>
            <a:off x="683581" y="1695635"/>
            <a:ext cx="1482570" cy="967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3692C-D26F-3495-A82F-4ED84DA43B0D}"/>
              </a:ext>
            </a:extLst>
          </p:cNvPr>
          <p:cNvSpPr/>
          <p:nvPr/>
        </p:nvSpPr>
        <p:spPr>
          <a:xfrm>
            <a:off x="10022890" y="1695635"/>
            <a:ext cx="1482570" cy="967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Fully Parsed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8EB6D3F-7A6C-1038-9B82-4CE67BA3C88F}"/>
              </a:ext>
            </a:extLst>
          </p:cNvPr>
          <p:cNvSpPr/>
          <p:nvPr/>
        </p:nvSpPr>
        <p:spPr>
          <a:xfrm>
            <a:off x="2268245" y="1886505"/>
            <a:ext cx="7652551" cy="58592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 b="1">
              <a:ln/>
              <a:solidFill>
                <a:schemeClr val="accent4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54057F-E2CC-FE24-2C1F-81C8594385E3}"/>
              </a:ext>
            </a:extLst>
          </p:cNvPr>
          <p:cNvSpPr/>
          <p:nvPr/>
        </p:nvSpPr>
        <p:spPr>
          <a:xfrm>
            <a:off x="2716567" y="1793289"/>
            <a:ext cx="1367161" cy="8700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Body Part 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A95405A-5C96-4992-611A-ACE1D5DBC9B5}"/>
              </a:ext>
            </a:extLst>
          </p:cNvPr>
          <p:cNvSpPr/>
          <p:nvPr/>
        </p:nvSpPr>
        <p:spPr>
          <a:xfrm>
            <a:off x="4377431" y="1793289"/>
            <a:ext cx="1367161" cy="8700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Body Part 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34CFE3-3FCD-357D-2089-62749496DB78}"/>
              </a:ext>
            </a:extLst>
          </p:cNvPr>
          <p:cNvSpPr/>
          <p:nvPr/>
        </p:nvSpPr>
        <p:spPr>
          <a:xfrm>
            <a:off x="6094520" y="1744462"/>
            <a:ext cx="1367161" cy="8700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Body Part 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5EAFAC-E4CF-1A9E-A717-80E3A01E600C}"/>
              </a:ext>
            </a:extLst>
          </p:cNvPr>
          <p:cNvSpPr/>
          <p:nvPr/>
        </p:nvSpPr>
        <p:spPr>
          <a:xfrm>
            <a:off x="7955874" y="1793289"/>
            <a:ext cx="1367161" cy="8700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Body Part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92651-76BE-190B-3858-5ED4E33D1371}"/>
              </a:ext>
            </a:extLst>
          </p:cNvPr>
          <p:cNvSpPr/>
          <p:nvPr/>
        </p:nvSpPr>
        <p:spPr>
          <a:xfrm>
            <a:off x="3266983" y="3187083"/>
            <a:ext cx="1794028" cy="630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94100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57D-67D6-B70B-3B15-B21F0A03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Thread, Event Loop &amp; Blocking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C59DA7-DA17-5766-151E-8429764AA70E}"/>
              </a:ext>
            </a:extLst>
          </p:cNvPr>
          <p:cNvSpPr/>
          <p:nvPr/>
        </p:nvSpPr>
        <p:spPr>
          <a:xfrm>
            <a:off x="838200" y="1690688"/>
            <a:ext cx="4275338" cy="5553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Incoming Requests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91CCE-7753-6431-92D2-349592DB0FA8}"/>
              </a:ext>
            </a:extLst>
          </p:cNvPr>
          <p:cNvSpPr/>
          <p:nvPr/>
        </p:nvSpPr>
        <p:spPr>
          <a:xfrm>
            <a:off x="838200" y="3849442"/>
            <a:ext cx="4275338" cy="314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2D18E0-7F63-6D3F-1176-E08326AEAD84}"/>
              </a:ext>
            </a:extLst>
          </p:cNvPr>
          <p:cNvSpPr/>
          <p:nvPr/>
        </p:nvSpPr>
        <p:spPr>
          <a:xfrm>
            <a:off x="838200" y="4454858"/>
            <a:ext cx="2109186" cy="2123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&lt;Your Code&gt;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60B2B9-E2DE-F305-EF72-7481A19BF406}"/>
              </a:ext>
            </a:extLst>
          </p:cNvPr>
          <p:cNvSpPr/>
          <p:nvPr/>
        </p:nvSpPr>
        <p:spPr>
          <a:xfrm>
            <a:off x="3004352" y="4454857"/>
            <a:ext cx="2109186" cy="2123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JavaScript Thread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86AAD-D8A8-50EE-EC4E-D5B0C34B6097}"/>
              </a:ext>
            </a:extLst>
          </p:cNvPr>
          <p:cNvSpPr/>
          <p:nvPr/>
        </p:nvSpPr>
        <p:spPr>
          <a:xfrm>
            <a:off x="7078462" y="2367252"/>
            <a:ext cx="2109186" cy="51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loop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9C340-E1D1-6922-93BD-4ED9F4B2EC3E}"/>
              </a:ext>
            </a:extLst>
          </p:cNvPr>
          <p:cNvSpPr/>
          <p:nvPr/>
        </p:nvSpPr>
        <p:spPr>
          <a:xfrm>
            <a:off x="7078462" y="3170004"/>
            <a:ext cx="2109186" cy="51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Event Callbacks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27362-E694-5DD2-80D9-8E03EA5ABFE9}"/>
              </a:ext>
            </a:extLst>
          </p:cNvPr>
          <p:cNvSpPr/>
          <p:nvPr/>
        </p:nvSpPr>
        <p:spPr>
          <a:xfrm>
            <a:off x="7078462" y="4911507"/>
            <a:ext cx="2109186" cy="51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Pool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B7941C-2193-F097-B05C-752757CF452C}"/>
              </a:ext>
            </a:extLst>
          </p:cNvPr>
          <p:cNvSpPr/>
          <p:nvPr/>
        </p:nvSpPr>
        <p:spPr>
          <a:xfrm>
            <a:off x="7078462" y="5685344"/>
            <a:ext cx="2109186" cy="51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Do the Heavy Lifting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58D3E9-58D3-823B-61E1-1AF5E4FCBFEE}"/>
              </a:ext>
            </a:extLst>
          </p:cNvPr>
          <p:cNvSpPr/>
          <p:nvPr/>
        </p:nvSpPr>
        <p:spPr>
          <a:xfrm>
            <a:off x="10599937" y="4911507"/>
            <a:ext cx="1163713" cy="773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Thread(s)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154EE1-8FB7-C688-4311-FF15058DFEDA}"/>
              </a:ext>
            </a:extLst>
          </p:cNvPr>
          <p:cNvSpPr/>
          <p:nvPr/>
        </p:nvSpPr>
        <p:spPr>
          <a:xfrm>
            <a:off x="5580355" y="4655661"/>
            <a:ext cx="1148919" cy="51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4CDBB-1672-1C0B-0B8D-A0A21F68034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75869" y="2246050"/>
            <a:ext cx="0" cy="160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2BDFE-858B-A3F1-08B1-F3E45B67EADB}"/>
              </a:ext>
            </a:extLst>
          </p:cNvPr>
          <p:cNvCxnSpPr>
            <a:endCxn id="5" idx="0"/>
          </p:cNvCxnSpPr>
          <p:nvPr/>
        </p:nvCxnSpPr>
        <p:spPr>
          <a:xfrm>
            <a:off x="1562470" y="2246050"/>
            <a:ext cx="1413399" cy="160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6D90AA-F92E-395C-277E-BA9749188E79}"/>
              </a:ext>
            </a:extLst>
          </p:cNvPr>
          <p:cNvCxnSpPr>
            <a:endCxn id="5" idx="0"/>
          </p:cNvCxnSpPr>
          <p:nvPr/>
        </p:nvCxnSpPr>
        <p:spPr>
          <a:xfrm flipH="1">
            <a:off x="2975869" y="2246050"/>
            <a:ext cx="1329801" cy="160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1A92C5F3-C3A9-952F-FC56-F79B8272F86C}"/>
              </a:ext>
            </a:extLst>
          </p:cNvPr>
          <p:cNvCxnSpPr>
            <a:stCxn id="7" idx="3"/>
            <a:endCxn id="13" idx="2"/>
          </p:cNvCxnSpPr>
          <p:nvPr/>
        </p:nvCxnSpPr>
        <p:spPr>
          <a:xfrm flipV="1">
            <a:off x="5113538" y="5173652"/>
            <a:ext cx="1041277" cy="3429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40B77F7-C3DE-7BF8-9095-E9DDC20A09EC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5113538" y="2626248"/>
            <a:ext cx="1964924" cy="2890357"/>
          </a:xfrm>
          <a:prstGeom prst="bentConnector3">
            <a:avLst>
              <a:gd name="adj1" fmla="val 147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3651446-6929-75D4-EB8D-45C6BF13A3C7}"/>
              </a:ext>
            </a:extLst>
          </p:cNvPr>
          <p:cNvCxnSpPr>
            <a:stCxn id="13" idx="3"/>
            <a:endCxn id="10" idx="1"/>
          </p:cNvCxnSpPr>
          <p:nvPr/>
        </p:nvCxnSpPr>
        <p:spPr>
          <a:xfrm>
            <a:off x="6729274" y="4914657"/>
            <a:ext cx="349188" cy="2558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38EF2DF4-1C18-0B0F-5EBD-C1F85CCD3E8B}"/>
              </a:ext>
            </a:extLst>
          </p:cNvPr>
          <p:cNvCxnSpPr>
            <a:stCxn id="10" idx="0"/>
            <a:endCxn id="8" idx="3"/>
          </p:cNvCxnSpPr>
          <p:nvPr/>
        </p:nvCxnSpPr>
        <p:spPr>
          <a:xfrm rot="5400000" flipH="1" flipV="1">
            <a:off x="7517722" y="3241582"/>
            <a:ext cx="2285259" cy="1054593"/>
          </a:xfrm>
          <a:prstGeom prst="bentConnector4">
            <a:avLst>
              <a:gd name="adj1" fmla="val 27240"/>
              <a:gd name="adj2" fmla="val 2050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Arrow 30">
            <a:extLst>
              <a:ext uri="{FF2B5EF4-FFF2-40B4-BE49-F238E27FC236}">
                <a16:creationId xmlns:a16="http://schemas.microsoft.com/office/drawing/2014/main" id="{B068FF12-E9A3-0600-1CF5-14ECA26A0197}"/>
              </a:ext>
            </a:extLst>
          </p:cNvPr>
          <p:cNvSpPr/>
          <p:nvPr/>
        </p:nvSpPr>
        <p:spPr>
          <a:xfrm>
            <a:off x="9294920" y="5246703"/>
            <a:ext cx="976544" cy="269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1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959E-3602-7F11-A738-CE9B195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749"/>
          </a:xfrm>
        </p:spPr>
        <p:txBody>
          <a:bodyPr/>
          <a:lstStyle/>
          <a:p>
            <a:r>
              <a:rPr lang="en-US" dirty="0"/>
              <a:t>The Event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295A7-F6C3-858D-D839-779F50D84668}"/>
              </a:ext>
            </a:extLst>
          </p:cNvPr>
          <p:cNvSpPr txBox="1"/>
          <p:nvPr/>
        </p:nvSpPr>
        <p:spPr>
          <a:xfrm>
            <a:off x="1953087" y="1660124"/>
            <a:ext cx="742177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Phases</a:t>
            </a:r>
          </a:p>
          <a:p>
            <a:pPr marL="342900" indent="-342900">
              <a:buAutoNum type="arabicPeriod"/>
            </a:pPr>
            <a:r>
              <a:rPr lang="en-US" dirty="0"/>
              <a:t>Timers Phase : callbacks execute – </a:t>
            </a:r>
            <a:r>
              <a:rPr lang="en-US" dirty="0" err="1"/>
              <a:t>setTimeout</a:t>
            </a:r>
            <a:r>
              <a:rPr lang="en-US" dirty="0"/>
              <a:t>(), </a:t>
            </a:r>
            <a:r>
              <a:rPr lang="en-US" dirty="0" err="1"/>
              <a:t>setinterval</a:t>
            </a:r>
            <a:r>
              <a:rPr lang="en-US" dirty="0"/>
              <a:t>()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Pending Callbacks Phase: I/O callbacks (pending callbacks)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Poll Phase: new I/O events, callback ready(execute),timer phase(wait)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Check Phase: </a:t>
            </a:r>
            <a:r>
              <a:rPr lang="en-US" dirty="0" err="1"/>
              <a:t>setImmediate</a:t>
            </a:r>
            <a:r>
              <a:rPr lang="en-US" dirty="0"/>
              <a:t>() callbacks execute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Close Callbacks Phase: close event callbacks</a:t>
            </a:r>
            <a:r>
              <a:rPr lang="en-US"/>
              <a:t>(execute)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21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43A05-2B49-C7D3-1593-BF5E56BA8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10515600" cy="5715324"/>
          </a:xfrm>
        </p:spPr>
        <p:txBody>
          <a:bodyPr/>
          <a:lstStyle/>
          <a:p>
            <a:r>
              <a:rPr lang="en-US" dirty="0"/>
              <a:t>Node modules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04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C442-1C90-70F4-24A8-4FF8CDAF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9F6E-57AC-54F5-45EF-7740CA0A3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How the Web Works </a:t>
            </a:r>
          </a:p>
          <a:p>
            <a:pPr lvl="1"/>
            <a:r>
              <a:rPr lang="en-US" dirty="0"/>
              <a:t>Client =&gt; Request =&gt; Server =&gt; Response =&gt;Client</a:t>
            </a:r>
          </a:p>
          <a:p>
            <a:r>
              <a:rPr lang="en-US" dirty="0"/>
              <a:t>Program Lifecycle &amp; Event Loop</a:t>
            </a:r>
          </a:p>
          <a:p>
            <a:pPr lvl="1"/>
            <a:r>
              <a:rPr lang="en-US" dirty="0"/>
              <a:t>Node.js runs non-blocking JS code and uses an event-</a:t>
            </a:r>
            <a:r>
              <a:rPr lang="en-US" dirty="0" err="1"/>
              <a:t>dirven</a:t>
            </a:r>
            <a:r>
              <a:rPr lang="en-US" dirty="0"/>
              <a:t> code (“Event Loop) for running your logic</a:t>
            </a:r>
          </a:p>
          <a:p>
            <a:pPr lvl="1"/>
            <a:r>
              <a:rPr lang="en-US" dirty="0"/>
              <a:t>A Node program exits as soon as there is no more work to do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createServer</a:t>
            </a:r>
            <a:r>
              <a:rPr lang="en-US" dirty="0"/>
              <a:t>() event never finishes by default</a:t>
            </a:r>
          </a:p>
          <a:p>
            <a:r>
              <a:rPr lang="en-US" dirty="0"/>
              <a:t>Node.js &amp; Core Modules</a:t>
            </a:r>
          </a:p>
          <a:p>
            <a:pPr lvl="1"/>
            <a:r>
              <a:rPr lang="en-US" dirty="0"/>
              <a:t>Node.js ships with multiple core modules (</a:t>
            </a:r>
            <a:r>
              <a:rPr lang="en-US" dirty="0" err="1"/>
              <a:t>http,fs</a:t>
            </a:r>
            <a:r>
              <a:rPr lang="en-US" dirty="0"/>
              <a:t>…)</a:t>
            </a:r>
          </a:p>
          <a:p>
            <a:pPr lvl="1"/>
            <a:r>
              <a:rPr lang="en-US" dirty="0"/>
              <a:t>Core modules can be imported into any file to be used there</a:t>
            </a:r>
          </a:p>
          <a:p>
            <a:pPr lvl="1"/>
            <a:r>
              <a:rPr lang="en-US" dirty="0"/>
              <a:t>Import via require(“module name”)</a:t>
            </a:r>
          </a:p>
          <a:p>
            <a:r>
              <a:rPr lang="en-US" dirty="0"/>
              <a:t>Asynchronous Code</a:t>
            </a:r>
          </a:p>
          <a:p>
            <a:pPr lvl="1"/>
            <a:r>
              <a:rPr lang="en-US" dirty="0"/>
              <a:t>JS code is non-blocking</a:t>
            </a:r>
          </a:p>
          <a:p>
            <a:pPr lvl="1"/>
            <a:r>
              <a:rPr lang="en-US" dirty="0"/>
              <a:t>Use callbacks and events =&gt; order changes!</a:t>
            </a:r>
          </a:p>
          <a:p>
            <a:r>
              <a:rPr lang="en-US" dirty="0"/>
              <a:t>Requests &amp; Responses</a:t>
            </a:r>
          </a:p>
          <a:p>
            <a:pPr lvl="1"/>
            <a:r>
              <a:rPr lang="en-US" dirty="0"/>
              <a:t>Parse request data in chunks (Streams &amp; Buffers)</a:t>
            </a:r>
          </a:p>
          <a:p>
            <a:pPr lvl="1"/>
            <a:r>
              <a:rPr lang="en-US" dirty="0"/>
              <a:t>Avoid “double responses”</a:t>
            </a:r>
          </a:p>
          <a:p>
            <a:r>
              <a:rPr lang="en-US" dirty="0"/>
              <a:t>The Node Module System</a:t>
            </a:r>
          </a:p>
          <a:p>
            <a:pPr lvl="1"/>
            <a:r>
              <a:rPr lang="en-US" dirty="0"/>
              <a:t>Import via require(‘path-to-file”)or require(”module”) for core &amp; third-party modules </a:t>
            </a:r>
          </a:p>
          <a:p>
            <a:pPr lvl="1"/>
            <a:r>
              <a:rPr lang="en-US" dirty="0"/>
              <a:t>Export via </a:t>
            </a:r>
            <a:r>
              <a:rPr lang="en-US" dirty="0" err="1"/>
              <a:t>module.exports</a:t>
            </a:r>
            <a:r>
              <a:rPr lang="en-US" dirty="0"/>
              <a:t> or just exports (for multiple exports)</a:t>
            </a:r>
          </a:p>
        </p:txBody>
      </p:sp>
    </p:spTree>
    <p:extLst>
      <p:ext uri="{BB962C8B-B14F-4D97-AF65-F5344CB8AC3E}">
        <p14:creationId xmlns:p14="http://schemas.microsoft.com/office/powerpoint/2010/main" val="962319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0DC1-B5DF-7C05-AB45-5190C4F2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&amp; Easier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D0A9-26D0-52C7-8A4A-53DC64424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Fixing Errors</a:t>
            </a:r>
          </a:p>
          <a:p>
            <a:r>
              <a:rPr lang="en-US" dirty="0"/>
              <a:t>Developing Efficiently</a:t>
            </a:r>
          </a:p>
          <a:p>
            <a:r>
              <a:rPr lang="en-US" dirty="0"/>
              <a:t>Npm scripts</a:t>
            </a:r>
          </a:p>
          <a:p>
            <a:r>
              <a:rPr lang="en-US" dirty="0"/>
              <a:t>Install 3</a:t>
            </a:r>
            <a:r>
              <a:rPr lang="en-US" baseline="30000" dirty="0"/>
              <a:t>rd</a:t>
            </a:r>
            <a:r>
              <a:rPr lang="en-US" dirty="0"/>
              <a:t> party packages</a:t>
            </a:r>
          </a:p>
        </p:txBody>
      </p:sp>
    </p:spTree>
    <p:extLst>
      <p:ext uri="{BB962C8B-B14F-4D97-AF65-F5344CB8AC3E}">
        <p14:creationId xmlns:p14="http://schemas.microsoft.com/office/powerpoint/2010/main" val="4071312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689C-EFE9-C3DA-A755-CC015CDE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DC64-B3BE-D717-292D-119C1B2EB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Errors</a:t>
            </a:r>
          </a:p>
          <a:p>
            <a:r>
              <a:rPr lang="en-US" dirty="0"/>
              <a:t>Runtime Errors</a:t>
            </a:r>
          </a:p>
          <a:p>
            <a:r>
              <a:rPr lang="en-US" dirty="0"/>
              <a:t>Logical Errors</a:t>
            </a:r>
          </a:p>
        </p:txBody>
      </p:sp>
    </p:spTree>
    <p:extLst>
      <p:ext uri="{BB962C8B-B14F-4D97-AF65-F5344CB8AC3E}">
        <p14:creationId xmlns:p14="http://schemas.microsoft.com/office/powerpoint/2010/main" val="626458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4A43-5354-D724-2545-7F301D35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6D45B-CE48-0ACE-5822-DFA2D4DD4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Parsing Incoming Requests</a:t>
            </a:r>
          </a:p>
          <a:p>
            <a:r>
              <a:rPr lang="en-US" dirty="0"/>
              <a:t>Limiting Middleware Execution</a:t>
            </a:r>
          </a:p>
          <a:p>
            <a:r>
              <a:rPr lang="en-US" dirty="0"/>
              <a:t>Using express router</a:t>
            </a:r>
          </a:p>
          <a:p>
            <a:r>
              <a:rPr lang="en-US" dirty="0"/>
              <a:t>Adding a 404 error page</a:t>
            </a:r>
          </a:p>
          <a:p>
            <a:r>
              <a:rPr lang="en-US" dirty="0"/>
              <a:t>Filtering paths</a:t>
            </a:r>
          </a:p>
          <a:p>
            <a:r>
              <a:rPr lang="en-US" dirty="0"/>
              <a:t>Creating HTML Pages</a:t>
            </a:r>
          </a:p>
          <a:p>
            <a:r>
              <a:rPr lang="en-US" dirty="0"/>
              <a:t>Serving HTML Pages</a:t>
            </a:r>
          </a:p>
          <a:p>
            <a:r>
              <a:rPr lang="en-US" dirty="0"/>
              <a:t>404 error page</a:t>
            </a:r>
          </a:p>
          <a:p>
            <a:r>
              <a:rPr lang="en-US" dirty="0"/>
              <a:t>Helper function for navigation</a:t>
            </a:r>
          </a:p>
          <a:p>
            <a:r>
              <a:rPr lang="en-US" dirty="0"/>
              <a:t>Styling CSS pages</a:t>
            </a:r>
          </a:p>
          <a:p>
            <a:r>
              <a:rPr lang="en-US" dirty="0"/>
              <a:t>Serving Files Statically</a:t>
            </a:r>
          </a:p>
        </p:txBody>
      </p:sp>
    </p:spTree>
    <p:extLst>
      <p:ext uri="{BB962C8B-B14F-4D97-AF65-F5344CB8AC3E}">
        <p14:creationId xmlns:p14="http://schemas.microsoft.com/office/powerpoint/2010/main" val="1527157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D77F-7EFE-1A07-ECB8-CC71EE7E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67EE9-3DB0-5B8E-CAE2-89DE3375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0"/>
            <a:ext cx="10515600" cy="48453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What is Express.js?</a:t>
            </a:r>
          </a:p>
          <a:p>
            <a:pPr lvl="1"/>
            <a:r>
              <a:rPr lang="en-US" dirty="0"/>
              <a:t>Express.js is Node.js framework – a package that adds a bunch of utility functions and tools and a clear set of rules on how the app should be built (middleware!)</a:t>
            </a:r>
          </a:p>
          <a:p>
            <a:pPr lvl="1"/>
            <a:r>
              <a:rPr lang="en-US" dirty="0"/>
              <a:t>It’s highly extensible and other packages can be plugged into it (middleware)</a:t>
            </a:r>
          </a:p>
          <a:p>
            <a:pPr marL="0" indent="0">
              <a:buNone/>
            </a:pPr>
            <a:r>
              <a:rPr lang="en-US" dirty="0"/>
              <a:t>Middleware, next() and res()</a:t>
            </a:r>
          </a:p>
          <a:p>
            <a:pPr lvl="1"/>
            <a:r>
              <a:rPr lang="en-US" dirty="0"/>
              <a:t>Express.js relies heavily on middleware functions – you can easily add them by calling use()</a:t>
            </a:r>
          </a:p>
          <a:p>
            <a:pPr lvl="1"/>
            <a:r>
              <a:rPr lang="en-US" dirty="0"/>
              <a:t>Middleware functions handle a request and should call next() to forward the request to the next function in line or send a response</a:t>
            </a:r>
          </a:p>
          <a:p>
            <a:pPr marL="0" indent="0">
              <a:buNone/>
            </a:pPr>
            <a:r>
              <a:rPr lang="en-US" dirty="0"/>
              <a:t>Routing</a:t>
            </a:r>
          </a:p>
          <a:p>
            <a:pPr lvl="1"/>
            <a:r>
              <a:rPr lang="en-US" dirty="0"/>
              <a:t>You can filter requests by path and method</a:t>
            </a:r>
          </a:p>
          <a:p>
            <a:pPr lvl="1"/>
            <a:r>
              <a:rPr lang="en-US" dirty="0"/>
              <a:t>If you filter by method, paths are matched exactly, otherwise, the first segment of a URL is matched</a:t>
            </a:r>
          </a:p>
          <a:p>
            <a:pPr lvl="1"/>
            <a:r>
              <a:rPr lang="en-US" dirty="0"/>
              <a:t>You can use the </a:t>
            </a:r>
            <a:r>
              <a:rPr lang="en-US" dirty="0" err="1"/>
              <a:t>express.router</a:t>
            </a:r>
            <a:r>
              <a:rPr lang="en-US" dirty="0"/>
              <a:t> to split you routes across files </a:t>
            </a:r>
            <a:r>
              <a:rPr lang="en-US" dirty="0" err="1"/>
              <a:t>elegantely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Serve Files</a:t>
            </a:r>
          </a:p>
          <a:p>
            <a:pPr lvl="1"/>
            <a:r>
              <a:rPr lang="en-US" dirty="0"/>
              <a:t>You’re not limited to serving dummy text as a response</a:t>
            </a:r>
          </a:p>
          <a:p>
            <a:pPr lvl="1"/>
            <a:r>
              <a:rPr lang="en-US" dirty="0"/>
              <a:t>You can </a:t>
            </a:r>
            <a:r>
              <a:rPr lang="en-US" dirty="0" err="1"/>
              <a:t>sendFile</a:t>
            </a:r>
            <a:r>
              <a:rPr lang="en-US" dirty="0"/>
              <a:t>() to your users – </a:t>
            </a:r>
            <a:r>
              <a:rPr lang="en-US" dirty="0" err="1"/>
              <a:t>e.g</a:t>
            </a:r>
            <a:r>
              <a:rPr lang="en-US" dirty="0"/>
              <a:t> HTML files</a:t>
            </a:r>
          </a:p>
          <a:p>
            <a:pPr lvl="1"/>
            <a:r>
              <a:rPr lang="en-US" dirty="0"/>
              <a:t>If a request is directly made for a file (</a:t>
            </a:r>
            <a:r>
              <a:rPr lang="en-US" dirty="0" err="1"/>
              <a:t>e.g</a:t>
            </a:r>
            <a:r>
              <a:rPr lang="en-US" dirty="0"/>
              <a:t> a .</a:t>
            </a:r>
            <a:r>
              <a:rPr lang="en-US" dirty="0" err="1"/>
              <a:t>css</a:t>
            </a:r>
            <a:r>
              <a:rPr lang="en-US" dirty="0"/>
              <a:t> file is requested), you can enable static serving for such files via </a:t>
            </a:r>
            <a:r>
              <a:rPr lang="en-US" dirty="0" err="1"/>
              <a:t>express.static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39997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7A34-0EE1-D980-6CC8-85604BA7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Content &amp;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CD2E-7619-664B-B8FA-BC2078E5E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Managing data (without database)</a:t>
            </a:r>
          </a:p>
          <a:p>
            <a:r>
              <a:rPr lang="en-US" dirty="0"/>
              <a:t>Render dynamic content in our Views</a:t>
            </a:r>
          </a:p>
          <a:p>
            <a:r>
              <a:rPr lang="en-US" dirty="0"/>
              <a:t>Understanding Templating Engines</a:t>
            </a:r>
          </a:p>
        </p:txBody>
      </p:sp>
    </p:spTree>
    <p:extLst>
      <p:ext uri="{BB962C8B-B14F-4D97-AF65-F5344CB8AC3E}">
        <p14:creationId xmlns:p14="http://schemas.microsoft.com/office/powerpoint/2010/main" val="3861727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D7BE-3E32-C4B5-4F60-A8D03D25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Templating Engines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58A40-1118-7BD3-1AAF-5931D8C0010F}"/>
              </a:ext>
            </a:extLst>
          </p:cNvPr>
          <p:cNvSpPr/>
          <p:nvPr/>
        </p:nvSpPr>
        <p:spPr>
          <a:xfrm>
            <a:off x="5113538" y="1589103"/>
            <a:ext cx="3710866" cy="648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HTMLish</a:t>
            </a:r>
            <a:r>
              <a:rPr lang="en-US" dirty="0"/>
              <a:t> Template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738EF-4AB6-0DB8-67C3-5DBBEB2AD616}"/>
              </a:ext>
            </a:extLst>
          </p:cNvPr>
          <p:cNvSpPr/>
          <p:nvPr/>
        </p:nvSpPr>
        <p:spPr>
          <a:xfrm>
            <a:off x="5113538" y="3747856"/>
            <a:ext cx="3710866" cy="648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Replaces Placeholders/Snippets with HTML Content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1E9C5E-4F3A-9020-5CDF-24591326922D}"/>
              </a:ext>
            </a:extLst>
          </p:cNvPr>
          <p:cNvSpPr/>
          <p:nvPr/>
        </p:nvSpPr>
        <p:spPr>
          <a:xfrm>
            <a:off x="5113538" y="5582574"/>
            <a:ext cx="3710866" cy="648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File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431DE2DE-2334-B929-D49D-01D5D923501D}"/>
              </a:ext>
            </a:extLst>
          </p:cNvPr>
          <p:cNvSpPr/>
          <p:nvPr/>
        </p:nvSpPr>
        <p:spPr>
          <a:xfrm>
            <a:off x="6782540" y="2379216"/>
            <a:ext cx="585926" cy="1171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CC099902-D12C-D838-E4AB-4B3F7EF5414E}"/>
              </a:ext>
            </a:extLst>
          </p:cNvPr>
          <p:cNvSpPr/>
          <p:nvPr/>
        </p:nvSpPr>
        <p:spPr>
          <a:xfrm>
            <a:off x="6835806" y="4403324"/>
            <a:ext cx="585926" cy="1171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16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EC32-D420-3C08-8BA0-FBC221F6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Templating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7B46B3-8E73-0719-7413-0EBF60199A3A}"/>
              </a:ext>
            </a:extLst>
          </p:cNvPr>
          <p:cNvSpPr/>
          <p:nvPr/>
        </p:nvSpPr>
        <p:spPr>
          <a:xfrm>
            <a:off x="838200" y="1624614"/>
            <a:ext cx="1931633" cy="54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EjS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D950F-7DC1-AB78-540D-6514FD46F31A}"/>
              </a:ext>
            </a:extLst>
          </p:cNvPr>
          <p:cNvSpPr/>
          <p:nvPr/>
        </p:nvSpPr>
        <p:spPr>
          <a:xfrm>
            <a:off x="5130183" y="1624613"/>
            <a:ext cx="1931633" cy="54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Pug (jade)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D9D05-07FB-8EF8-5F13-F4761F278576}"/>
              </a:ext>
            </a:extLst>
          </p:cNvPr>
          <p:cNvSpPr/>
          <p:nvPr/>
        </p:nvSpPr>
        <p:spPr>
          <a:xfrm>
            <a:off x="9073348" y="1624612"/>
            <a:ext cx="1931633" cy="54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Handlebars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BA56C-6B84-9E3D-ACE2-CC4F15D8F4C7}"/>
              </a:ext>
            </a:extLst>
          </p:cNvPr>
          <p:cNvSpPr/>
          <p:nvPr/>
        </p:nvSpPr>
        <p:spPr>
          <a:xfrm>
            <a:off x="838199" y="2780191"/>
            <a:ext cx="2988077" cy="54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&lt;p&gt;  &lt;%= name %&gt; &lt;/p&gt;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E231A-5D96-75EF-EA03-CD5317F5FAC2}"/>
              </a:ext>
            </a:extLst>
          </p:cNvPr>
          <p:cNvSpPr/>
          <p:nvPr/>
        </p:nvSpPr>
        <p:spPr>
          <a:xfrm>
            <a:off x="4601960" y="2755777"/>
            <a:ext cx="2988077" cy="54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 #{name}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6ABD89-7A6D-62C1-DD3D-63B095610E9F}"/>
              </a:ext>
            </a:extLst>
          </p:cNvPr>
          <p:cNvSpPr/>
          <p:nvPr/>
        </p:nvSpPr>
        <p:spPr>
          <a:xfrm>
            <a:off x="8545125" y="2755776"/>
            <a:ext cx="2988077" cy="54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&lt;p&gt; { {name} } &lt;/p&gt;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F51C4-902C-C2B3-CA77-E952F7E49E36}"/>
              </a:ext>
            </a:extLst>
          </p:cNvPr>
          <p:cNvSpPr/>
          <p:nvPr/>
        </p:nvSpPr>
        <p:spPr>
          <a:xfrm>
            <a:off x="838198" y="4962617"/>
            <a:ext cx="2988077" cy="1242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normal HTML and plain </a:t>
            </a:r>
            <a:r>
              <a:rPr lang="en-US" dirty="0" err="1"/>
              <a:t>javaScript</a:t>
            </a:r>
            <a:r>
              <a:rPr lang="en-US" dirty="0"/>
              <a:t> in your templates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F77489-C866-3409-3C44-9A241DCAA659}"/>
              </a:ext>
            </a:extLst>
          </p:cNvPr>
          <p:cNvSpPr/>
          <p:nvPr/>
        </p:nvSpPr>
        <p:spPr>
          <a:xfrm>
            <a:off x="4601960" y="4962617"/>
            <a:ext cx="2988077" cy="1242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minimal HTML and custom template language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CD8D4-C0BC-A4C9-7551-FC598CB9F716}"/>
              </a:ext>
            </a:extLst>
          </p:cNvPr>
          <p:cNvSpPr/>
          <p:nvPr/>
        </p:nvSpPr>
        <p:spPr>
          <a:xfrm>
            <a:off x="8545125" y="4962617"/>
            <a:ext cx="2988077" cy="1242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normal HTML and custom template language</a:t>
            </a:r>
          </a:p>
        </p:txBody>
      </p:sp>
    </p:spTree>
    <p:extLst>
      <p:ext uri="{BB962C8B-B14F-4D97-AF65-F5344CB8AC3E}">
        <p14:creationId xmlns:p14="http://schemas.microsoft.com/office/powerpoint/2010/main" val="3280706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AC50-97E2-1D78-91FB-E5A924341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984"/>
            <a:ext cx="10515600" cy="5812979"/>
          </a:xfrm>
        </p:spPr>
        <p:txBody>
          <a:bodyPr numCol="2">
            <a:normAutofit/>
          </a:bodyPr>
          <a:lstStyle/>
          <a:p>
            <a:r>
              <a:rPr lang="en-US" dirty="0"/>
              <a:t>Sharing Data Access Requests &amp; users</a:t>
            </a:r>
          </a:p>
          <a:p>
            <a:r>
              <a:rPr lang="en-US" dirty="0"/>
              <a:t>Installing &amp; implementing Pug</a:t>
            </a:r>
          </a:p>
          <a:p>
            <a:r>
              <a:rPr lang="en-US" dirty="0"/>
              <a:t>Outputting Dynamic Content</a:t>
            </a:r>
          </a:p>
          <a:p>
            <a:r>
              <a:rPr lang="en-US" dirty="0"/>
              <a:t>Converting HTML files to Pug</a:t>
            </a:r>
          </a:p>
          <a:p>
            <a:r>
              <a:rPr lang="en-US" dirty="0"/>
              <a:t>Adding a Layout</a:t>
            </a:r>
          </a:p>
          <a:p>
            <a:r>
              <a:rPr lang="en-US" dirty="0"/>
              <a:t>Finishing the pug template</a:t>
            </a:r>
          </a:p>
          <a:p>
            <a:r>
              <a:rPr lang="en-US" dirty="0"/>
              <a:t>Working with Handlebars</a:t>
            </a:r>
          </a:p>
          <a:p>
            <a:r>
              <a:rPr lang="en-US" dirty="0"/>
              <a:t>Converting our project to handlebars</a:t>
            </a:r>
          </a:p>
          <a:p>
            <a:r>
              <a:rPr lang="en-US" dirty="0"/>
              <a:t>Adding the layout to handlebars</a:t>
            </a:r>
          </a:p>
          <a:p>
            <a:r>
              <a:rPr lang="en-US" dirty="0"/>
              <a:t>Working with EJS</a:t>
            </a:r>
          </a:p>
          <a:p>
            <a:r>
              <a:rPr lang="en-US" dirty="0"/>
              <a:t>Working on the </a:t>
            </a:r>
            <a:r>
              <a:rPr lang="en-US"/>
              <a:t>Layout with Partials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82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2C53-1F18-3AD3-9AF1-ED222A64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(Structuring your 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30F8-40FD-6A53-8572-3AA157678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Model – Represent data in your code, work with data(save, fetch)</a:t>
            </a:r>
          </a:p>
          <a:p>
            <a:r>
              <a:rPr lang="en-US" dirty="0"/>
              <a:t>View – What the users see, decoupled from application code</a:t>
            </a:r>
          </a:p>
          <a:p>
            <a:r>
              <a:rPr lang="en-US" dirty="0"/>
              <a:t>Controller – connecting Models and Views, “in-between” logic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11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863B-273E-3B2D-F934-53BDAB59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2CDCD-D418-F4A4-8B13-374B0C91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Controllers</a:t>
            </a:r>
          </a:p>
          <a:p>
            <a:r>
              <a:rPr lang="en-US" dirty="0"/>
              <a:t>Adding a Product Model</a:t>
            </a:r>
          </a:p>
          <a:p>
            <a:r>
              <a:rPr lang="en-US" dirty="0"/>
              <a:t>Storing data in Files Via the Model</a:t>
            </a:r>
          </a:p>
          <a:p>
            <a:r>
              <a:rPr lang="en-US" dirty="0"/>
              <a:t>Fetching data from files via the Model</a:t>
            </a:r>
          </a:p>
          <a:p>
            <a:r>
              <a:rPr lang="en-US" dirty="0"/>
              <a:t>Refactoring the file storage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538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CC09-64F9-44E3-4D85-1867FF1B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83A7-918D-36D3-B65F-FF98AADE5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Model</a:t>
            </a:r>
          </a:p>
          <a:p>
            <a:pPr lvl="1"/>
            <a:r>
              <a:rPr lang="en-US" dirty="0"/>
              <a:t>Responsible for representing your data</a:t>
            </a:r>
          </a:p>
          <a:p>
            <a:pPr lvl="1"/>
            <a:r>
              <a:rPr lang="en-US" dirty="0"/>
              <a:t>Responsible for managing your data (saving, fetching, …)</a:t>
            </a:r>
          </a:p>
          <a:p>
            <a:pPr lvl="1"/>
            <a:r>
              <a:rPr lang="en-US" dirty="0"/>
              <a:t>Doesn’t matter if you manage data in memory, files, databases</a:t>
            </a:r>
          </a:p>
          <a:p>
            <a:pPr lvl="1"/>
            <a:r>
              <a:rPr lang="en-US" dirty="0"/>
              <a:t>Contains data-related logic</a:t>
            </a:r>
          </a:p>
          <a:p>
            <a:r>
              <a:rPr lang="en-US" dirty="0"/>
              <a:t>Controller</a:t>
            </a:r>
          </a:p>
          <a:p>
            <a:pPr lvl="1"/>
            <a:r>
              <a:rPr lang="en-US" dirty="0"/>
              <a:t>Connects Model and View</a:t>
            </a:r>
          </a:p>
          <a:p>
            <a:pPr lvl="1"/>
            <a:r>
              <a:rPr lang="en-US" dirty="0"/>
              <a:t>Should only make sure that the two can communicate ( in both directions)</a:t>
            </a:r>
          </a:p>
          <a:p>
            <a:r>
              <a:rPr lang="en-US" dirty="0"/>
              <a:t>View</a:t>
            </a:r>
          </a:p>
          <a:p>
            <a:pPr lvl="1"/>
            <a:r>
              <a:rPr lang="en-US" dirty="0"/>
              <a:t>What the user sees</a:t>
            </a:r>
          </a:p>
          <a:p>
            <a:pPr lvl="1"/>
            <a:r>
              <a:rPr lang="en-US" dirty="0"/>
              <a:t>Shouldn’t contain too much logic (handlebars!)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433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50284-0580-E891-873A-A420CD25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604"/>
            <a:ext cx="10515600" cy="5905359"/>
          </a:xfrm>
        </p:spPr>
        <p:txBody>
          <a:bodyPr/>
          <a:lstStyle/>
          <a:p>
            <a:r>
              <a:rPr lang="en-US" dirty="0"/>
              <a:t>Creating the Shop Structure</a:t>
            </a:r>
          </a:p>
          <a:p>
            <a:r>
              <a:rPr lang="en-US" dirty="0"/>
              <a:t>Working on the Navigation</a:t>
            </a:r>
          </a:p>
          <a:p>
            <a:r>
              <a:rPr lang="en-US" dirty="0"/>
              <a:t>Registering the Routes</a:t>
            </a:r>
          </a:p>
          <a:p>
            <a:r>
              <a:rPr lang="en-US" dirty="0"/>
              <a:t>Storing Product Data</a:t>
            </a:r>
          </a:p>
          <a:p>
            <a:r>
              <a:rPr lang="en-US" dirty="0"/>
              <a:t>Displaying product data</a:t>
            </a:r>
          </a:p>
          <a:p>
            <a:r>
              <a:rPr lang="en-US" dirty="0"/>
              <a:t>Editing &amp; Deleting Products</a:t>
            </a:r>
          </a:p>
          <a:p>
            <a:r>
              <a:rPr lang="en-US" dirty="0"/>
              <a:t>Adding Another Item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13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9184-4E88-BE3D-3868-0284DAD7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Routes &amp; Advanced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1D14C-9F1B-62DE-EA77-ED8975339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Passing route params</a:t>
            </a:r>
          </a:p>
          <a:p>
            <a:r>
              <a:rPr lang="en-US" dirty="0"/>
              <a:t>Using Query Params</a:t>
            </a:r>
          </a:p>
          <a:p>
            <a:r>
              <a:rPr lang="en-US" dirty="0"/>
              <a:t>Enhance our Models</a:t>
            </a:r>
          </a:p>
          <a:p>
            <a:r>
              <a:rPr lang="en-US" dirty="0"/>
              <a:t>Adding the Product ID to the Path</a:t>
            </a:r>
          </a:p>
          <a:p>
            <a:r>
              <a:rPr lang="en-US" dirty="0"/>
              <a:t>Loading Product Detail Data</a:t>
            </a:r>
          </a:p>
          <a:p>
            <a:r>
              <a:rPr lang="en-US" dirty="0"/>
              <a:t>Rendering the Product Detail View</a:t>
            </a:r>
          </a:p>
          <a:p>
            <a:r>
              <a:rPr lang="en-US"/>
              <a:t>Passing Data with POST Requests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465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8C65D-AA8E-47D2-147B-600BEFCA9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048"/>
            <a:ext cx="10515600" cy="5660915"/>
          </a:xfrm>
        </p:spPr>
        <p:txBody>
          <a:bodyPr/>
          <a:lstStyle/>
          <a:p>
            <a:r>
              <a:rPr lang="en-US" dirty="0"/>
              <a:t>Adding a Cart Model</a:t>
            </a:r>
          </a:p>
          <a:p>
            <a:r>
              <a:rPr lang="en-US" dirty="0"/>
              <a:t>Using Query Params</a:t>
            </a:r>
          </a:p>
          <a:p>
            <a:r>
              <a:rPr lang="en-US" dirty="0"/>
              <a:t>Pre-populating the Edit Product Page with Data</a:t>
            </a:r>
          </a:p>
          <a:p>
            <a:r>
              <a:rPr lang="en-US" dirty="0"/>
              <a:t>Linking to the Edit Page</a:t>
            </a:r>
          </a:p>
          <a:p>
            <a:r>
              <a:rPr lang="en-US" dirty="0"/>
              <a:t>Editing the Product Data</a:t>
            </a:r>
          </a:p>
          <a:p>
            <a:r>
              <a:rPr lang="en-US" dirty="0"/>
              <a:t>Adding the Product-Delete functionality</a:t>
            </a:r>
          </a:p>
          <a:p>
            <a:r>
              <a:rPr lang="en-US" dirty="0"/>
              <a:t>Deleting Cart Item</a:t>
            </a:r>
          </a:p>
          <a:p>
            <a:r>
              <a:rPr lang="en-US" dirty="0"/>
              <a:t>Displaying Cart Items </a:t>
            </a:r>
            <a:r>
              <a:rPr lang="en-US"/>
              <a:t>on the Cart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71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3B40-6D39-7FBC-52A3-85AAFF99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3804-D252-5F62-7ED7-023CD05FB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Dynamic Routing</a:t>
            </a:r>
          </a:p>
          <a:p>
            <a:pPr lvl="1"/>
            <a:r>
              <a:rPr lang="en-US" dirty="0"/>
              <a:t>You can pass dynamic path segments by adding a “:” to the Express router path</a:t>
            </a:r>
          </a:p>
          <a:p>
            <a:pPr lvl="1"/>
            <a:r>
              <a:rPr lang="en-US" dirty="0"/>
              <a:t>The name you add after “:” is the name by which you can extract the data on </a:t>
            </a:r>
            <a:r>
              <a:rPr lang="en-US" dirty="0" err="1"/>
              <a:t>req.params</a:t>
            </a:r>
            <a:endParaRPr lang="en-US" dirty="0"/>
          </a:p>
          <a:p>
            <a:pPr lvl="1"/>
            <a:r>
              <a:rPr lang="en-US" dirty="0"/>
              <a:t>Optional (query) parameters can also be passed ( ? Param = value &amp; b = 2) and extracted (</a:t>
            </a:r>
            <a:r>
              <a:rPr lang="en-US" dirty="0" err="1"/>
              <a:t>req.query.myParam</a:t>
            </a:r>
            <a:r>
              <a:rPr lang="en-US" dirty="0"/>
              <a:t>)</a:t>
            </a:r>
          </a:p>
          <a:p>
            <a:r>
              <a:rPr lang="en-US" dirty="0"/>
              <a:t>More on Models</a:t>
            </a:r>
          </a:p>
          <a:p>
            <a:pPr lvl="1"/>
            <a:r>
              <a:rPr lang="en-US" dirty="0"/>
              <a:t>A cart model was added – it holds static methods only</a:t>
            </a:r>
          </a:p>
          <a:p>
            <a:pPr lvl="1"/>
            <a:r>
              <a:rPr lang="en-US" dirty="0"/>
              <a:t>You can interact between models ( e.g. delete cart item if a product is deleted)</a:t>
            </a:r>
          </a:p>
          <a:p>
            <a:pPr lvl="1"/>
            <a:r>
              <a:rPr lang="en-US" dirty="0"/>
              <a:t>Working with files for data storage is </a:t>
            </a:r>
            <a:r>
              <a:rPr lang="en-US" dirty="0" err="1"/>
              <a:t>suboptiomal</a:t>
            </a:r>
            <a:r>
              <a:rPr lang="en-US" dirty="0"/>
              <a:t> for bigger amounts of data</a:t>
            </a:r>
          </a:p>
        </p:txBody>
      </p:sp>
    </p:spTree>
    <p:extLst>
      <p:ext uri="{BB962C8B-B14F-4D97-AF65-F5344CB8AC3E}">
        <p14:creationId xmlns:p14="http://schemas.microsoft.com/office/powerpoint/2010/main" val="3903343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AB70-EE0C-7530-FBE0-7296B06C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Storing Data in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58085-6E06-C165-2882-074C72EB6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kinds of databases ( SQL vs NoSQL)</a:t>
            </a:r>
          </a:p>
          <a:p>
            <a:r>
              <a:rPr lang="en-US" dirty="0"/>
              <a:t>Using SQL in a Node.js App</a:t>
            </a:r>
          </a:p>
        </p:txBody>
      </p:sp>
    </p:spTree>
    <p:extLst>
      <p:ext uri="{BB962C8B-B14F-4D97-AF65-F5344CB8AC3E}">
        <p14:creationId xmlns:p14="http://schemas.microsoft.com/office/powerpoint/2010/main" val="3280210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E188-F2A9-9154-22EE-08834DDF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vs 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1DEC2-891D-0E44-EC2B-C44F50A4E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data and make it Easily Accessible</a:t>
            </a:r>
          </a:p>
          <a:p>
            <a:pPr lvl="1"/>
            <a:r>
              <a:rPr lang="en-US" dirty="0"/>
              <a:t>SQL databases (e.g. MySQL)</a:t>
            </a:r>
          </a:p>
          <a:p>
            <a:pPr lvl="1"/>
            <a:r>
              <a:rPr lang="en-US" dirty="0"/>
              <a:t>NoSQL Databases (e.g. MongoDB)</a:t>
            </a:r>
          </a:p>
        </p:txBody>
      </p:sp>
    </p:spTree>
    <p:extLst>
      <p:ext uri="{BB962C8B-B14F-4D97-AF65-F5344CB8AC3E}">
        <p14:creationId xmlns:p14="http://schemas.microsoft.com/office/powerpoint/2010/main" val="4283603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7A02-7D28-9F6A-67F7-F9DF52A3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5CC224-20F9-807A-E4F9-C8E0D5D2D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323852"/>
              </p:ext>
            </p:extLst>
          </p:nvPr>
        </p:nvGraphicFramePr>
        <p:xfrm>
          <a:off x="1032162" y="1834862"/>
          <a:ext cx="603365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293">
                  <a:extLst>
                    <a:ext uri="{9D8B030D-6E8A-4147-A177-3AD203B41FA5}">
                      <a16:colId xmlns:a16="http://schemas.microsoft.com/office/drawing/2014/main" val="633939766"/>
                    </a:ext>
                  </a:extLst>
                </a:gridCol>
                <a:gridCol w="2180890">
                  <a:extLst>
                    <a:ext uri="{9D8B030D-6E8A-4147-A177-3AD203B41FA5}">
                      <a16:colId xmlns:a16="http://schemas.microsoft.com/office/drawing/2014/main" val="2921028910"/>
                    </a:ext>
                  </a:extLst>
                </a:gridCol>
                <a:gridCol w="3109473">
                  <a:extLst>
                    <a:ext uri="{9D8B030D-6E8A-4147-A177-3AD203B41FA5}">
                      <a16:colId xmlns:a16="http://schemas.microsoft.com/office/drawing/2014/main" val="264881457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b="1" dirty="0"/>
                        <a:t>Users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06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1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linkClick r:id="rId2"/>
                        </a:rPr>
                        <a:t>ram@gmail.com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Ram Sharma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21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linkClick r:id="rId3"/>
                        </a:rPr>
                        <a:t>mohan@gmail.com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Mohan Verma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linkClick r:id="rId4"/>
                        </a:rPr>
                        <a:t>sohan@gmail.com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Sohan Mishra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81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8DAABE0-9180-9FE7-9BFB-8FBA83047D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4086973"/>
              </p:ext>
            </p:extLst>
          </p:nvPr>
        </p:nvGraphicFramePr>
        <p:xfrm>
          <a:off x="1032162" y="4185517"/>
          <a:ext cx="60336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508">
                  <a:extLst>
                    <a:ext uri="{9D8B030D-6E8A-4147-A177-3AD203B41FA5}">
                      <a16:colId xmlns:a16="http://schemas.microsoft.com/office/drawing/2014/main" val="633939766"/>
                    </a:ext>
                  </a:extLst>
                </a:gridCol>
                <a:gridCol w="1439194">
                  <a:extLst>
                    <a:ext uri="{9D8B030D-6E8A-4147-A177-3AD203B41FA5}">
                      <a16:colId xmlns:a16="http://schemas.microsoft.com/office/drawing/2014/main" val="2921028910"/>
                    </a:ext>
                  </a:extLst>
                </a:gridCol>
                <a:gridCol w="2051977">
                  <a:extLst>
                    <a:ext uri="{9D8B030D-6E8A-4147-A177-3AD203B41FA5}">
                      <a16:colId xmlns:a16="http://schemas.microsoft.com/office/drawing/2014/main" val="2648814571"/>
                    </a:ext>
                  </a:extLst>
                </a:gridCol>
                <a:gridCol w="2051977">
                  <a:extLst>
                    <a:ext uri="{9D8B030D-6E8A-4147-A177-3AD203B41FA5}">
                      <a16:colId xmlns:a16="http://schemas.microsoft.com/office/drawing/2014/main" val="303862644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US" dirty="0"/>
                        <a:t>Products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06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1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21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81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7A07CFC-6D74-67D7-CC97-27DCE8E57C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2615754"/>
              </p:ext>
            </p:extLst>
          </p:nvPr>
        </p:nvGraphicFramePr>
        <p:xfrm>
          <a:off x="7585364" y="3138430"/>
          <a:ext cx="37684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545">
                  <a:extLst>
                    <a:ext uri="{9D8B030D-6E8A-4147-A177-3AD203B41FA5}">
                      <a16:colId xmlns:a16="http://schemas.microsoft.com/office/drawing/2014/main" val="633939766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2921028910"/>
                    </a:ext>
                  </a:extLst>
                </a:gridCol>
                <a:gridCol w="1690255">
                  <a:extLst>
                    <a:ext uri="{9D8B030D-6E8A-4147-A177-3AD203B41FA5}">
                      <a16:colId xmlns:a16="http://schemas.microsoft.com/office/drawing/2014/main" val="264881457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/>
                        <a:t>Orders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06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1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21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482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17D3-7274-6D7D-30F3-7BA9680F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SQL Database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B68F1-840D-75FC-CE66-358881265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Schema (id, name, age) – All Data ( in a Table has to fit)</a:t>
            </a:r>
          </a:p>
          <a:p>
            <a:r>
              <a:rPr lang="en-US" dirty="0"/>
              <a:t>Data Relations ( Tables are connected)</a:t>
            </a:r>
          </a:p>
          <a:p>
            <a:pPr lvl="1"/>
            <a:r>
              <a:rPr lang="en-US" dirty="0"/>
              <a:t>One-to-One</a:t>
            </a:r>
          </a:p>
          <a:p>
            <a:pPr lvl="1"/>
            <a:r>
              <a:rPr lang="en-US" dirty="0"/>
              <a:t>One-to-Many</a:t>
            </a:r>
          </a:p>
          <a:p>
            <a:pPr lvl="1"/>
            <a:r>
              <a:rPr lang="en-US" dirty="0"/>
              <a:t>Many-to-Many</a:t>
            </a:r>
          </a:p>
        </p:txBody>
      </p:sp>
    </p:spTree>
    <p:extLst>
      <p:ext uri="{BB962C8B-B14F-4D97-AF65-F5344CB8AC3E}">
        <p14:creationId xmlns:p14="http://schemas.microsoft.com/office/powerpoint/2010/main" val="2014244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91F4-7B93-35A6-DD81-27CF2542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D3289-22F2-6BC5-1C14-BE9C5F904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*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users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age &gt; 30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SQL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Keywords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Parameters/Data</a:t>
            </a:r>
          </a:p>
        </p:txBody>
      </p:sp>
    </p:spTree>
    <p:extLst>
      <p:ext uri="{BB962C8B-B14F-4D97-AF65-F5344CB8AC3E}">
        <p14:creationId xmlns:p14="http://schemas.microsoft.com/office/powerpoint/2010/main" val="2872843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9F45-21C1-31AF-587F-4A9A43E3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64BA6-889C-ADE3-A64D-97C7A72A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: Shop</a:t>
            </a:r>
          </a:p>
          <a:p>
            <a:r>
              <a:rPr lang="en-US" dirty="0"/>
              <a:t>Collections : Users, Orders</a:t>
            </a:r>
          </a:p>
          <a:p>
            <a:r>
              <a:rPr lang="en-US" dirty="0"/>
              <a:t>Documents: {</a:t>
            </a:r>
            <a:r>
              <a:rPr lang="en-US" dirty="0" err="1"/>
              <a:t>name:’Ram</a:t>
            </a:r>
            <a:r>
              <a:rPr lang="en-US" dirty="0"/>
              <a:t> Sharmar’,age:30} {…}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49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128E-809B-E593-29C7-25B3221B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69E68-B525-11F4-B0A7-EC563B4BB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Data Schema – No Structure required!</a:t>
            </a:r>
          </a:p>
          <a:p>
            <a:r>
              <a:rPr lang="en-US" dirty="0"/>
              <a:t>No Data Relations – No/Few Connections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075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E373-EC35-AC0B-1E31-E4DC99BD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AFEC6-4412-DAF0-58C6-60CBAD65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Horizontal Scaling</a:t>
            </a:r>
          </a:p>
          <a:p>
            <a:pPr lvl="1"/>
            <a:r>
              <a:rPr lang="en-US" dirty="0"/>
              <a:t>Add More Servers ( and merge Data into one Database)</a:t>
            </a:r>
          </a:p>
          <a:p>
            <a:pPr lvl="1"/>
            <a:endParaRPr lang="en-US" dirty="0"/>
          </a:p>
          <a:p>
            <a:r>
              <a:rPr lang="en-US" dirty="0"/>
              <a:t>Vertical Scaling</a:t>
            </a:r>
          </a:p>
          <a:p>
            <a:pPr lvl="1"/>
            <a:r>
              <a:rPr lang="en-US" dirty="0"/>
              <a:t>Improve Server Capacity/Hardware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4D245-C462-FA57-1453-30F8C2E065DD}"/>
              </a:ext>
            </a:extLst>
          </p:cNvPr>
          <p:cNvSpPr/>
          <p:nvPr/>
        </p:nvSpPr>
        <p:spPr>
          <a:xfrm>
            <a:off x="9023927" y="2022764"/>
            <a:ext cx="471055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6A4CDC-3B36-A3BA-9CE9-FCE47A1E5138}"/>
              </a:ext>
            </a:extLst>
          </p:cNvPr>
          <p:cNvSpPr/>
          <p:nvPr/>
        </p:nvSpPr>
        <p:spPr>
          <a:xfrm>
            <a:off x="9619672" y="2022764"/>
            <a:ext cx="471055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1FF50-C47B-03C2-7BAB-2DFD9EA2B272}"/>
              </a:ext>
            </a:extLst>
          </p:cNvPr>
          <p:cNvSpPr/>
          <p:nvPr/>
        </p:nvSpPr>
        <p:spPr>
          <a:xfrm>
            <a:off x="10251208" y="2022764"/>
            <a:ext cx="471055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9FF6FC-F140-BF89-1968-7158BAC02E71}"/>
              </a:ext>
            </a:extLst>
          </p:cNvPr>
          <p:cNvSpPr/>
          <p:nvPr/>
        </p:nvSpPr>
        <p:spPr>
          <a:xfrm>
            <a:off x="7961745" y="3703782"/>
            <a:ext cx="868219" cy="29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A4222-F95B-4377-C295-12793C313CC8}"/>
              </a:ext>
            </a:extLst>
          </p:cNvPr>
          <p:cNvSpPr/>
          <p:nvPr/>
        </p:nvSpPr>
        <p:spPr>
          <a:xfrm>
            <a:off x="7961744" y="4136231"/>
            <a:ext cx="868219" cy="29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CDB18F-D60A-60D2-44C3-CDB676B25512}"/>
              </a:ext>
            </a:extLst>
          </p:cNvPr>
          <p:cNvSpPr/>
          <p:nvPr/>
        </p:nvSpPr>
        <p:spPr>
          <a:xfrm>
            <a:off x="7961744" y="4575392"/>
            <a:ext cx="868219" cy="29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7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A0B2-374A-B574-4AA8-067B648D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vs 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C01F-45B0-C8C5-767E-6DDED73C7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08" y="1690688"/>
            <a:ext cx="452812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uses Schemas</a:t>
            </a:r>
          </a:p>
          <a:p>
            <a:r>
              <a:rPr lang="en-US" dirty="0"/>
              <a:t>Relations!	</a:t>
            </a:r>
          </a:p>
          <a:p>
            <a:r>
              <a:rPr lang="en-US" dirty="0"/>
              <a:t>Data is distributed across multiple tables</a:t>
            </a:r>
          </a:p>
          <a:p>
            <a:r>
              <a:rPr lang="en-US" dirty="0"/>
              <a:t>Horizontal scaling is difficult/impossible; vertical scaling is possible</a:t>
            </a:r>
          </a:p>
          <a:p>
            <a:r>
              <a:rPr lang="en-US" dirty="0"/>
              <a:t>Limitations for lots of (thousands) read&amp; write queries per second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528BA7-9B90-06C1-BB0A-91F00E440B2C}"/>
              </a:ext>
            </a:extLst>
          </p:cNvPr>
          <p:cNvSpPr txBox="1">
            <a:spLocks/>
          </p:cNvSpPr>
          <p:nvPr/>
        </p:nvSpPr>
        <p:spPr>
          <a:xfrm>
            <a:off x="6825673" y="1690688"/>
            <a:ext cx="45281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Schema-less</a:t>
            </a:r>
          </a:p>
          <a:p>
            <a:r>
              <a:rPr lang="en-US" dirty="0"/>
              <a:t>No(or very few) Relations</a:t>
            </a:r>
          </a:p>
          <a:p>
            <a:r>
              <a:rPr lang="en-US" dirty="0"/>
              <a:t>Data is typically merged/nested in a few collections</a:t>
            </a:r>
          </a:p>
          <a:p>
            <a:r>
              <a:rPr lang="en-US" dirty="0"/>
              <a:t>Both horizontal and vertical scaling is possible</a:t>
            </a:r>
          </a:p>
          <a:p>
            <a:r>
              <a:rPr lang="en-US" dirty="0"/>
              <a:t>Great performance for mass read &amp; write requests</a:t>
            </a:r>
          </a:p>
        </p:txBody>
      </p:sp>
    </p:spTree>
    <p:extLst>
      <p:ext uri="{BB962C8B-B14F-4D97-AF65-F5344CB8AC3E}">
        <p14:creationId xmlns:p14="http://schemas.microsoft.com/office/powerpoint/2010/main" val="19241906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EEF1-FDD9-1690-C4CE-7F6DDF47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Download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6BA55-97CF-683B-6E3C-3C4AE0E7B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MySQL Community Downloads</a:t>
            </a:r>
          </a:p>
          <a:p>
            <a:pPr lvl="1"/>
            <a:r>
              <a:rPr lang="en-US" dirty="0"/>
              <a:t>MySQL Community Server</a:t>
            </a:r>
          </a:p>
          <a:p>
            <a:pPr lvl="1"/>
            <a:r>
              <a:rPr lang="en-US" dirty="0"/>
              <a:t>MySQL Workbench</a:t>
            </a:r>
          </a:p>
          <a:p>
            <a:r>
              <a:rPr lang="en-US" dirty="0"/>
              <a:t>Connecting our App to the SQL Database</a:t>
            </a:r>
          </a:p>
          <a:p>
            <a:r>
              <a:rPr lang="en-US" dirty="0"/>
              <a:t>Basic SQL &amp; creating a Table</a:t>
            </a:r>
          </a:p>
          <a:p>
            <a:r>
              <a:rPr lang="en-US" dirty="0"/>
              <a:t>Fetching Products</a:t>
            </a:r>
          </a:p>
          <a:p>
            <a:r>
              <a:rPr lang="en-US" dirty="0"/>
              <a:t>Inserting Data into Database</a:t>
            </a:r>
          </a:p>
          <a:p>
            <a:r>
              <a:rPr lang="en-US" dirty="0"/>
              <a:t>Fetching a single product with the </a:t>
            </a:r>
            <a:r>
              <a:rPr lang="en-US"/>
              <a:t>where condition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5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0847-203D-3882-F5F4-7C7C2861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8ED4-3C93-DC4B-3AFB-6C3979894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Focus n Node.js, not on SQL</a:t>
            </a:r>
          </a:p>
          <a:p>
            <a:pPr marL="0" indent="0">
              <a:buNone/>
            </a:pPr>
            <a:r>
              <a:rPr lang="en-US" dirty="0"/>
              <a:t>An Object-Relational Mapping Library</a:t>
            </a:r>
          </a:p>
          <a:p>
            <a:pPr marL="0" indent="0">
              <a:buNone/>
            </a:pPr>
            <a:r>
              <a:rPr lang="en-US" dirty="0"/>
              <a:t>Syncing JS Definitions to the Database</a:t>
            </a:r>
          </a:p>
          <a:p>
            <a:pPr marL="0" indent="0">
              <a:buNone/>
            </a:pPr>
            <a:r>
              <a:rPr lang="en-US" dirty="0"/>
              <a:t>Inserting Data &amp; Creating a Product</a:t>
            </a:r>
          </a:p>
          <a:p>
            <a:pPr marL="0" indent="0">
              <a:buNone/>
            </a:pPr>
            <a:r>
              <a:rPr lang="en-US" dirty="0"/>
              <a:t>Retrieving Data &amp; Finding Products</a:t>
            </a:r>
          </a:p>
          <a:p>
            <a:pPr marL="0" indent="0">
              <a:buNone/>
            </a:pPr>
            <a:r>
              <a:rPr lang="en-US" dirty="0"/>
              <a:t>Getting a Single Product with the where Condition</a:t>
            </a:r>
          </a:p>
          <a:p>
            <a:pPr marL="0" indent="0">
              <a:buNone/>
            </a:pPr>
            <a:r>
              <a:rPr lang="en-US" dirty="0"/>
              <a:t>Fetching Admin products</a:t>
            </a:r>
          </a:p>
          <a:p>
            <a:pPr marL="0" indent="0">
              <a:buNone/>
            </a:pPr>
            <a:r>
              <a:rPr lang="en-US" dirty="0"/>
              <a:t>Updating Products</a:t>
            </a:r>
          </a:p>
          <a:p>
            <a:pPr marL="0" indent="0">
              <a:buNone/>
            </a:pPr>
            <a:r>
              <a:rPr lang="en-US" dirty="0"/>
              <a:t>Creating a User Model</a:t>
            </a:r>
          </a:p>
          <a:p>
            <a:pPr marL="0" indent="0">
              <a:buNone/>
            </a:pPr>
            <a:r>
              <a:rPr lang="en-US" dirty="0"/>
              <a:t>Adding a One-To-Many Relationship</a:t>
            </a:r>
          </a:p>
          <a:p>
            <a:pPr marL="0" indent="0">
              <a:buNone/>
            </a:pPr>
            <a:r>
              <a:rPr lang="en-US" dirty="0"/>
              <a:t>Creating &amp; Managing a Dummy User</a:t>
            </a:r>
          </a:p>
          <a:p>
            <a:pPr marL="0" indent="0">
              <a:buNone/>
            </a:pPr>
            <a:r>
              <a:rPr lang="en-US" dirty="0"/>
              <a:t>Using Magic Association Methods</a:t>
            </a:r>
          </a:p>
          <a:p>
            <a:pPr marL="0" indent="0">
              <a:buNone/>
            </a:pPr>
            <a:r>
              <a:rPr lang="en-US" dirty="0"/>
              <a:t>Fetching Related Products</a:t>
            </a:r>
          </a:p>
          <a:p>
            <a:pPr marL="0" indent="0">
              <a:buNone/>
            </a:pPr>
            <a:r>
              <a:rPr lang="en-US" dirty="0"/>
              <a:t>One-to-many &amp; many-to-many Relations</a:t>
            </a:r>
          </a:p>
          <a:p>
            <a:pPr marL="0" indent="0">
              <a:buNone/>
            </a:pPr>
            <a:r>
              <a:rPr lang="en-US" dirty="0"/>
              <a:t>Creating &amp; Fetching a Cart</a:t>
            </a:r>
          </a:p>
          <a:p>
            <a:pPr marL="0" indent="0">
              <a:buNone/>
            </a:pPr>
            <a:r>
              <a:rPr lang="en-US" dirty="0"/>
              <a:t>Adding New Products to the Cart</a:t>
            </a:r>
          </a:p>
          <a:p>
            <a:pPr marL="0" indent="0">
              <a:buNone/>
            </a:pPr>
            <a:r>
              <a:rPr lang="en-US" dirty="0"/>
              <a:t>Adding Existing Products &amp; Retrieving Cart Items</a:t>
            </a:r>
          </a:p>
          <a:p>
            <a:pPr marL="0" indent="0">
              <a:buNone/>
            </a:pPr>
            <a:r>
              <a:rPr lang="en-US" dirty="0"/>
              <a:t>Deleting Related Items &amp; Deleting Cart Products</a:t>
            </a:r>
          </a:p>
          <a:p>
            <a:pPr marL="0" indent="0">
              <a:buNone/>
            </a:pPr>
            <a:r>
              <a:rPr lang="en-US" dirty="0"/>
              <a:t>Adding an Order Model</a:t>
            </a:r>
          </a:p>
          <a:p>
            <a:pPr marL="0" indent="0">
              <a:buNone/>
            </a:pPr>
            <a:r>
              <a:rPr lang="en-US" dirty="0"/>
              <a:t>Storing </a:t>
            </a:r>
            <a:r>
              <a:rPr lang="en-US" dirty="0" err="1"/>
              <a:t>Cartitems</a:t>
            </a:r>
            <a:r>
              <a:rPr lang="en-US" dirty="0"/>
              <a:t> as </a:t>
            </a:r>
            <a:r>
              <a:rPr lang="en-US" dirty="0" err="1"/>
              <a:t>Orderitems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Resetting the Cart &amp; Fetching and Outputting Orders</a:t>
            </a:r>
          </a:p>
        </p:txBody>
      </p:sp>
    </p:spTree>
    <p:extLst>
      <p:ext uri="{BB962C8B-B14F-4D97-AF65-F5344CB8AC3E}">
        <p14:creationId xmlns:p14="http://schemas.microsoft.com/office/powerpoint/2010/main" val="32807540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84748F-8A0B-BD1A-DC81-F918D687D8F0}"/>
              </a:ext>
            </a:extLst>
          </p:cNvPr>
          <p:cNvSpPr txBox="1"/>
          <p:nvPr/>
        </p:nvSpPr>
        <p:spPr>
          <a:xfrm>
            <a:off x="4507992" y="484632"/>
            <a:ext cx="14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Associations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0B96C-9420-58E3-FBFB-0025C003FF2B}"/>
              </a:ext>
            </a:extLst>
          </p:cNvPr>
          <p:cNvSpPr/>
          <p:nvPr/>
        </p:nvSpPr>
        <p:spPr>
          <a:xfrm>
            <a:off x="795528" y="1152144"/>
            <a:ext cx="1764792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7DFBF8-1AD4-37DF-FAB8-668A26C482A2}"/>
              </a:ext>
            </a:extLst>
          </p:cNvPr>
          <p:cNvSpPr/>
          <p:nvPr/>
        </p:nvSpPr>
        <p:spPr>
          <a:xfrm>
            <a:off x="9378696" y="1152144"/>
            <a:ext cx="1764792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A0B7A3-7083-BE85-AC1C-EAC8AA3C4775}"/>
              </a:ext>
            </a:extLst>
          </p:cNvPr>
          <p:cNvSpPr/>
          <p:nvPr/>
        </p:nvSpPr>
        <p:spPr>
          <a:xfrm>
            <a:off x="4967117" y="3782568"/>
            <a:ext cx="1764792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04F74C-AE52-8EDA-6BA7-5609D0C1106F}"/>
              </a:ext>
            </a:extLst>
          </p:cNvPr>
          <p:cNvSpPr/>
          <p:nvPr/>
        </p:nvSpPr>
        <p:spPr>
          <a:xfrm>
            <a:off x="4967117" y="5169408"/>
            <a:ext cx="1764792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D84ABE3-4BAF-975F-527F-0FEB811E55BF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2217620" y="1453695"/>
            <a:ext cx="2209800" cy="32891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F4B6D73-3699-0BF1-A8EF-355C6EFD8659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1524200" y="2147115"/>
            <a:ext cx="3596640" cy="32891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D7C1EB52-49BF-BF46-015C-F87E132A02FB}"/>
              </a:ext>
            </a:extLst>
          </p:cNvPr>
          <p:cNvCxnSpPr>
            <a:stCxn id="6" idx="1"/>
            <a:endCxn id="5" idx="3"/>
          </p:cNvCxnSpPr>
          <p:nvPr/>
        </p:nvCxnSpPr>
        <p:spPr>
          <a:xfrm rot="10800000">
            <a:off x="2560320" y="1572768"/>
            <a:ext cx="6818376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3D22392F-F64A-CCDB-4F23-CA38E3393D30}"/>
              </a:ext>
            </a:extLst>
          </p:cNvPr>
          <p:cNvCxnSpPr>
            <a:stCxn id="6" idx="2"/>
            <a:endCxn id="7" idx="3"/>
          </p:cNvCxnSpPr>
          <p:nvPr/>
        </p:nvCxnSpPr>
        <p:spPr>
          <a:xfrm rot="5400000">
            <a:off x="7391601" y="1333701"/>
            <a:ext cx="2209800" cy="35291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3404DF1-7BE9-7E2A-D024-1A3CE9193C81}"/>
              </a:ext>
            </a:extLst>
          </p:cNvPr>
          <p:cNvCxnSpPr>
            <a:stCxn id="6" idx="2"/>
            <a:endCxn id="8" idx="3"/>
          </p:cNvCxnSpPr>
          <p:nvPr/>
        </p:nvCxnSpPr>
        <p:spPr>
          <a:xfrm rot="5400000">
            <a:off x="6698181" y="2027121"/>
            <a:ext cx="3596640" cy="35291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54F40DD-0096-F619-BBC3-34F7B0992CDB}"/>
              </a:ext>
            </a:extLst>
          </p:cNvPr>
          <p:cNvSpPr txBox="1"/>
          <p:nvPr/>
        </p:nvSpPr>
        <p:spPr>
          <a:xfrm>
            <a:off x="5233015" y="1177790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Many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0B36AD-3395-A1DD-CDF6-5489598DCAD8}"/>
              </a:ext>
            </a:extLst>
          </p:cNvPr>
          <p:cNvSpPr txBox="1"/>
          <p:nvPr/>
        </p:nvSpPr>
        <p:spPr>
          <a:xfrm>
            <a:off x="2560320" y="3833860"/>
            <a:ext cx="181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Belongs to Many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E8EA71-8F82-7CFB-6780-EB1958D42A1F}"/>
              </a:ext>
            </a:extLst>
          </p:cNvPr>
          <p:cNvSpPr txBox="1"/>
          <p:nvPr/>
        </p:nvSpPr>
        <p:spPr>
          <a:xfrm>
            <a:off x="2560320" y="5246346"/>
            <a:ext cx="181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Belongs to Many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5F54E4-053E-4027-F6BE-B8F432D3DCA1}"/>
              </a:ext>
            </a:extLst>
          </p:cNvPr>
          <p:cNvSpPr txBox="1"/>
          <p:nvPr/>
        </p:nvSpPr>
        <p:spPr>
          <a:xfrm>
            <a:off x="7566084" y="3833860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752619-905E-F726-1F1F-2CEE701D8A2C}"/>
              </a:ext>
            </a:extLst>
          </p:cNvPr>
          <p:cNvSpPr txBox="1"/>
          <p:nvPr/>
        </p:nvSpPr>
        <p:spPr>
          <a:xfrm>
            <a:off x="7566084" y="5246346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Many</a:t>
            </a:r>
          </a:p>
        </p:txBody>
      </p:sp>
    </p:spTree>
    <p:extLst>
      <p:ext uri="{BB962C8B-B14F-4D97-AF65-F5344CB8AC3E}">
        <p14:creationId xmlns:p14="http://schemas.microsoft.com/office/powerpoint/2010/main" val="4213727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DBE0-BCB9-AF8E-9399-AE83F26C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DCBC-EE50-AE6D-3727-509CCBD88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SQL</a:t>
            </a:r>
          </a:p>
          <a:p>
            <a:pPr lvl="1"/>
            <a:r>
              <a:rPr lang="en-US" dirty="0"/>
              <a:t>SQL uses strict data schemas and relations</a:t>
            </a:r>
          </a:p>
          <a:p>
            <a:pPr lvl="1"/>
            <a:r>
              <a:rPr lang="en-US" dirty="0"/>
              <a:t>You can connect your Node.js app via packages like mysql2</a:t>
            </a:r>
          </a:p>
          <a:p>
            <a:pPr lvl="1"/>
            <a:r>
              <a:rPr lang="en-US" dirty="0"/>
              <a:t>Writing SQL queries in not directly related to Node.js and something you have to learn in addition to Node.js</a:t>
            </a:r>
          </a:p>
          <a:p>
            <a:r>
              <a:rPr lang="en-US" dirty="0"/>
              <a:t>Sequelize</a:t>
            </a:r>
          </a:p>
          <a:p>
            <a:pPr lvl="1"/>
            <a:r>
              <a:rPr lang="en-US" dirty="0"/>
              <a:t>Instead of writing SQL queries manually, you can use packages(ORMs) like Sequelize to focus on the Node.js code and work with native JS objects</a:t>
            </a:r>
          </a:p>
          <a:p>
            <a:pPr lvl="1"/>
            <a:r>
              <a:rPr lang="en-US" dirty="0"/>
              <a:t>Sequelize allows you define models and interact with the database through them</a:t>
            </a:r>
          </a:p>
          <a:p>
            <a:pPr lvl="1"/>
            <a:r>
              <a:rPr lang="en-US" dirty="0"/>
              <a:t>You can also easily set up relations(“Associations”) and interact with your related models through them</a:t>
            </a:r>
          </a:p>
        </p:txBody>
      </p:sp>
    </p:spTree>
    <p:extLst>
      <p:ext uri="{BB962C8B-B14F-4D97-AF65-F5344CB8AC3E}">
        <p14:creationId xmlns:p14="http://schemas.microsoft.com/office/powerpoint/2010/main" val="24219903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1769-C5C1-AA84-7917-5313D3E1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Databases /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211BC-4E55-3418-7642-B3D44086A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Storing data in a different kind of database</a:t>
            </a:r>
          </a:p>
          <a:p>
            <a:endParaRPr lang="en-US" dirty="0"/>
          </a:p>
          <a:p>
            <a:r>
              <a:rPr lang="en-US" dirty="0"/>
              <a:t>What is MongoDB?</a:t>
            </a:r>
          </a:p>
          <a:p>
            <a:r>
              <a:rPr lang="en-US" dirty="0"/>
              <a:t>Using the MongoDB Driver in Node.js Apps</a:t>
            </a:r>
          </a:p>
          <a:p>
            <a:endParaRPr lang="en-US" dirty="0"/>
          </a:p>
          <a:p>
            <a:r>
              <a:rPr lang="en-US" dirty="0"/>
              <a:t>Because it can store lots and lots of data </a:t>
            </a:r>
          </a:p>
        </p:txBody>
      </p:sp>
    </p:spTree>
    <p:extLst>
      <p:ext uri="{BB962C8B-B14F-4D97-AF65-F5344CB8AC3E}">
        <p14:creationId xmlns:p14="http://schemas.microsoft.com/office/powerpoint/2010/main" val="2741913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4701-064F-7473-9919-F1E64195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EEB0-8274-D5E9-91E9-7BFE91FA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</a:t>
            </a:r>
          </a:p>
          <a:p>
            <a:pPr lvl="1"/>
            <a:r>
              <a:rPr lang="en-US" dirty="0"/>
              <a:t>Shop</a:t>
            </a:r>
          </a:p>
          <a:p>
            <a:r>
              <a:rPr lang="en-US" dirty="0"/>
              <a:t>Collections</a:t>
            </a:r>
          </a:p>
          <a:p>
            <a:pPr lvl="1"/>
            <a:r>
              <a:rPr lang="en-US" dirty="0"/>
              <a:t>Orders</a:t>
            </a:r>
          </a:p>
          <a:p>
            <a:pPr lvl="1"/>
            <a:r>
              <a:rPr lang="en-US" dirty="0"/>
              <a:t>Users</a:t>
            </a:r>
          </a:p>
          <a:p>
            <a:r>
              <a:rPr lang="en-US" dirty="0"/>
              <a:t>Documents</a:t>
            </a:r>
          </a:p>
          <a:p>
            <a:pPr lvl="1"/>
            <a:r>
              <a:rPr lang="en-US" dirty="0"/>
              <a:t>{name:’Max’,age:29}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name:’Ram</a:t>
            </a:r>
            <a:r>
              <a:rPr lang="en-US" dirty="0"/>
              <a:t>’}</a:t>
            </a:r>
          </a:p>
        </p:txBody>
      </p:sp>
    </p:spTree>
    <p:extLst>
      <p:ext uri="{BB962C8B-B14F-4D97-AF65-F5344CB8AC3E}">
        <p14:creationId xmlns:p14="http://schemas.microsoft.com/office/powerpoint/2010/main" val="41061464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578D-D91C-E3A9-4A6B-FB662D3A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JSON(BSON) Data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D482-E8E0-C922-EAE5-BED33988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en-US" dirty="0"/>
              <a:t>Installing the MongoDB Driver</a:t>
            </a:r>
          </a:p>
          <a:p>
            <a:r>
              <a:rPr lang="en-US" dirty="0"/>
              <a:t>Creating the Database Connection</a:t>
            </a:r>
          </a:p>
          <a:p>
            <a:r>
              <a:rPr lang="en-US" dirty="0"/>
              <a:t>Using the Database connection</a:t>
            </a:r>
          </a:p>
          <a:p>
            <a:r>
              <a:rPr lang="en-US" dirty="0"/>
              <a:t>Creating Products</a:t>
            </a:r>
          </a:p>
          <a:p>
            <a:r>
              <a:rPr lang="en-US" dirty="0"/>
              <a:t>Understanding the MongoDB Compass</a:t>
            </a:r>
          </a:p>
          <a:p>
            <a:r>
              <a:rPr lang="en-US" dirty="0"/>
              <a:t>Fetching all Products</a:t>
            </a:r>
          </a:p>
          <a:p>
            <a:r>
              <a:rPr lang="en-US" dirty="0"/>
              <a:t>Making the Edit &amp; delete Buttons work again</a:t>
            </a:r>
          </a:p>
          <a:p>
            <a:r>
              <a:rPr lang="en-US" dirty="0"/>
              <a:t>Working on the product model</a:t>
            </a:r>
          </a:p>
          <a:p>
            <a:r>
              <a:rPr lang="en-US" dirty="0"/>
              <a:t>Deleting Product</a:t>
            </a:r>
          </a:p>
          <a:p>
            <a:r>
              <a:rPr lang="en-US" dirty="0"/>
              <a:t>Creating New Users</a:t>
            </a:r>
          </a:p>
          <a:p>
            <a:r>
              <a:rPr lang="en-US" dirty="0"/>
              <a:t>Storing the user in our Database</a:t>
            </a:r>
          </a:p>
          <a:p>
            <a:r>
              <a:rPr lang="en-US" dirty="0"/>
              <a:t>Working on cart items &amp; orders</a:t>
            </a:r>
          </a:p>
          <a:p>
            <a:r>
              <a:rPr lang="en-US" dirty="0"/>
              <a:t>Storing Multiple Products in the Cart</a:t>
            </a:r>
          </a:p>
          <a:p>
            <a:r>
              <a:rPr lang="en-US" dirty="0"/>
              <a:t>Displaying the Cart items</a:t>
            </a:r>
          </a:p>
          <a:p>
            <a:r>
              <a:rPr lang="en-US" dirty="0"/>
              <a:t>Fixing a Bug</a:t>
            </a:r>
          </a:p>
          <a:p>
            <a:r>
              <a:rPr lang="en-US" dirty="0"/>
              <a:t>Deleting a Cart items</a:t>
            </a:r>
          </a:p>
          <a:p>
            <a:r>
              <a:rPr lang="en-US" dirty="0"/>
              <a:t>Adding an Order</a:t>
            </a:r>
          </a:p>
          <a:p>
            <a:r>
              <a:rPr lang="en-US" dirty="0"/>
              <a:t>Adding Relational Order Data</a:t>
            </a:r>
          </a:p>
          <a:p>
            <a:r>
              <a:rPr lang="en-US" dirty="0"/>
              <a:t>Getting Orders</a:t>
            </a:r>
          </a:p>
        </p:txBody>
      </p:sp>
    </p:spTree>
    <p:extLst>
      <p:ext uri="{BB962C8B-B14F-4D97-AF65-F5344CB8AC3E}">
        <p14:creationId xmlns:p14="http://schemas.microsoft.com/office/powerpoint/2010/main" val="3317667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47618-9647-737B-E800-C3297EB4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912"/>
            <a:ext cx="10515600" cy="5738051"/>
          </a:xfrm>
        </p:spPr>
        <p:txBody>
          <a:bodyPr/>
          <a:lstStyle/>
          <a:p>
            <a:r>
              <a:rPr lang="en-US" dirty="0"/>
              <a:t>NoSQL/MongoDB</a:t>
            </a:r>
          </a:p>
          <a:p>
            <a:pPr lvl="1"/>
            <a:r>
              <a:rPr lang="en-US" dirty="0"/>
              <a:t>Alternative to SQL databases</a:t>
            </a:r>
          </a:p>
          <a:p>
            <a:pPr lvl="1"/>
            <a:r>
              <a:rPr lang="en-US" dirty="0"/>
              <a:t>No strict schemas, fewer relations</a:t>
            </a:r>
          </a:p>
          <a:p>
            <a:pPr lvl="1"/>
            <a:r>
              <a:rPr lang="en-US" dirty="0"/>
              <a:t>You can of course use schemas and reference-based relations but you got more flexibility</a:t>
            </a:r>
          </a:p>
          <a:p>
            <a:pPr lvl="1"/>
            <a:r>
              <a:rPr lang="en-US" dirty="0"/>
              <a:t>Often, relations are also created by embedding other documents/data</a:t>
            </a:r>
          </a:p>
          <a:p>
            <a:r>
              <a:rPr lang="en-US" dirty="0"/>
              <a:t>Working with MongoDB</a:t>
            </a:r>
          </a:p>
          <a:p>
            <a:pPr lvl="1"/>
            <a:r>
              <a:rPr lang="en-US" dirty="0"/>
              <a:t>Use the official MongoDB driver</a:t>
            </a:r>
          </a:p>
          <a:p>
            <a:pPr lvl="1"/>
            <a:r>
              <a:rPr lang="en-US" dirty="0"/>
              <a:t>Commands like </a:t>
            </a:r>
            <a:r>
              <a:rPr lang="en-US" dirty="0" err="1"/>
              <a:t>insertOne</a:t>
            </a:r>
            <a:r>
              <a:rPr lang="en-US" dirty="0"/>
              <a:t>(), find(), </a:t>
            </a:r>
            <a:r>
              <a:rPr lang="en-US" dirty="0" err="1"/>
              <a:t>updateOne</a:t>
            </a:r>
            <a:r>
              <a:rPr lang="en-US" dirty="0"/>
              <a:t>() and </a:t>
            </a:r>
            <a:r>
              <a:rPr lang="en-US" dirty="0" err="1"/>
              <a:t>deleteOne</a:t>
            </a:r>
            <a:r>
              <a:rPr lang="en-US" dirty="0"/>
              <a:t>() make CRUD-Operations very simple</a:t>
            </a:r>
          </a:p>
          <a:p>
            <a:pPr lvl="1"/>
            <a:r>
              <a:rPr lang="en-US" dirty="0"/>
              <a:t>Check the official docs to learn about all available operations + configurations/operators</a:t>
            </a:r>
          </a:p>
          <a:p>
            <a:pPr lvl="1"/>
            <a:r>
              <a:rPr lang="en-US" dirty="0"/>
              <a:t>All operations are promise-based, hence you can easily chain them for more </a:t>
            </a:r>
            <a:r>
              <a:rPr lang="en-US"/>
              <a:t>complex flows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16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B4C7-0288-BC1E-60A1-1AB15093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12237-7E8C-EF68-36C5-3F30D834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en-US" dirty="0"/>
              <a:t>A Object-Document Mapping Library</a:t>
            </a:r>
          </a:p>
          <a:p>
            <a:r>
              <a:rPr lang="en-US" dirty="0"/>
              <a:t>Connecting to the MongoDB Server with Mongoose</a:t>
            </a:r>
          </a:p>
          <a:p>
            <a:r>
              <a:rPr lang="en-US" dirty="0"/>
              <a:t>Creating the Product Schema</a:t>
            </a:r>
          </a:p>
          <a:p>
            <a:r>
              <a:rPr lang="en-US" dirty="0"/>
              <a:t>Saving data through mongoose</a:t>
            </a:r>
          </a:p>
          <a:p>
            <a:r>
              <a:rPr lang="en-US" dirty="0"/>
              <a:t>Fetching All Product</a:t>
            </a:r>
          </a:p>
          <a:p>
            <a:r>
              <a:rPr lang="en-US" dirty="0"/>
              <a:t>Fetching a Single Product</a:t>
            </a:r>
          </a:p>
          <a:p>
            <a:r>
              <a:rPr lang="en-US" dirty="0"/>
              <a:t>Updating Products</a:t>
            </a:r>
          </a:p>
          <a:p>
            <a:r>
              <a:rPr lang="en-US" dirty="0"/>
              <a:t>Deleting Products</a:t>
            </a:r>
          </a:p>
          <a:p>
            <a:r>
              <a:rPr lang="en-US" dirty="0"/>
              <a:t>Adding and Using a User Model</a:t>
            </a:r>
          </a:p>
          <a:p>
            <a:r>
              <a:rPr lang="en-US" dirty="0"/>
              <a:t>Using Relations in Mongoose</a:t>
            </a:r>
          </a:p>
          <a:p>
            <a:r>
              <a:rPr lang="en-US" dirty="0"/>
              <a:t>Fetching Relation</a:t>
            </a:r>
          </a:p>
          <a:p>
            <a:r>
              <a:rPr lang="en-US" dirty="0"/>
              <a:t>Working on the Shopping Cart</a:t>
            </a:r>
          </a:p>
          <a:p>
            <a:r>
              <a:rPr lang="en-US" dirty="0"/>
              <a:t>Loading the Cart</a:t>
            </a:r>
          </a:p>
          <a:p>
            <a:r>
              <a:rPr lang="en-US" dirty="0"/>
              <a:t>Deleting Cart Items</a:t>
            </a:r>
          </a:p>
          <a:p>
            <a:r>
              <a:rPr lang="en-US" dirty="0"/>
              <a:t>Creating &amp; Getting Orders</a:t>
            </a:r>
          </a:p>
          <a:p>
            <a:r>
              <a:rPr lang="en-US" dirty="0"/>
              <a:t>Storing All order Related Data</a:t>
            </a:r>
          </a:p>
          <a:p>
            <a:r>
              <a:rPr lang="en-US" dirty="0"/>
              <a:t>Clearing the Cart After Storing an Order</a:t>
            </a:r>
          </a:p>
        </p:txBody>
      </p:sp>
    </p:spTree>
    <p:extLst>
      <p:ext uri="{BB962C8B-B14F-4D97-AF65-F5344CB8AC3E}">
        <p14:creationId xmlns:p14="http://schemas.microsoft.com/office/powerpoint/2010/main" val="38858377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AC2B-4471-4240-67B7-CB39A529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&amp; Cookies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B5FB-C848-5DF6-59F9-10590375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Cookies?</a:t>
            </a:r>
          </a:p>
          <a:p>
            <a:r>
              <a:rPr lang="en-US" dirty="0"/>
              <a:t>What are Sessions?</a:t>
            </a:r>
          </a:p>
          <a:p>
            <a:r>
              <a:rPr lang="en-US" dirty="0"/>
              <a:t>Using Session &amp; Cookies?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22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3E25-4C5B-3C05-800F-25AC51FF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2D8F22-3D28-2DF0-6531-67F0A1ED59F4}"/>
              </a:ext>
            </a:extLst>
          </p:cNvPr>
          <p:cNvSpPr/>
          <p:nvPr/>
        </p:nvSpPr>
        <p:spPr>
          <a:xfrm>
            <a:off x="4321629" y="587829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B21F2-5781-4C72-F4E6-8B4CC2C24332}"/>
              </a:ext>
            </a:extLst>
          </p:cNvPr>
          <p:cNvSpPr/>
          <p:nvPr/>
        </p:nvSpPr>
        <p:spPr>
          <a:xfrm>
            <a:off x="4321627" y="2118802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FrontEnd</a:t>
            </a:r>
            <a:r>
              <a:rPr lang="en-US" dirty="0"/>
              <a:t> (Views)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2B8DDE-5664-1C35-2B07-AA629C105147}"/>
              </a:ext>
            </a:extLst>
          </p:cNvPr>
          <p:cNvSpPr/>
          <p:nvPr/>
        </p:nvSpPr>
        <p:spPr>
          <a:xfrm>
            <a:off x="4321628" y="3983832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(Node App)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7F5E0A9-F9E4-0391-ED80-668D3F35542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5063813" y="1712543"/>
            <a:ext cx="812516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C79F0BA-A461-9077-349D-5EF33483108E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16200000" flipH="1">
            <a:off x="4896784" y="3410544"/>
            <a:ext cx="114657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3B3F8F-1DC7-7F09-DCDC-93E972CE97D5}"/>
              </a:ext>
            </a:extLst>
          </p:cNvPr>
          <p:cNvSpPr txBox="1"/>
          <p:nvPr/>
        </p:nvSpPr>
        <p:spPr>
          <a:xfrm>
            <a:off x="3766457" y="3429000"/>
            <a:ext cx="101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F510B-C385-636E-C6C0-5D8662672145}"/>
              </a:ext>
            </a:extLst>
          </p:cNvPr>
          <p:cNvSpPr txBox="1"/>
          <p:nvPr/>
        </p:nvSpPr>
        <p:spPr>
          <a:xfrm>
            <a:off x="5834742" y="342900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Includes Cookies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0F118-B727-12F3-B7E8-DFA3E4D8060C}"/>
              </a:ext>
            </a:extLst>
          </p:cNvPr>
          <p:cNvSpPr/>
          <p:nvPr/>
        </p:nvSpPr>
        <p:spPr>
          <a:xfrm>
            <a:off x="8077199" y="2189390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Cookie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DE11782-A359-2D5A-103E-BA61AC9997A4}"/>
              </a:ext>
            </a:extLst>
          </p:cNvPr>
          <p:cNvCxnSpPr>
            <a:stCxn id="5" idx="3"/>
            <a:endCxn id="14" idx="1"/>
          </p:cNvCxnSpPr>
          <p:nvPr/>
        </p:nvCxnSpPr>
        <p:spPr>
          <a:xfrm>
            <a:off x="6618512" y="2478031"/>
            <a:ext cx="1458687" cy="705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5B555A0-2745-B513-08FD-CCDEF49FF496}"/>
              </a:ext>
            </a:extLst>
          </p:cNvPr>
          <p:cNvCxnSpPr>
            <a:stCxn id="6" idx="3"/>
            <a:endCxn id="14" idx="2"/>
          </p:cNvCxnSpPr>
          <p:nvPr/>
        </p:nvCxnSpPr>
        <p:spPr>
          <a:xfrm flipV="1">
            <a:off x="6618513" y="2907847"/>
            <a:ext cx="2607129" cy="14352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B334225-E1E6-0A62-4E79-1975397BECDC}"/>
              </a:ext>
            </a:extLst>
          </p:cNvPr>
          <p:cNvSpPr txBox="1"/>
          <p:nvPr/>
        </p:nvSpPr>
        <p:spPr>
          <a:xfrm>
            <a:off x="7478482" y="4332957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 Header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E03EBB-6D09-3173-EF98-AC92000AEA47}"/>
              </a:ext>
            </a:extLst>
          </p:cNvPr>
          <p:cNvSpPr txBox="1"/>
          <p:nvPr/>
        </p:nvSpPr>
        <p:spPr>
          <a:xfrm>
            <a:off x="8088083" y="1433054"/>
            <a:ext cx="292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Cookies are stored on the client-side</a:t>
            </a:r>
          </a:p>
        </p:txBody>
      </p:sp>
    </p:spTree>
    <p:extLst>
      <p:ext uri="{BB962C8B-B14F-4D97-AF65-F5344CB8AC3E}">
        <p14:creationId xmlns:p14="http://schemas.microsoft.com/office/powerpoint/2010/main" val="4194185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4E20-6891-DC39-BD77-5422A3D0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C4F1D-B57E-5088-3954-51790BD7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the Request Driven Login Solution</a:t>
            </a:r>
          </a:p>
          <a:p>
            <a:r>
              <a:rPr lang="en-US" dirty="0"/>
              <a:t>Setting a Cookie</a:t>
            </a:r>
          </a:p>
          <a:p>
            <a:r>
              <a:rPr lang="en-US" dirty="0"/>
              <a:t>Manipulating Cookies</a:t>
            </a:r>
          </a:p>
          <a:p>
            <a:r>
              <a:rPr lang="en-US" dirty="0"/>
              <a:t>Configuring Cookies</a:t>
            </a:r>
          </a:p>
        </p:txBody>
      </p:sp>
    </p:spTree>
    <p:extLst>
      <p:ext uri="{BB962C8B-B14F-4D97-AF65-F5344CB8AC3E}">
        <p14:creationId xmlns:p14="http://schemas.microsoft.com/office/powerpoint/2010/main" val="2199180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3857-B8E1-838C-545F-79B5063C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3FDBC-122F-90B3-84FC-C70E316D012B}"/>
              </a:ext>
            </a:extLst>
          </p:cNvPr>
          <p:cNvSpPr/>
          <p:nvPr/>
        </p:nvSpPr>
        <p:spPr>
          <a:xfrm>
            <a:off x="3609248" y="1523494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D1B07-E0DA-720C-253B-350FEE9217FC}"/>
              </a:ext>
            </a:extLst>
          </p:cNvPr>
          <p:cNvSpPr/>
          <p:nvPr/>
        </p:nvSpPr>
        <p:spPr>
          <a:xfrm>
            <a:off x="3609246" y="3054467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FrontEnd</a:t>
            </a:r>
            <a:r>
              <a:rPr lang="en-US" b="1" dirty="0"/>
              <a:t> (Views)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497810-F5D5-9591-8CCE-F12C09527B6F}"/>
              </a:ext>
            </a:extLst>
          </p:cNvPr>
          <p:cNvSpPr/>
          <p:nvPr/>
        </p:nvSpPr>
        <p:spPr>
          <a:xfrm>
            <a:off x="3609247" y="4919497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Server (Node App)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77CA0F5F-12F1-86E1-5D28-909F2094363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351432" y="2648208"/>
            <a:ext cx="812516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18741003-FA61-262C-7E71-3F2C6759B819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16200000" flipH="1">
            <a:off x="4184403" y="4346209"/>
            <a:ext cx="114657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FA7DFB-8FF7-745C-4B67-19C929162854}"/>
              </a:ext>
            </a:extLst>
          </p:cNvPr>
          <p:cNvSpPr txBox="1"/>
          <p:nvPr/>
        </p:nvSpPr>
        <p:spPr>
          <a:xfrm>
            <a:off x="3054076" y="4364665"/>
            <a:ext cx="105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0504FB-EE53-17EF-BD60-1F6B9CD500BF}"/>
              </a:ext>
            </a:extLst>
          </p:cNvPr>
          <p:cNvSpPr txBox="1"/>
          <p:nvPr/>
        </p:nvSpPr>
        <p:spPr>
          <a:xfrm>
            <a:off x="5451754" y="4289668"/>
            <a:ext cx="2296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Sessions are stored on the server-side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1B4AF5-2E29-BBBD-B25C-0BD85F914055}"/>
              </a:ext>
            </a:extLst>
          </p:cNvPr>
          <p:cNvSpPr/>
          <p:nvPr/>
        </p:nvSpPr>
        <p:spPr>
          <a:xfrm>
            <a:off x="7364818" y="3125055"/>
            <a:ext cx="2296885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Cookie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94A36F4-05CA-2DCC-15AF-9C4C94551F35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5906131" y="3413696"/>
            <a:ext cx="1458687" cy="705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2EB1F83-9306-A486-F837-E06EEE86DDF3}"/>
              </a:ext>
            </a:extLst>
          </p:cNvPr>
          <p:cNvCxnSpPr>
            <a:stCxn id="6" idx="3"/>
            <a:endCxn id="11" idx="2"/>
          </p:cNvCxnSpPr>
          <p:nvPr/>
        </p:nvCxnSpPr>
        <p:spPr>
          <a:xfrm flipV="1">
            <a:off x="5906132" y="3843512"/>
            <a:ext cx="2607129" cy="14352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3D1BF9-C608-7D7B-B3D5-1D1E58A2033F}"/>
              </a:ext>
            </a:extLst>
          </p:cNvPr>
          <p:cNvSpPr txBox="1"/>
          <p:nvPr/>
        </p:nvSpPr>
        <p:spPr>
          <a:xfrm>
            <a:off x="6766101" y="5268622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Response Header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72AB3-5C54-AC74-1313-ED510CC7E6FE}"/>
              </a:ext>
            </a:extLst>
          </p:cNvPr>
          <p:cNvSpPr txBox="1"/>
          <p:nvPr/>
        </p:nvSpPr>
        <p:spPr>
          <a:xfrm>
            <a:off x="7375702" y="2368719"/>
            <a:ext cx="292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Cookies are stored on the client-side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D904A3-FBD5-7452-86D5-B91789F41F36}"/>
              </a:ext>
            </a:extLst>
          </p:cNvPr>
          <p:cNvSpPr/>
          <p:nvPr/>
        </p:nvSpPr>
        <p:spPr>
          <a:xfrm>
            <a:off x="7521395" y="4677017"/>
            <a:ext cx="2636874" cy="648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Session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EC9A4C-99A2-F314-0E54-2B77E3A5D0A1}"/>
              </a:ext>
            </a:extLst>
          </p:cNvPr>
          <p:cNvSpPr/>
          <p:nvPr/>
        </p:nvSpPr>
        <p:spPr>
          <a:xfrm>
            <a:off x="3609246" y="6262577"/>
            <a:ext cx="2132335" cy="489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B5B5B36-A25D-8267-684F-E5FE822822FC}"/>
              </a:ext>
            </a:extLst>
          </p:cNvPr>
          <p:cNvCxnSpPr>
            <a:stCxn id="6" idx="2"/>
            <a:endCxn id="17" idx="0"/>
          </p:cNvCxnSpPr>
          <p:nvPr/>
        </p:nvCxnSpPr>
        <p:spPr>
          <a:xfrm rot="5400000">
            <a:off x="4404241" y="5909127"/>
            <a:ext cx="624623" cy="822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7B2037E-3806-B655-9400-85BC6AEAF62E}"/>
              </a:ext>
            </a:extLst>
          </p:cNvPr>
          <p:cNvCxnSpPr>
            <a:stCxn id="16" idx="2"/>
            <a:endCxn id="17" idx="3"/>
          </p:cNvCxnSpPr>
          <p:nvPr/>
        </p:nvCxnSpPr>
        <p:spPr>
          <a:xfrm rot="5400000">
            <a:off x="6699946" y="4367239"/>
            <a:ext cx="1181523" cy="30982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4501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8299-4863-5EA1-F0EC-B306ED6C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34DC-4177-35FC-D95B-DA3EE557B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Initializing the Session Middleware</a:t>
            </a:r>
          </a:p>
          <a:p>
            <a:r>
              <a:rPr lang="en-US" dirty="0"/>
              <a:t>Using MongoDB to store Sessions</a:t>
            </a:r>
          </a:p>
          <a:p>
            <a:r>
              <a:rPr lang="en-US" dirty="0"/>
              <a:t>Deleting a Cookie</a:t>
            </a:r>
          </a:p>
        </p:txBody>
      </p:sp>
    </p:spTree>
    <p:extLst>
      <p:ext uri="{BB962C8B-B14F-4D97-AF65-F5344CB8AC3E}">
        <p14:creationId xmlns:p14="http://schemas.microsoft.com/office/powerpoint/2010/main" val="1760675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A8DC-794E-5304-7022-B34B7B55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37" y="255181"/>
            <a:ext cx="10949763" cy="59217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Cookies</a:t>
            </a:r>
          </a:p>
          <a:p>
            <a:r>
              <a:rPr lang="en-US" dirty="0"/>
              <a:t>Great for storing data on the client (browser)</a:t>
            </a:r>
          </a:p>
          <a:p>
            <a:r>
              <a:rPr lang="en-US" dirty="0"/>
              <a:t>Do NOT store sensitive data here! It can be </a:t>
            </a:r>
            <a:r>
              <a:rPr lang="en-US" dirty="0" err="1"/>
              <a:t>viewed+manipulated</a:t>
            </a:r>
            <a:endParaRPr lang="en-US" dirty="0"/>
          </a:p>
          <a:p>
            <a:r>
              <a:rPr lang="en-US" dirty="0"/>
              <a:t>Cookies can be configured to expire when the browser is closed or when a certain date is reached</a:t>
            </a:r>
          </a:p>
          <a:p>
            <a:r>
              <a:rPr lang="en-US" dirty="0"/>
              <a:t>Works well together with Sessions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Sessions</a:t>
            </a:r>
          </a:p>
          <a:p>
            <a:r>
              <a:rPr lang="en-US" dirty="0"/>
              <a:t>Stored on the server, NOT on the client</a:t>
            </a:r>
          </a:p>
          <a:p>
            <a:r>
              <a:rPr lang="en-US" dirty="0"/>
              <a:t>Great for storing sensitive data that should survive across requests</a:t>
            </a:r>
          </a:p>
          <a:p>
            <a:r>
              <a:rPr lang="en-US" dirty="0"/>
              <a:t>You can store ANYTHING in sessions</a:t>
            </a:r>
          </a:p>
          <a:p>
            <a:r>
              <a:rPr lang="en-US" dirty="0"/>
              <a:t>Often used for storing user data/ authentication status</a:t>
            </a:r>
          </a:p>
          <a:p>
            <a:r>
              <a:rPr lang="en-US" dirty="0"/>
              <a:t>Identified via Cookie </a:t>
            </a:r>
          </a:p>
          <a:p>
            <a:r>
              <a:rPr lang="en-US" dirty="0"/>
              <a:t>You can use different storages for saving your sessions on the server</a:t>
            </a:r>
          </a:p>
        </p:txBody>
      </p:sp>
    </p:spTree>
    <p:extLst>
      <p:ext uri="{BB962C8B-B14F-4D97-AF65-F5344CB8AC3E}">
        <p14:creationId xmlns:p14="http://schemas.microsoft.com/office/powerpoint/2010/main" val="17722185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07D1-A557-35FF-7698-00F907C2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Authentication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829C2A-AC4C-1BD7-2263-4BC2AC1A9A0D}"/>
              </a:ext>
            </a:extLst>
          </p:cNvPr>
          <p:cNvSpPr/>
          <p:nvPr/>
        </p:nvSpPr>
        <p:spPr>
          <a:xfrm>
            <a:off x="4061637" y="1403498"/>
            <a:ext cx="2456121" cy="9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31EFF-4404-325E-821D-2209C756E62A}"/>
              </a:ext>
            </a:extLst>
          </p:cNvPr>
          <p:cNvSpPr/>
          <p:nvPr/>
        </p:nvSpPr>
        <p:spPr>
          <a:xfrm>
            <a:off x="1205023" y="2934586"/>
            <a:ext cx="2456121" cy="9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all products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964C2-02A4-6482-B3F3-17DDDB0D841C}"/>
              </a:ext>
            </a:extLst>
          </p:cNvPr>
          <p:cNvSpPr/>
          <p:nvPr/>
        </p:nvSpPr>
        <p:spPr>
          <a:xfrm>
            <a:off x="4867939" y="2955851"/>
            <a:ext cx="2456121" cy="9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&amp; Manage Products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6C3D19-540C-7319-8700-769D9DDEFB66}"/>
              </a:ext>
            </a:extLst>
          </p:cNvPr>
          <p:cNvSpPr/>
          <p:nvPr/>
        </p:nvSpPr>
        <p:spPr>
          <a:xfrm>
            <a:off x="8530855" y="2955851"/>
            <a:ext cx="2456121" cy="9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 Orders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39337-4E36-53C2-DA25-1132011AF8A3}"/>
              </a:ext>
            </a:extLst>
          </p:cNvPr>
          <p:cNvSpPr/>
          <p:nvPr/>
        </p:nvSpPr>
        <p:spPr>
          <a:xfrm>
            <a:off x="3863162" y="4508204"/>
            <a:ext cx="2456121" cy="9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0539E-BA0A-99E3-A013-37F6243D1CDD}"/>
              </a:ext>
            </a:extLst>
          </p:cNvPr>
          <p:cNvSpPr/>
          <p:nvPr/>
        </p:nvSpPr>
        <p:spPr>
          <a:xfrm>
            <a:off x="3781646" y="5773367"/>
            <a:ext cx="2456121" cy="9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7E5BC40-2C06-B5B9-EAED-F8F43B3ADEDE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3590261" y="1235149"/>
            <a:ext cx="542260" cy="28566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E5FBA3B2-E674-FE36-FF98-2F9A0BE4675D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16200000" flipH="1">
            <a:off x="5411087" y="2270937"/>
            <a:ext cx="563525" cy="8063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B49207E-9F09-FC90-35E1-78257B9DDF53}"/>
              </a:ext>
            </a:extLst>
          </p:cNvPr>
          <p:cNvCxnSpPr>
            <a:stCxn id="3" idx="2"/>
            <a:endCxn id="6" idx="0"/>
          </p:cNvCxnSpPr>
          <p:nvPr/>
        </p:nvCxnSpPr>
        <p:spPr>
          <a:xfrm rot="16200000" flipH="1">
            <a:off x="7242545" y="439479"/>
            <a:ext cx="563525" cy="44692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6DC3B6E-38D2-F923-600A-33F22C48FDA9}"/>
              </a:ext>
            </a:extLst>
          </p:cNvPr>
          <p:cNvSpPr/>
          <p:nvPr/>
        </p:nvSpPr>
        <p:spPr>
          <a:xfrm>
            <a:off x="4582633" y="2551814"/>
            <a:ext cx="6847367" cy="181816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D0D7B-FFFA-A89E-F51D-49FFB4BFC7FD}"/>
              </a:ext>
            </a:extLst>
          </p:cNvPr>
          <p:cNvSpPr txBox="1"/>
          <p:nvPr/>
        </p:nvSpPr>
        <p:spPr>
          <a:xfrm>
            <a:off x="1350335" y="4125433"/>
            <a:ext cx="175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to anyone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BCA3E-C9E5-F02E-8EE5-6D9734A0A934}"/>
              </a:ext>
            </a:extLst>
          </p:cNvPr>
          <p:cNvSpPr txBox="1"/>
          <p:nvPr/>
        </p:nvSpPr>
        <p:spPr>
          <a:xfrm>
            <a:off x="7021033" y="3972664"/>
            <a:ext cx="3397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available to logged-in users</a:t>
            </a:r>
          </a:p>
        </p:txBody>
      </p:sp>
    </p:spTree>
    <p:extLst>
      <p:ext uri="{BB962C8B-B14F-4D97-AF65-F5344CB8AC3E}">
        <p14:creationId xmlns:p14="http://schemas.microsoft.com/office/powerpoint/2010/main" val="35011834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6396-AFF1-B870-465F-6268D6EC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BD8F-2C5E-5D39-A133-C396E9C6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an Authentication Flow</a:t>
            </a:r>
          </a:p>
          <a:p>
            <a:r>
              <a:rPr lang="en-US" dirty="0"/>
              <a:t>Working on Route Protection</a:t>
            </a:r>
          </a:p>
          <a:p>
            <a:r>
              <a:rPr lang="en-US" dirty="0"/>
              <a:t>Using Middleware to Protect routes</a:t>
            </a:r>
          </a:p>
          <a:p>
            <a:r>
              <a:rPr lang="en-US" dirty="0"/>
              <a:t>CSRF Attacks – Cross-Site Request Forgery</a:t>
            </a:r>
          </a:p>
          <a:p>
            <a:r>
              <a:rPr lang="en-US" dirty="0" err="1"/>
              <a:t>Airtel.com</a:t>
            </a:r>
            <a:r>
              <a:rPr lang="en-US" dirty="0"/>
              <a:t> </a:t>
            </a:r>
            <a:r>
              <a:rPr lang="en-US" dirty="0" err="1"/>
              <a:t>Aiitel.com</a:t>
            </a:r>
            <a:r>
              <a:rPr lang="en-US" dirty="0"/>
              <a:t> (send money to C)</a:t>
            </a:r>
          </a:p>
          <a:p>
            <a:r>
              <a:rPr lang="en-US" dirty="0"/>
              <a:t>Fixing Order Button</a:t>
            </a:r>
          </a:p>
          <a:p>
            <a:r>
              <a:rPr lang="en-US" dirty="0"/>
              <a:t>Providing user Feedback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092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7B49-C1A4-2445-2122-51CE02CB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51465-F8BD-9353-5C02-ABA927E9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Authentication</a:t>
            </a:r>
          </a:p>
          <a:p>
            <a:pPr lvl="1"/>
            <a:r>
              <a:rPr lang="en-US" dirty="0"/>
              <a:t>Means that not every visitor f the page can view and interact with everything</a:t>
            </a:r>
          </a:p>
          <a:p>
            <a:pPr lvl="1"/>
            <a:r>
              <a:rPr lang="en-US" dirty="0"/>
              <a:t>Has to happen on the server-side and builds up on sessions</a:t>
            </a:r>
          </a:p>
          <a:p>
            <a:pPr lvl="1"/>
            <a:r>
              <a:rPr lang="en-US" dirty="0"/>
              <a:t>You can protect routes by checking the (session-controlled) login status right before you access a controller action</a:t>
            </a:r>
          </a:p>
          <a:p>
            <a:r>
              <a:rPr lang="en-US" dirty="0"/>
              <a:t>Security &amp; UX</a:t>
            </a:r>
          </a:p>
          <a:p>
            <a:pPr lvl="1"/>
            <a:r>
              <a:rPr lang="en-US" dirty="0"/>
              <a:t>Password should be stored in a hashed form</a:t>
            </a:r>
          </a:p>
          <a:p>
            <a:pPr lvl="1"/>
            <a:r>
              <a:rPr lang="en-US" dirty="0"/>
              <a:t>CSRF attacks are a real issue and you should therefore include CSRF protection in ANY application you build</a:t>
            </a:r>
          </a:p>
          <a:p>
            <a:pPr lvl="1"/>
            <a:r>
              <a:rPr lang="en-US" dirty="0"/>
              <a:t>For a better user experience, you can flash data/messages into the </a:t>
            </a:r>
            <a:r>
              <a:rPr lang="en-US"/>
              <a:t>session which you </a:t>
            </a:r>
            <a:r>
              <a:rPr lang="en-US" dirty="0"/>
              <a:t>then can display in your views.</a:t>
            </a:r>
          </a:p>
        </p:txBody>
      </p:sp>
    </p:spTree>
    <p:extLst>
      <p:ext uri="{BB962C8B-B14F-4D97-AF65-F5344CB8AC3E}">
        <p14:creationId xmlns:p14="http://schemas.microsoft.com/office/powerpoint/2010/main" val="3680482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9284-9788-5E7F-8AA9-38A99680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Authentication &amp;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D4787-9C09-4EF3-1377-17FCAAF51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Resetting Password</a:t>
            </a:r>
          </a:p>
          <a:p>
            <a:r>
              <a:rPr lang="en-US" dirty="0"/>
              <a:t>Implementing the token Logic</a:t>
            </a:r>
          </a:p>
          <a:p>
            <a:r>
              <a:rPr lang="en-US" dirty="0"/>
              <a:t>Creating the Token</a:t>
            </a:r>
          </a:p>
          <a:p>
            <a:r>
              <a:rPr lang="en-US" dirty="0"/>
              <a:t>Adding Logic to Update the Password</a:t>
            </a:r>
          </a:p>
          <a:p>
            <a:r>
              <a:rPr lang="en-US" dirty="0"/>
              <a:t>Adding Authorization</a:t>
            </a:r>
          </a:p>
        </p:txBody>
      </p:sp>
    </p:spTree>
    <p:extLst>
      <p:ext uri="{BB962C8B-B14F-4D97-AF65-F5344CB8AC3E}">
        <p14:creationId xmlns:p14="http://schemas.microsoft.com/office/powerpoint/2010/main" val="37569353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1906-0BA2-E095-CBD4-40136A9B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DE17-B46C-F1F6-C828-073976A95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Password Resetting</a:t>
            </a:r>
          </a:p>
          <a:p>
            <a:pPr lvl="1"/>
            <a:r>
              <a:rPr lang="en-US" dirty="0"/>
              <a:t>Has to be implemented in a way that prevents users from resetting random user accounts</a:t>
            </a:r>
          </a:p>
          <a:p>
            <a:pPr lvl="1"/>
            <a:r>
              <a:rPr lang="en-US" dirty="0"/>
              <a:t>Reset tokens have to be random unguessable and unique</a:t>
            </a:r>
          </a:p>
          <a:p>
            <a:r>
              <a:rPr lang="en-US" dirty="0"/>
              <a:t>Authorization</a:t>
            </a:r>
          </a:p>
          <a:p>
            <a:pPr lvl="1"/>
            <a:r>
              <a:rPr lang="en-US" dirty="0"/>
              <a:t>An important part of pretty much every app</a:t>
            </a:r>
          </a:p>
          <a:p>
            <a:pPr lvl="1"/>
            <a:r>
              <a:rPr lang="en-US" dirty="0"/>
              <a:t>Not every authenticated user should be able to do everything</a:t>
            </a:r>
          </a:p>
          <a:p>
            <a:pPr lvl="1"/>
            <a:r>
              <a:rPr lang="en-US" dirty="0"/>
              <a:t>You want to lock down access be restricting the permissions of your users</a:t>
            </a:r>
          </a:p>
        </p:txBody>
      </p:sp>
    </p:spTree>
    <p:extLst>
      <p:ext uri="{BB962C8B-B14F-4D97-AF65-F5344CB8AC3E}">
        <p14:creationId xmlns:p14="http://schemas.microsoft.com/office/powerpoint/2010/main" val="29062437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F4F9-2FCF-EE67-21B4-64DF3F51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Forms, User Input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D81AC-CAA2-DE63-18F6-049A9E34A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Setup &amp; Basic Validation</a:t>
            </a:r>
          </a:p>
          <a:p>
            <a:r>
              <a:rPr lang="en-US" dirty="0"/>
              <a:t>Using Validation Error Messages</a:t>
            </a:r>
          </a:p>
          <a:p>
            <a:r>
              <a:rPr lang="en-US" dirty="0"/>
              <a:t>Built-In &amp; Custom Validators</a:t>
            </a:r>
          </a:p>
          <a:p>
            <a:r>
              <a:rPr lang="en-US" dirty="0"/>
              <a:t>More Validators</a:t>
            </a:r>
          </a:p>
          <a:p>
            <a:r>
              <a:rPr lang="en-US" dirty="0"/>
              <a:t>Checking for field equality</a:t>
            </a:r>
          </a:p>
          <a:p>
            <a:r>
              <a:rPr lang="en-US" dirty="0"/>
              <a:t>Adding async Validation</a:t>
            </a:r>
          </a:p>
          <a:p>
            <a:r>
              <a:rPr lang="en-US" dirty="0"/>
              <a:t>Keeping User Input</a:t>
            </a:r>
          </a:p>
          <a:p>
            <a:r>
              <a:rPr lang="en-US" dirty="0"/>
              <a:t>Adding Conditional CSS classes</a:t>
            </a:r>
          </a:p>
          <a:p>
            <a:r>
              <a:rPr lang="en-IN" dirty="0"/>
              <a:t>Sanitizers</a:t>
            </a:r>
          </a:p>
          <a:p>
            <a:r>
              <a:rPr lang="en-IN" dirty="0"/>
              <a:t>Validating Product Addition</a:t>
            </a:r>
          </a:p>
          <a:p>
            <a:r>
              <a:rPr lang="en-IN" dirty="0"/>
              <a:t>Validation Edit Addition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985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A072-334A-644B-BC33-D3A60FFD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8556-4B36-3FBD-53E6-2B7AFDECC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Technical/ Network Errors</a:t>
            </a:r>
          </a:p>
          <a:p>
            <a:pPr lvl="1"/>
            <a:r>
              <a:rPr lang="en-US" dirty="0"/>
              <a:t>E.g. : database server(MongoDB) is down.</a:t>
            </a:r>
          </a:p>
          <a:p>
            <a:pPr lvl="1"/>
            <a:r>
              <a:rPr lang="en-US" dirty="0"/>
              <a:t>Show error page to user</a:t>
            </a:r>
          </a:p>
          <a:p>
            <a:r>
              <a:rPr lang="en-US" dirty="0"/>
              <a:t>“Expected” Errors</a:t>
            </a:r>
          </a:p>
          <a:p>
            <a:pPr lvl="1"/>
            <a:r>
              <a:rPr lang="en-US" dirty="0"/>
              <a:t>E.g. : File can’t be read, database operation fails</a:t>
            </a:r>
          </a:p>
          <a:p>
            <a:pPr lvl="1"/>
            <a:r>
              <a:rPr lang="en-US" dirty="0"/>
              <a:t>Inform user, possibly retry</a:t>
            </a:r>
          </a:p>
          <a:p>
            <a:r>
              <a:rPr lang="en-US" dirty="0"/>
              <a:t>Bugs/Logical Errors</a:t>
            </a:r>
          </a:p>
          <a:p>
            <a:pPr lvl="1"/>
            <a:r>
              <a:rPr lang="en-US" dirty="0"/>
              <a:t>E.g.: User object used when it doesn’t exist</a:t>
            </a:r>
          </a:p>
          <a:p>
            <a:pPr lvl="1"/>
            <a:r>
              <a:rPr lang="en-US" dirty="0"/>
              <a:t>Fix during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28697601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C9F4-8AC0-C585-13A8-C2E64421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749136" cy="518102"/>
          </a:xfrm>
        </p:spPr>
        <p:txBody>
          <a:bodyPr>
            <a:normAutofit fontScale="90000"/>
          </a:bodyPr>
          <a:lstStyle/>
          <a:p>
            <a:r>
              <a:rPr lang="en-US" dirty="0"/>
              <a:t>Errors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EE036B-CE5E-68D3-D58F-AF0461065621}"/>
              </a:ext>
            </a:extLst>
          </p:cNvPr>
          <p:cNvSpPr/>
          <p:nvPr/>
        </p:nvSpPr>
        <p:spPr>
          <a:xfrm>
            <a:off x="519545" y="1111827"/>
            <a:ext cx="49045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 is thrown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99185-024F-90A5-D153-733DBD5B3FF4}"/>
              </a:ext>
            </a:extLst>
          </p:cNvPr>
          <p:cNvSpPr/>
          <p:nvPr/>
        </p:nvSpPr>
        <p:spPr>
          <a:xfrm>
            <a:off x="6553200" y="1111827"/>
            <a:ext cx="49045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error is thrown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84034-B3DC-2B5A-9DD8-6583DB35545D}"/>
              </a:ext>
            </a:extLst>
          </p:cNvPr>
          <p:cNvSpPr/>
          <p:nvPr/>
        </p:nvSpPr>
        <p:spPr>
          <a:xfrm>
            <a:off x="519545" y="2545772"/>
            <a:ext cx="21613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Synchronous Code:</a:t>
            </a:r>
          </a:p>
          <a:p>
            <a:pPr algn="ctr"/>
            <a:r>
              <a:rPr lang="en-US" dirty="0"/>
              <a:t>Try-catch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6599C2-5FD3-4984-669D-7D8D971F2631}"/>
              </a:ext>
            </a:extLst>
          </p:cNvPr>
          <p:cNvSpPr/>
          <p:nvPr/>
        </p:nvSpPr>
        <p:spPr>
          <a:xfrm>
            <a:off x="3096491" y="2545772"/>
            <a:ext cx="2327564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Asynchronous Code:</a:t>
            </a:r>
          </a:p>
          <a:p>
            <a:pPr algn="ctr"/>
            <a:r>
              <a:rPr lang="en-US" dirty="0"/>
              <a:t>Then()-catch()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653E3C7-C998-28DB-AA54-35EFBF56F2A5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010642" y="1584613"/>
            <a:ext cx="550717" cy="13716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6302D63-B5DC-037A-401B-95437F171EC8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3340678" y="1626176"/>
            <a:ext cx="550717" cy="12884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2DEB253-753C-9E65-955F-845EE7DD8BE5}"/>
              </a:ext>
            </a:extLst>
          </p:cNvPr>
          <p:cNvSpPr/>
          <p:nvPr/>
        </p:nvSpPr>
        <p:spPr>
          <a:xfrm>
            <a:off x="519545" y="3782291"/>
            <a:ext cx="5119256" cy="290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3F5EE-F38B-B4DD-43DB-FD80C7C7727A}"/>
              </a:ext>
            </a:extLst>
          </p:cNvPr>
          <p:cNvSpPr/>
          <p:nvPr/>
        </p:nvSpPr>
        <p:spPr>
          <a:xfrm>
            <a:off x="519545" y="4537363"/>
            <a:ext cx="21613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Directly handle error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3683F6-1E9D-7434-72AD-A2173B60CAA1}"/>
              </a:ext>
            </a:extLst>
          </p:cNvPr>
          <p:cNvSpPr/>
          <p:nvPr/>
        </p:nvSpPr>
        <p:spPr>
          <a:xfrm>
            <a:off x="3262745" y="4537363"/>
            <a:ext cx="21613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Express error handling function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4BC178C-C4F7-EE69-B7F6-279E1E105ED1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rot="16200000" flipH="1">
            <a:off x="2163041" y="2866158"/>
            <a:ext cx="353291" cy="14789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2A11612-5CB8-3BF5-8BD9-91473C67A457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5400000">
            <a:off x="3493078" y="3015095"/>
            <a:ext cx="353291" cy="11811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0ACA801-C423-FA2B-CCE2-78F8AD1D40F7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2107624" y="3565813"/>
            <a:ext cx="464127" cy="14789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093A25B9-B77F-7D3E-3C61-888AEF288A06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16200000" flipH="1">
            <a:off x="3479223" y="3673185"/>
            <a:ext cx="464127" cy="12642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E997CDE-5F52-BDA0-AB86-0EB39B229707}"/>
              </a:ext>
            </a:extLst>
          </p:cNvPr>
          <p:cNvSpPr/>
          <p:nvPr/>
        </p:nvSpPr>
        <p:spPr>
          <a:xfrm>
            <a:off x="7841673" y="2545770"/>
            <a:ext cx="2327564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Validate values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4DB90B-022C-0A2D-305B-3C3A6138116E}"/>
              </a:ext>
            </a:extLst>
          </p:cNvPr>
          <p:cNvSpPr/>
          <p:nvPr/>
        </p:nvSpPr>
        <p:spPr>
          <a:xfrm>
            <a:off x="6553200" y="4537363"/>
            <a:ext cx="21613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Throw error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17280D-57B7-2476-79CE-1401F556AC9C}"/>
              </a:ext>
            </a:extLst>
          </p:cNvPr>
          <p:cNvSpPr/>
          <p:nvPr/>
        </p:nvSpPr>
        <p:spPr>
          <a:xfrm>
            <a:off x="9296400" y="4537363"/>
            <a:ext cx="2161310" cy="8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Directly handle error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31E7DB72-CA1A-D724-511E-E070F7FECCE0}"/>
              </a:ext>
            </a:extLst>
          </p:cNvPr>
          <p:cNvCxnSpPr>
            <a:stCxn id="5" idx="2"/>
            <a:endCxn id="23" idx="0"/>
          </p:cNvCxnSpPr>
          <p:nvPr/>
        </p:nvCxnSpPr>
        <p:spPr>
          <a:xfrm rot="5400000">
            <a:off x="8730098" y="2270412"/>
            <a:ext cx="550715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7B6FA689-2F58-251F-D2FD-044037259329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 rot="5400000">
            <a:off x="7765473" y="3297380"/>
            <a:ext cx="1108365" cy="13716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5EBC8AF-68DD-697B-B687-B98494BD2E59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rot="16200000" flipH="1">
            <a:off x="9137073" y="3297380"/>
            <a:ext cx="1108365" cy="13716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EE0CA03-9353-197A-5DA6-DC4AAA949BE8}"/>
              </a:ext>
            </a:extLst>
          </p:cNvPr>
          <p:cNvSpPr/>
          <p:nvPr/>
        </p:nvSpPr>
        <p:spPr>
          <a:xfrm>
            <a:off x="249382" y="5942155"/>
            <a:ext cx="3013363" cy="550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 Page (e.g. 500 pages)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4852AC-8DD4-19EC-1CEF-D591C49EB3BA}"/>
              </a:ext>
            </a:extLst>
          </p:cNvPr>
          <p:cNvSpPr/>
          <p:nvPr/>
        </p:nvSpPr>
        <p:spPr>
          <a:xfrm>
            <a:off x="4114799" y="5942154"/>
            <a:ext cx="3013363" cy="550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Intended Page with error information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78A794-B0BB-AF36-AD3B-4D54F13E837B}"/>
              </a:ext>
            </a:extLst>
          </p:cNvPr>
          <p:cNvSpPr/>
          <p:nvPr/>
        </p:nvSpPr>
        <p:spPr>
          <a:xfrm>
            <a:off x="8404514" y="5942153"/>
            <a:ext cx="2275610" cy="550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Redirect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3B2D5C-6D71-9820-E18B-D805B8B1B3AA}"/>
              </a:ext>
            </a:extLst>
          </p:cNvPr>
          <p:cNvSpPr/>
          <p:nvPr/>
        </p:nvSpPr>
        <p:spPr>
          <a:xfrm>
            <a:off x="155864" y="5756564"/>
            <a:ext cx="11118272" cy="935181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737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2166-211E-DD83-AA42-2C2DE1CF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0D2B-BDEC-A86F-F6A2-21171AA00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Errors some Theory</a:t>
            </a:r>
          </a:p>
          <a:p>
            <a:r>
              <a:rPr lang="en-US" dirty="0"/>
              <a:t>Returning error message</a:t>
            </a:r>
          </a:p>
          <a:p>
            <a:r>
              <a:rPr lang="en-US" dirty="0"/>
              <a:t>Returning error pages</a:t>
            </a:r>
          </a:p>
          <a:p>
            <a:r>
              <a:rPr lang="en-US" dirty="0"/>
              <a:t>Using the Express.js Error Handling Middleware</a:t>
            </a:r>
          </a:p>
          <a:p>
            <a:r>
              <a:rPr lang="en-US" dirty="0"/>
              <a:t>Updating our App</a:t>
            </a:r>
          </a:p>
        </p:txBody>
      </p:sp>
    </p:spTree>
    <p:extLst>
      <p:ext uri="{BB962C8B-B14F-4D97-AF65-F5344CB8AC3E}">
        <p14:creationId xmlns:p14="http://schemas.microsoft.com/office/powerpoint/2010/main" val="12496769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1F45-F791-78A5-B6C9-D6EF9062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Errors &amp; Http Response Codes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8064E5-D592-EC68-61E1-160ED7B31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001461"/>
              </p:ext>
            </p:extLst>
          </p:nvPr>
        </p:nvGraphicFramePr>
        <p:xfrm>
          <a:off x="838200" y="1825625"/>
          <a:ext cx="10207335" cy="4091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445">
                  <a:extLst>
                    <a:ext uri="{9D8B030D-6E8A-4147-A177-3AD203B41FA5}">
                      <a16:colId xmlns:a16="http://schemas.microsoft.com/office/drawing/2014/main" val="825293176"/>
                    </a:ext>
                  </a:extLst>
                </a:gridCol>
                <a:gridCol w="3402445">
                  <a:extLst>
                    <a:ext uri="{9D8B030D-6E8A-4147-A177-3AD203B41FA5}">
                      <a16:colId xmlns:a16="http://schemas.microsoft.com/office/drawing/2014/main" val="684483145"/>
                    </a:ext>
                  </a:extLst>
                </a:gridCol>
                <a:gridCol w="3402445">
                  <a:extLst>
                    <a:ext uri="{9D8B030D-6E8A-4147-A177-3AD203B41FA5}">
                      <a16:colId xmlns:a16="http://schemas.microsoft.com/office/drawing/2014/main" val="1179618007"/>
                    </a:ext>
                  </a:extLst>
                </a:gridCol>
              </a:tblGrid>
              <a:tr h="5988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2xx(Success)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 Succeeded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5573"/>
                  </a:ext>
                </a:extLst>
              </a:tr>
              <a:tr h="59881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Success, resource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843132"/>
                  </a:ext>
                </a:extLst>
              </a:tr>
              <a:tr h="5988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3xx(Redirect)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Moved permanently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68809"/>
                  </a:ext>
                </a:extLst>
              </a:tr>
              <a:tr h="5988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4xx(Client-side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authenticated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446162"/>
                  </a:ext>
                </a:extLst>
              </a:tr>
              <a:tr h="34693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authorized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543633"/>
                  </a:ext>
                </a:extLst>
              </a:tr>
              <a:tr h="34693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234792"/>
                  </a:ext>
                </a:extLst>
              </a:tr>
              <a:tr h="34693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Invalid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55163"/>
                  </a:ext>
                </a:extLst>
              </a:tr>
              <a:tr h="5988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5xx(Server-side errors)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Server-side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33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5836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0E7C-AD6B-DDEB-864C-C386F261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5A4F-D5C4-8C53-8493-873143033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Types of Errors &amp; Handling errors</a:t>
            </a:r>
          </a:p>
          <a:p>
            <a:pPr lvl="1"/>
            <a:r>
              <a:rPr lang="en-US" dirty="0"/>
              <a:t>Differentiate b/w different types of errors – technical errors and expected errors</a:t>
            </a:r>
          </a:p>
          <a:p>
            <a:pPr lvl="1"/>
            <a:r>
              <a:rPr lang="en-US" dirty="0"/>
              <a:t>Error handling can be done with custom if-checks, try-catch, then()-catch() etc.</a:t>
            </a:r>
          </a:p>
          <a:p>
            <a:pPr lvl="1"/>
            <a:r>
              <a:rPr lang="en-US" dirty="0"/>
              <a:t>You can use the Express error handling middleware to handle all unhandled errors</a:t>
            </a:r>
          </a:p>
          <a:p>
            <a:r>
              <a:rPr lang="en-US" dirty="0"/>
              <a:t>Errors &amp; Status Code</a:t>
            </a:r>
          </a:p>
          <a:p>
            <a:pPr lvl="1"/>
            <a:r>
              <a:rPr lang="en-US" dirty="0"/>
              <a:t>When returning responses, it can make sense to also set an appropriate Http status code- this lets the browser know what went wrong</a:t>
            </a:r>
          </a:p>
          <a:p>
            <a:pPr lvl="1"/>
            <a:r>
              <a:rPr lang="en-US" dirty="0"/>
              <a:t>Success (2xx), redirect (3xx), client-side errors (4xx) and server-side errors (5xx) code to choose from</a:t>
            </a:r>
          </a:p>
          <a:p>
            <a:pPr lvl="1"/>
            <a:r>
              <a:rPr lang="en-US" dirty="0"/>
              <a:t>Setting status codes does NOT mean that the response is incomplete or the app crashed!</a:t>
            </a:r>
          </a:p>
        </p:txBody>
      </p:sp>
    </p:spTree>
    <p:extLst>
      <p:ext uri="{BB962C8B-B14F-4D97-AF65-F5344CB8AC3E}">
        <p14:creationId xmlns:p14="http://schemas.microsoft.com/office/powerpoint/2010/main" val="29516228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C8A5-496A-EAB0-9784-8DFF708EC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upload and Download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73B02-7582-73A6-181F-28C818FEE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a file picker to the frontend</a:t>
            </a:r>
          </a:p>
          <a:p>
            <a:r>
              <a:rPr lang="en-US" dirty="0"/>
              <a:t>Handling multipart form data</a:t>
            </a:r>
          </a:p>
          <a:p>
            <a:r>
              <a:rPr lang="en-US" dirty="0"/>
              <a:t>Configuring Multer to adjust filename &amp; </a:t>
            </a:r>
            <a:r>
              <a:rPr lang="en-US" dirty="0" err="1"/>
              <a:t>filepath</a:t>
            </a:r>
            <a:endParaRPr lang="en-US" dirty="0"/>
          </a:p>
          <a:p>
            <a:r>
              <a:rPr lang="en-US" dirty="0"/>
              <a:t>Filtering files by </a:t>
            </a:r>
            <a:r>
              <a:rPr lang="en-US" dirty="0" err="1"/>
              <a:t>minetype</a:t>
            </a:r>
            <a:endParaRPr lang="en-US" dirty="0"/>
          </a:p>
          <a:p>
            <a:r>
              <a:rPr lang="en-US" dirty="0"/>
              <a:t>Storing file data in </a:t>
            </a:r>
            <a:r>
              <a:rPr lang="en-US"/>
              <a:t>the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030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28507</TotalTime>
  <Words>3059</Words>
  <Application>Microsoft Macintosh PowerPoint</Application>
  <PresentationFormat>Widescreen</PresentationFormat>
  <Paragraphs>610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Aptos</vt:lpstr>
      <vt:lpstr>Aptos Display</vt:lpstr>
      <vt:lpstr>Arial</vt:lpstr>
      <vt:lpstr>Office Theme</vt:lpstr>
      <vt:lpstr>What is Node.js?</vt:lpstr>
      <vt:lpstr>Node.js History</vt:lpstr>
      <vt:lpstr>Node.js Use</vt:lpstr>
      <vt:lpstr>Intro</vt:lpstr>
      <vt:lpstr>Course Outline</vt:lpstr>
      <vt:lpstr>How the web works</vt:lpstr>
      <vt:lpstr>HTTP,HTTPS</vt:lpstr>
      <vt:lpstr>Core Modules</vt:lpstr>
      <vt:lpstr>Creating a Node Server</vt:lpstr>
      <vt:lpstr>Node.js Program Lifecycle</vt:lpstr>
      <vt:lpstr>PowerPoint Presentation</vt:lpstr>
      <vt:lpstr>Routing request</vt:lpstr>
      <vt:lpstr>Parsing request bodies</vt:lpstr>
      <vt:lpstr>Single Thread, Event Loop &amp; Blocking Code</vt:lpstr>
      <vt:lpstr>The Event Loop</vt:lpstr>
      <vt:lpstr>PowerPoint Presentation</vt:lpstr>
      <vt:lpstr>Module Summary</vt:lpstr>
      <vt:lpstr>Debugging &amp; Easier Development</vt:lpstr>
      <vt:lpstr>Error</vt:lpstr>
      <vt:lpstr>PowerPoint Presentation</vt:lpstr>
      <vt:lpstr>Module summary</vt:lpstr>
      <vt:lpstr>Dynamic Content &amp; Templates</vt:lpstr>
      <vt:lpstr>Templating Engines</vt:lpstr>
      <vt:lpstr>Available Templating Engine</vt:lpstr>
      <vt:lpstr>PowerPoint Presentation</vt:lpstr>
      <vt:lpstr>MVC (Structuring your Code)</vt:lpstr>
      <vt:lpstr>PowerPoint Presentation</vt:lpstr>
      <vt:lpstr>Module Summary</vt:lpstr>
      <vt:lpstr>PowerPoint Presentation</vt:lpstr>
      <vt:lpstr>Dynamic Routes &amp; Advanced Models</vt:lpstr>
      <vt:lpstr>PowerPoint Presentation</vt:lpstr>
      <vt:lpstr>Module Summary</vt:lpstr>
      <vt:lpstr>Storing Data in Databases</vt:lpstr>
      <vt:lpstr>SQL vs NoSQL</vt:lpstr>
      <vt:lpstr>SQL</vt:lpstr>
      <vt:lpstr>Core SQL Database Characteristics</vt:lpstr>
      <vt:lpstr>SQL Queries</vt:lpstr>
      <vt:lpstr>NoSQL</vt:lpstr>
      <vt:lpstr>NoSQL Characteristics</vt:lpstr>
      <vt:lpstr>PowerPoint Presentation</vt:lpstr>
      <vt:lpstr>SQL vs NoSQL</vt:lpstr>
      <vt:lpstr>MySQL Download install</vt:lpstr>
      <vt:lpstr>Sequelize</vt:lpstr>
      <vt:lpstr>PowerPoint Presentation</vt:lpstr>
      <vt:lpstr>Module Summary</vt:lpstr>
      <vt:lpstr>NoSQL Databases / MongoDB</vt:lpstr>
      <vt:lpstr>PowerPoint Presentation</vt:lpstr>
      <vt:lpstr>JSON(BSON) Data Format</vt:lpstr>
      <vt:lpstr>PowerPoint Presentation</vt:lpstr>
      <vt:lpstr>Mongoose</vt:lpstr>
      <vt:lpstr>Session &amp; Cookies</vt:lpstr>
      <vt:lpstr>Cookie</vt:lpstr>
      <vt:lpstr>PowerPoint Presentation</vt:lpstr>
      <vt:lpstr>Session</vt:lpstr>
      <vt:lpstr>Session</vt:lpstr>
      <vt:lpstr>PowerPoint Presentation</vt:lpstr>
      <vt:lpstr>User Authentication</vt:lpstr>
      <vt:lpstr>PowerPoint Presentation</vt:lpstr>
      <vt:lpstr>PowerPoint Presentation</vt:lpstr>
      <vt:lpstr>Advanced Authentication &amp; Authorization</vt:lpstr>
      <vt:lpstr>PowerPoint Presentation</vt:lpstr>
      <vt:lpstr>Forms, User Input &amp; Validation</vt:lpstr>
      <vt:lpstr>Different types of Errors</vt:lpstr>
      <vt:lpstr>Errors</vt:lpstr>
      <vt:lpstr>PowerPoint Presentation</vt:lpstr>
      <vt:lpstr>Errors &amp; Http Response Codes</vt:lpstr>
      <vt:lpstr>PowerPoint Presentation</vt:lpstr>
      <vt:lpstr>File upload and Download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Aeeron Academy</dc:creator>
  <cp:lastModifiedBy>Aeeron Academy</cp:lastModifiedBy>
  <cp:revision>99</cp:revision>
  <dcterms:created xsi:type="dcterms:W3CDTF">2025-11-04T10:55:41Z</dcterms:created>
  <dcterms:modified xsi:type="dcterms:W3CDTF">2026-02-06T12:30:07Z</dcterms:modified>
</cp:coreProperties>
</file>