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6" r:id="rId79"/>
    <p:sldId id="337" r:id="rId80"/>
    <p:sldId id="333" r:id="rId81"/>
    <p:sldId id="334" r:id="rId82"/>
    <p:sldId id="335" r:id="rId83"/>
    <p:sldId id="338" r:id="rId84"/>
    <p:sldId id="339" r:id="rId85"/>
    <p:sldId id="340" r:id="rId86"/>
    <p:sldId id="341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10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9B5E-2E10-F638-5591-18F9609A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Re</a:t>
            </a:r>
            <a:r>
              <a:rPr lang="en-US" dirty="0"/>
              <a:t>presentational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tate </a:t>
            </a:r>
            <a:r>
              <a:rPr lang="en-US" dirty="0">
                <a:solidFill>
                  <a:srgbClr val="FF0000"/>
                </a:solidFill>
              </a:rPr>
              <a:t>T</a:t>
            </a:r>
            <a:r>
              <a:rPr lang="en-US" dirty="0"/>
              <a:t>ransfer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26CE-F26C-A00A-692C-E9DE6AA45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different kind of Response is Needed</a:t>
            </a:r>
          </a:p>
          <a:p>
            <a:r>
              <a:rPr lang="en-US" dirty="0"/>
              <a:t>Transfer Data instead of User Interfaces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141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1A256-870E-CA15-DFF5-8C2AD8B1F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Big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491A03-7E38-DC23-E65A-CD515945327E}"/>
              </a:ext>
            </a:extLst>
          </p:cNvPr>
          <p:cNvSpPr/>
          <p:nvPr/>
        </p:nvSpPr>
        <p:spPr>
          <a:xfrm>
            <a:off x="4094018" y="1485900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E850B-7E96-D5A9-A8BA-DB89FB224EE7}"/>
              </a:ext>
            </a:extLst>
          </p:cNvPr>
          <p:cNvSpPr/>
          <p:nvPr/>
        </p:nvSpPr>
        <p:spPr>
          <a:xfrm>
            <a:off x="838200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5656C-A613-DD83-406C-78BDCBB65032}"/>
              </a:ext>
            </a:extLst>
          </p:cNvPr>
          <p:cNvSpPr/>
          <p:nvPr/>
        </p:nvSpPr>
        <p:spPr>
          <a:xfrm>
            <a:off x="8350828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 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589C5-1022-85A7-546A-81FBC8A171CE}"/>
              </a:ext>
            </a:extLst>
          </p:cNvPr>
          <p:cNvSpPr/>
          <p:nvPr/>
        </p:nvSpPr>
        <p:spPr>
          <a:xfrm>
            <a:off x="4881129" y="4873335"/>
            <a:ext cx="2076450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527EB-944F-CEE1-48A2-393340F9C5D8}"/>
              </a:ext>
            </a:extLst>
          </p:cNvPr>
          <p:cNvSpPr/>
          <p:nvPr/>
        </p:nvSpPr>
        <p:spPr>
          <a:xfrm>
            <a:off x="4094018" y="5784273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119F0-F654-819F-6EA8-2A41FE060568}"/>
              </a:ext>
            </a:extLst>
          </p:cNvPr>
          <p:cNvSpPr/>
          <p:nvPr/>
        </p:nvSpPr>
        <p:spPr>
          <a:xfrm>
            <a:off x="1149927" y="2183822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 Backend 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A7491-0030-00C8-F1FA-C7B4CA360FD2}"/>
              </a:ext>
            </a:extLst>
          </p:cNvPr>
          <p:cNvSpPr/>
          <p:nvPr/>
        </p:nvSpPr>
        <p:spPr>
          <a:xfrm>
            <a:off x="6698673" y="2183821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 API</a:t>
            </a:r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9E9E9191-E5B2-94D7-281A-06C95C6C34FA}"/>
              </a:ext>
            </a:extLst>
          </p:cNvPr>
          <p:cNvSpPr/>
          <p:nvPr/>
        </p:nvSpPr>
        <p:spPr>
          <a:xfrm>
            <a:off x="1943100" y="3252355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1361498-177F-3ABC-28F8-433E6F7C8456}"/>
              </a:ext>
            </a:extLst>
          </p:cNvPr>
          <p:cNvSpPr/>
          <p:nvPr/>
        </p:nvSpPr>
        <p:spPr>
          <a:xfrm>
            <a:off x="2802081" y="3283527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358D78A8-FF88-9EFA-7C3D-4DD1CD62E4A6}"/>
              </a:ext>
            </a:extLst>
          </p:cNvPr>
          <p:cNvSpPr/>
          <p:nvPr/>
        </p:nvSpPr>
        <p:spPr>
          <a:xfrm>
            <a:off x="5025737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E745650-748E-D388-E2B3-F8843D2DEE49}"/>
              </a:ext>
            </a:extLst>
          </p:cNvPr>
          <p:cNvSpPr/>
          <p:nvPr/>
        </p:nvSpPr>
        <p:spPr>
          <a:xfrm>
            <a:off x="5884718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815137B8-907A-A15B-0B96-14F1F6BB862D}"/>
              </a:ext>
            </a:extLst>
          </p:cNvPr>
          <p:cNvSpPr/>
          <p:nvPr/>
        </p:nvSpPr>
        <p:spPr>
          <a:xfrm>
            <a:off x="8745682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AFC3B49-B8EB-F1D2-6F23-0CE47E372C5E}"/>
              </a:ext>
            </a:extLst>
          </p:cNvPr>
          <p:cNvSpPr/>
          <p:nvPr/>
        </p:nvSpPr>
        <p:spPr>
          <a:xfrm>
            <a:off x="9604663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BB2E7C-054B-A17B-7EDF-615181F273CC}"/>
              </a:ext>
            </a:extLst>
          </p:cNvPr>
          <p:cNvSpPr/>
          <p:nvPr/>
        </p:nvSpPr>
        <p:spPr>
          <a:xfrm>
            <a:off x="221672" y="3522518"/>
            <a:ext cx="1409701" cy="108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the DATA, not UI</a:t>
            </a:r>
          </a:p>
        </p:txBody>
      </p:sp>
    </p:spTree>
    <p:extLst>
      <p:ext uri="{BB962C8B-B14F-4D97-AF65-F5344CB8AC3E}">
        <p14:creationId xmlns:p14="http://schemas.microsoft.com/office/powerpoint/2010/main" val="1424661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4157-ED1C-FC1F-083B-ABA5B6B5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010A48-076C-6A9F-247C-F387DA9E0FFC}"/>
              </a:ext>
            </a:extLst>
          </p:cNvPr>
          <p:cNvSpPr/>
          <p:nvPr/>
        </p:nvSpPr>
        <p:spPr>
          <a:xfrm>
            <a:off x="464127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FB6C1-58B8-7454-3320-CDE1796F7A0A}"/>
              </a:ext>
            </a:extLst>
          </p:cNvPr>
          <p:cNvSpPr/>
          <p:nvPr/>
        </p:nvSpPr>
        <p:spPr>
          <a:xfrm>
            <a:off x="3307773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Plain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FD9A-1098-F55B-BBAE-E6DDAE297D71}"/>
              </a:ext>
            </a:extLst>
          </p:cNvPr>
          <p:cNvSpPr/>
          <p:nvPr/>
        </p:nvSpPr>
        <p:spPr>
          <a:xfrm>
            <a:off x="6369628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1A21E-06B9-DBB7-920C-2A145987817B}"/>
              </a:ext>
            </a:extLst>
          </p:cNvPr>
          <p:cNvSpPr/>
          <p:nvPr/>
        </p:nvSpPr>
        <p:spPr>
          <a:xfrm>
            <a:off x="9680864" y="1399741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7CE16-C437-7AE8-C157-1613DB5FAE9E}"/>
              </a:ext>
            </a:extLst>
          </p:cNvPr>
          <p:cNvSpPr/>
          <p:nvPr/>
        </p:nvSpPr>
        <p:spPr>
          <a:xfrm>
            <a:off x="464127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&lt;p&gt;Node.js&lt;/p&gt;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CDD5-BDE8-4754-98D6-C8C9DD71263C}"/>
              </a:ext>
            </a:extLst>
          </p:cNvPr>
          <p:cNvSpPr/>
          <p:nvPr/>
        </p:nvSpPr>
        <p:spPr>
          <a:xfrm>
            <a:off x="3307773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C2BCC-8ADA-C242-D81C-EBB0419EE0B4}"/>
              </a:ext>
            </a:extLst>
          </p:cNvPr>
          <p:cNvSpPr/>
          <p:nvPr/>
        </p:nvSpPr>
        <p:spPr>
          <a:xfrm>
            <a:off x="6369628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&lt;name&gt;Node.js&lt;/name&gt;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5AEF8-30CE-C616-8E17-E8A86A44312B}"/>
              </a:ext>
            </a:extLst>
          </p:cNvPr>
          <p:cNvSpPr/>
          <p:nvPr/>
        </p:nvSpPr>
        <p:spPr>
          <a:xfrm>
            <a:off x="9680864" y="214341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 “title” : ’Node.js’ 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A0169-7935-5428-9C1D-6E76E6FD0E8D}"/>
              </a:ext>
            </a:extLst>
          </p:cNvPr>
          <p:cNvSpPr/>
          <p:nvPr/>
        </p:nvSpPr>
        <p:spPr>
          <a:xfrm>
            <a:off x="464127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+ 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E9B90F-6419-CE95-33D3-FB8651968F02}"/>
              </a:ext>
            </a:extLst>
          </p:cNvPr>
          <p:cNvSpPr/>
          <p:nvPr/>
        </p:nvSpPr>
        <p:spPr>
          <a:xfrm>
            <a:off x="3307773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EFDF0-00CB-2BFD-4DA4-DAEA74B1163D}"/>
              </a:ext>
            </a:extLst>
          </p:cNvPr>
          <p:cNvSpPr/>
          <p:nvPr/>
        </p:nvSpPr>
        <p:spPr>
          <a:xfrm>
            <a:off x="6369628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BEBC4-97BD-DE47-3F76-97220B4D7754}"/>
              </a:ext>
            </a:extLst>
          </p:cNvPr>
          <p:cNvSpPr/>
          <p:nvPr/>
        </p:nvSpPr>
        <p:spPr>
          <a:xfrm>
            <a:off x="9680864" y="313805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539A40-4E6B-F4AA-B9DF-76BE296E000C}"/>
              </a:ext>
            </a:extLst>
          </p:cNvPr>
          <p:cNvSpPr/>
          <p:nvPr/>
        </p:nvSpPr>
        <p:spPr>
          <a:xfrm>
            <a:off x="464127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Contains User Interface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29318F-8F86-CBE0-3381-FEFEBECF6D5A}"/>
              </a:ext>
            </a:extLst>
          </p:cNvPr>
          <p:cNvSpPr/>
          <p:nvPr/>
        </p:nvSpPr>
        <p:spPr>
          <a:xfrm>
            <a:off x="3307773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7FB85A-38ED-1AC0-072D-3F2B56169A95}"/>
              </a:ext>
            </a:extLst>
          </p:cNvPr>
          <p:cNvSpPr/>
          <p:nvPr/>
        </p:nvSpPr>
        <p:spPr>
          <a:xfrm>
            <a:off x="6369628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7095C-508F-6C8A-3696-A3BCF49D669E}"/>
              </a:ext>
            </a:extLst>
          </p:cNvPr>
          <p:cNvSpPr/>
          <p:nvPr/>
        </p:nvSpPr>
        <p:spPr>
          <a:xfrm>
            <a:off x="9680864" y="4378468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F050-2C5E-D4B8-B8F5-EA0C7D796483}"/>
              </a:ext>
            </a:extLst>
          </p:cNvPr>
          <p:cNvSpPr/>
          <p:nvPr/>
        </p:nvSpPr>
        <p:spPr>
          <a:xfrm>
            <a:off x="464127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 if you just need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A488E4-A2BE-F743-0F63-78FA3766512A}"/>
              </a:ext>
            </a:extLst>
          </p:cNvPr>
          <p:cNvSpPr/>
          <p:nvPr/>
        </p:nvSpPr>
        <p:spPr>
          <a:xfrm>
            <a:off x="3307773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parse, no clear data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4E255A-2362-D0E8-F3FE-89F3550ED60A}"/>
              </a:ext>
            </a:extLst>
          </p:cNvPr>
          <p:cNvSpPr/>
          <p:nvPr/>
        </p:nvSpPr>
        <p:spPr>
          <a:xfrm>
            <a:off x="6369628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but relatively verbose; XML-parser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CD8C83-BF0D-B35B-E17C-5E878F94D6D3}"/>
              </a:ext>
            </a:extLst>
          </p:cNvPr>
          <p:cNvSpPr/>
          <p:nvPr/>
        </p:nvSpPr>
        <p:spPr>
          <a:xfrm>
            <a:off x="9680864" y="5327936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and concise; can easily be converted to JavaScript</a:t>
            </a:r>
          </a:p>
        </p:txBody>
      </p:sp>
    </p:spTree>
    <p:extLst>
      <p:ext uri="{BB962C8B-B14F-4D97-AF65-F5344CB8AC3E}">
        <p14:creationId xmlns:p14="http://schemas.microsoft.com/office/powerpoint/2010/main" val="6536644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D1EC-6FED-78E4-8206-90519FB3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0E98C-84B1-CBDE-9B08-804E2A01F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– Get a Resource from the Server</a:t>
            </a:r>
          </a:p>
          <a:p>
            <a:r>
              <a:rPr lang="en-US" dirty="0"/>
              <a:t>POST – Post a Resource to the Server (i.e. create or append Resource)</a:t>
            </a:r>
          </a:p>
          <a:p>
            <a:r>
              <a:rPr lang="en-US" dirty="0"/>
              <a:t>DELETE – Delete a Resource on the Server</a:t>
            </a:r>
          </a:p>
          <a:p>
            <a:r>
              <a:rPr lang="en-US" dirty="0"/>
              <a:t>PUT – put a Resource on to the server (overwrite)</a:t>
            </a:r>
          </a:p>
          <a:p>
            <a:r>
              <a:rPr lang="en-US" dirty="0"/>
              <a:t>PATCH – update parts of an existing Resource on the Server</a:t>
            </a:r>
          </a:p>
          <a:p>
            <a:r>
              <a:rPr lang="en-US" dirty="0"/>
              <a:t>OPTIONS – Determine whether follow-up Request is allowed (sent automatically)</a:t>
            </a:r>
          </a:p>
        </p:txBody>
      </p:sp>
    </p:spTree>
    <p:extLst>
      <p:ext uri="{BB962C8B-B14F-4D97-AF65-F5344CB8AC3E}">
        <p14:creationId xmlns:p14="http://schemas.microsoft.com/office/powerpoint/2010/main" val="39777988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7E06B-15A8-55AF-EED2-EE1F92E4A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Concepts &amp;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D4CB-1B23-95CB-1F4B-FD749A5B5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 APIs are all about data, no UI logic is exchanged</a:t>
            </a:r>
          </a:p>
          <a:p>
            <a:r>
              <a:rPr lang="en-US" dirty="0"/>
              <a:t>Are normal Node servers which expose different endpoints (</a:t>
            </a:r>
            <a:r>
              <a:rPr lang="en-US" dirty="0" err="1"/>
              <a:t>Htt</a:t>
            </a:r>
            <a:r>
              <a:rPr lang="en-US" dirty="0"/>
              <a:t> method + path) for clients to end requests.</a:t>
            </a:r>
          </a:p>
          <a:p>
            <a:r>
              <a:rPr lang="en-US" dirty="0"/>
              <a:t> JSON is the common data format that is used both for requests and responses</a:t>
            </a:r>
          </a:p>
          <a:p>
            <a:r>
              <a:rPr lang="en-US" dirty="0"/>
              <a:t>REST APIs are decoupled from the clients that use them</a:t>
            </a:r>
          </a:p>
        </p:txBody>
      </p:sp>
    </p:spTree>
    <p:extLst>
      <p:ext uri="{BB962C8B-B14F-4D97-AF65-F5344CB8AC3E}">
        <p14:creationId xmlns:p14="http://schemas.microsoft.com/office/powerpoint/2010/main" val="18775585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350A-F7A9-E618-8E3A-F4A99634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&amp;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DDD9A-5579-B8C4-A943-07E63E7C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 data in JSON format and let the other end know by setting the ‘Content-Type’ header</a:t>
            </a:r>
          </a:p>
          <a:p>
            <a:r>
              <a:rPr lang="en-US" dirty="0"/>
              <a:t>CORS errors occur when using an API that does not set CORS headers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086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3BE1-CEED-82E0-45E3-B16952EB3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DBC82-7823-9DE5-E3ED-19CB2374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Uniform interface – Clearly defined API endpoints with clearly defined request + response data structure</a:t>
            </a:r>
          </a:p>
          <a:p>
            <a:r>
              <a:rPr lang="en-US" dirty="0"/>
              <a:t>Stateless interactions – Server and client don’t store any connection history, every request is handled separately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628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C6DC-1C48-9571-3571-0EAFF5F83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75C7D-7D98-F60C-BA2A-9B10916B6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our REST API Project &amp; implementing the Route Setup</a:t>
            </a:r>
          </a:p>
          <a:p>
            <a:r>
              <a:rPr lang="en-US" dirty="0"/>
              <a:t>Sending Requests &amp; Responses Working with Postman</a:t>
            </a:r>
          </a:p>
          <a:p>
            <a:r>
              <a:rPr lang="en-US" dirty="0"/>
              <a:t>REST API, Clients &amp; CORS Errors</a:t>
            </a:r>
          </a:p>
        </p:txBody>
      </p:sp>
    </p:spTree>
    <p:extLst>
      <p:ext uri="{BB962C8B-B14F-4D97-AF65-F5344CB8AC3E}">
        <p14:creationId xmlns:p14="http://schemas.microsoft.com/office/powerpoint/2010/main" val="42396779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754A-B50A-8325-E52F-0CCBF0F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0E82D-FC17-DF67-6AE1-511115799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Cross-Origin Resource Sharing</a:t>
            </a:r>
          </a:p>
          <a:p>
            <a:r>
              <a:rPr lang="en-US" dirty="0"/>
              <a:t>Sending Post Requests</a:t>
            </a:r>
          </a:p>
        </p:txBody>
      </p:sp>
    </p:spTree>
    <p:extLst>
      <p:ext uri="{BB962C8B-B14F-4D97-AF65-F5344CB8AC3E}">
        <p14:creationId xmlns:p14="http://schemas.microsoft.com/office/powerpoint/2010/main" val="32389261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21741-891D-2346-B517-4DC3D699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REST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71F9B-33F6-8AB3-0C47-C1A74271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Planning a REST API</a:t>
            </a:r>
          </a:p>
          <a:p>
            <a:r>
              <a:rPr lang="en-US" dirty="0"/>
              <a:t>CRUD Operations &amp; Endpoints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Image Upload</a:t>
            </a:r>
          </a:p>
          <a:p>
            <a:r>
              <a:rPr lang="en-US" dirty="0"/>
              <a:t>Authentication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3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7297-C481-E91B-A141-8D74310B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097982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REST &amp; the Rest of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40211-2EB9-01DB-FACD-BBF3B6DFA760}"/>
              </a:ext>
            </a:extLst>
          </p:cNvPr>
          <p:cNvSpPr/>
          <p:nvPr/>
        </p:nvSpPr>
        <p:spPr>
          <a:xfrm>
            <a:off x="405245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 + Express App Setup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DEF2C-B3E6-48BF-3961-814EA40B5474}"/>
              </a:ext>
            </a:extLst>
          </p:cNvPr>
          <p:cNvSpPr/>
          <p:nvPr/>
        </p:nvSpPr>
        <p:spPr>
          <a:xfrm>
            <a:off x="405245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Routing / Endpoints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190C0-6B7E-9F70-1926-16E1161E3B80}"/>
              </a:ext>
            </a:extLst>
          </p:cNvPr>
          <p:cNvSpPr/>
          <p:nvPr/>
        </p:nvSpPr>
        <p:spPr>
          <a:xfrm>
            <a:off x="405244" y="232669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Handling Requests &amp; Responses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31ADDD-5C9C-F4CA-E3A6-6126DFCBD534}"/>
              </a:ext>
            </a:extLst>
          </p:cNvPr>
          <p:cNvSpPr/>
          <p:nvPr/>
        </p:nvSpPr>
        <p:spPr>
          <a:xfrm>
            <a:off x="405243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309AE-238F-66A4-4B31-DC2F73EF2692}"/>
              </a:ext>
            </a:extLst>
          </p:cNvPr>
          <p:cNvSpPr/>
          <p:nvPr/>
        </p:nvSpPr>
        <p:spPr>
          <a:xfrm>
            <a:off x="405243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 Communication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584A2-3FEF-C753-8D12-DA86B2057B82}"/>
              </a:ext>
            </a:extLst>
          </p:cNvPr>
          <p:cNvSpPr/>
          <p:nvPr/>
        </p:nvSpPr>
        <p:spPr>
          <a:xfrm>
            <a:off x="405242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Files, Uploads, Downloads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462ED-ACAD-487F-6502-FCA714889A59}"/>
              </a:ext>
            </a:extLst>
          </p:cNvPr>
          <p:cNvSpPr/>
          <p:nvPr/>
        </p:nvSpPr>
        <p:spPr>
          <a:xfrm>
            <a:off x="405242" y="504738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Sessions &amp; Cookies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564DF-A8C3-BEAC-A92B-9371B3B50037}"/>
              </a:ext>
            </a:extLst>
          </p:cNvPr>
          <p:cNvSpPr/>
          <p:nvPr/>
        </p:nvSpPr>
        <p:spPr>
          <a:xfrm>
            <a:off x="405242" y="572755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Authentication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F49BDA-0A6E-E777-1486-3C16179F3783}"/>
              </a:ext>
            </a:extLst>
          </p:cNvPr>
          <p:cNvSpPr/>
          <p:nvPr/>
        </p:nvSpPr>
        <p:spPr>
          <a:xfrm>
            <a:off x="6636327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E6CECE-85A8-3900-083C-DAFDA2A3DC3D}"/>
              </a:ext>
            </a:extLst>
          </p:cNvPr>
          <p:cNvSpPr/>
          <p:nvPr/>
        </p:nvSpPr>
        <p:spPr>
          <a:xfrm>
            <a:off x="6636327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real changes, more Http 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4BF705-0819-468F-55CB-F9F17A04B2E7}"/>
              </a:ext>
            </a:extLst>
          </p:cNvPr>
          <p:cNvSpPr/>
          <p:nvPr/>
        </p:nvSpPr>
        <p:spPr>
          <a:xfrm>
            <a:off x="6636326" y="232669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Parse + Send JSON Data, no Views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86FBD9-6875-9539-41E8-9BB3D0FDBBAC}"/>
              </a:ext>
            </a:extLst>
          </p:cNvPr>
          <p:cNvSpPr/>
          <p:nvPr/>
        </p:nvSpPr>
        <p:spPr>
          <a:xfrm>
            <a:off x="6636325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254B6E-B7AE-50EE-D6A5-DE03CDBDA5DC}"/>
              </a:ext>
            </a:extLst>
          </p:cNvPr>
          <p:cNvSpPr/>
          <p:nvPr/>
        </p:nvSpPr>
        <p:spPr>
          <a:xfrm>
            <a:off x="6636325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B1DCB-41D2-947F-8A65-EA3A7A887997}"/>
              </a:ext>
            </a:extLst>
          </p:cNvPr>
          <p:cNvSpPr/>
          <p:nvPr/>
        </p:nvSpPr>
        <p:spPr>
          <a:xfrm>
            <a:off x="6636324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 (only on client – side)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5E372-54E9-B178-200F-01A34842E356}"/>
              </a:ext>
            </a:extLst>
          </p:cNvPr>
          <p:cNvSpPr/>
          <p:nvPr/>
        </p:nvSpPr>
        <p:spPr>
          <a:xfrm>
            <a:off x="6636324" y="5047387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Session &amp; Cookies Usage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02D0D5-1C9E-D459-5552-16B8BFE64F4D}"/>
              </a:ext>
            </a:extLst>
          </p:cNvPr>
          <p:cNvSpPr/>
          <p:nvPr/>
        </p:nvSpPr>
        <p:spPr>
          <a:xfrm>
            <a:off x="6636324" y="572755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Authentication Approach</a:t>
            </a:r>
          </a:p>
        </p:txBody>
      </p:sp>
    </p:spTree>
    <p:extLst>
      <p:ext uri="{BB962C8B-B14F-4D97-AF65-F5344CB8AC3E}">
        <p14:creationId xmlns:p14="http://schemas.microsoft.com/office/powerpoint/2010/main" val="125537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673F-9FB1-C7B4-4BB6-AB22384B4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464" y="166255"/>
            <a:ext cx="10969336" cy="6010708"/>
          </a:xfrm>
        </p:spPr>
        <p:txBody>
          <a:bodyPr numCol="2"/>
          <a:lstStyle/>
          <a:p>
            <a:r>
              <a:rPr lang="en-US" dirty="0"/>
              <a:t>Fetching Lists of Posts</a:t>
            </a:r>
          </a:p>
          <a:p>
            <a:r>
              <a:rPr lang="en-US" dirty="0"/>
              <a:t>Adding a create post endpoint</a:t>
            </a:r>
          </a:p>
          <a:p>
            <a:r>
              <a:rPr lang="en-US" dirty="0"/>
              <a:t>Adding Server Side Validation</a:t>
            </a:r>
          </a:p>
          <a:p>
            <a:r>
              <a:rPr lang="en-US" dirty="0"/>
              <a:t>Setting up a Post Model</a:t>
            </a:r>
          </a:p>
          <a:p>
            <a:r>
              <a:rPr lang="en-US" dirty="0"/>
              <a:t>Storing Posts in the database</a:t>
            </a:r>
          </a:p>
          <a:p>
            <a:r>
              <a:rPr lang="en-US" dirty="0"/>
              <a:t>Static Images &amp; Errors Handling</a:t>
            </a:r>
          </a:p>
          <a:p>
            <a:r>
              <a:rPr lang="en-US" dirty="0"/>
              <a:t>Fetching a single post</a:t>
            </a:r>
          </a:p>
          <a:p>
            <a:r>
              <a:rPr lang="en-US" dirty="0"/>
              <a:t>Uploading image</a:t>
            </a:r>
          </a:p>
          <a:p>
            <a:r>
              <a:rPr lang="en-US" dirty="0"/>
              <a:t>Updating Posts</a:t>
            </a:r>
          </a:p>
          <a:p>
            <a:r>
              <a:rPr lang="en-US" dirty="0"/>
              <a:t>Delete Posts</a:t>
            </a:r>
          </a:p>
          <a:p>
            <a:r>
              <a:rPr lang="en-US" dirty="0"/>
              <a:t>Adding Pagination</a:t>
            </a:r>
          </a:p>
          <a:p>
            <a:r>
              <a:rPr lang="en-US" dirty="0"/>
              <a:t>Adding a User Modal</a:t>
            </a:r>
          </a:p>
          <a:p>
            <a:r>
              <a:rPr lang="en-US" dirty="0"/>
              <a:t>Adding user signup validation</a:t>
            </a:r>
          </a:p>
          <a:p>
            <a:r>
              <a:rPr lang="en-US" dirty="0"/>
              <a:t>Signing User Password</a:t>
            </a:r>
          </a:p>
          <a:p>
            <a:r>
              <a:rPr lang="en-US" dirty="0"/>
              <a:t>Starting with user Login</a:t>
            </a:r>
          </a:p>
          <a:p>
            <a:r>
              <a:rPr lang="en-US" dirty="0"/>
              <a:t>Logging in &amp; creating JSON Web Token (JWTs)</a:t>
            </a:r>
          </a:p>
          <a:p>
            <a:r>
              <a:rPr lang="en-US" dirty="0"/>
              <a:t>Using &amp; Validating the Token</a:t>
            </a:r>
          </a:p>
          <a:p>
            <a:r>
              <a:rPr lang="en-US" dirty="0"/>
              <a:t>Adding auth Middleware to All Routes</a:t>
            </a:r>
          </a:p>
          <a:p>
            <a:r>
              <a:rPr lang="en-US" dirty="0"/>
              <a:t>Connecting Posts &amp; Users</a:t>
            </a:r>
          </a:p>
          <a:p>
            <a:r>
              <a:rPr lang="en-US" dirty="0"/>
              <a:t>Clearing Post-User </a:t>
            </a:r>
            <a:r>
              <a:rPr lang="en-US" dirty="0" err="1"/>
              <a:t>Ralations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48953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B034-7E06-5064-6FE8-6DF69F94E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3CC92-7F2B-C2F4-DD89-1C7F327D8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Classic to REST API</a:t>
            </a:r>
          </a:p>
          <a:p>
            <a:pPr lvl="1"/>
            <a:r>
              <a:rPr lang="en-US" dirty="0"/>
              <a:t>Most of the server-side code does not change, only request + response data is affected</a:t>
            </a:r>
          </a:p>
          <a:p>
            <a:pPr lvl="1"/>
            <a:r>
              <a:rPr lang="en-US" dirty="0"/>
              <a:t>More Http methods are available</a:t>
            </a:r>
          </a:p>
          <a:p>
            <a:pPr lvl="1"/>
            <a:r>
              <a:rPr lang="en-US" dirty="0"/>
              <a:t>The REST API server does not care about client, requests are handled in isolation =&gt; No sessions</a:t>
            </a:r>
          </a:p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Due to no sessions being used, authentication works differently</a:t>
            </a:r>
          </a:p>
          <a:p>
            <a:pPr lvl="1"/>
            <a:r>
              <a:rPr lang="en-US" dirty="0"/>
              <a:t>Each request needs to be able to send some data that proves that the request is authenticated</a:t>
            </a:r>
          </a:p>
          <a:p>
            <a:pPr lvl="1"/>
            <a:r>
              <a:rPr lang="en-US" dirty="0"/>
              <a:t>JSON web Tokens (“JWT”) are a common way of storing authentication information on the client and proving authentication status</a:t>
            </a:r>
          </a:p>
          <a:p>
            <a:pPr lvl="1"/>
            <a:r>
              <a:rPr lang="en-US" dirty="0"/>
              <a:t>JWTs are signed by the server and can only </a:t>
            </a:r>
            <a:r>
              <a:rPr lang="en-US"/>
              <a:t>be validated by the server.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124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31465</TotalTime>
  <Words>3807</Words>
  <Application>Microsoft Macintosh PowerPoint</Application>
  <PresentationFormat>Widescreen</PresentationFormat>
  <Paragraphs>750</Paragraphs>
  <Slides>86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0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  <vt:lpstr>Representational State Transfer REST</vt:lpstr>
      <vt:lpstr>REST API Big Picture</vt:lpstr>
      <vt:lpstr>Data Formats</vt:lpstr>
      <vt:lpstr>http Methods</vt:lpstr>
      <vt:lpstr>Rest Concepts &amp; Ideas</vt:lpstr>
      <vt:lpstr>Requests &amp; Responses</vt:lpstr>
      <vt:lpstr>REST Principles</vt:lpstr>
      <vt:lpstr>PowerPoint Presentation</vt:lpstr>
      <vt:lpstr>CORS?</vt:lpstr>
      <vt:lpstr>Advanced REST API</vt:lpstr>
      <vt:lpstr>REST &amp; the Rest of the Course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139</cp:revision>
  <dcterms:created xsi:type="dcterms:W3CDTF">2025-11-04T10:55:41Z</dcterms:created>
  <dcterms:modified xsi:type="dcterms:W3CDTF">2026-03-02T12:58:50Z</dcterms:modified>
</cp:coreProperties>
</file>